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Trabajo correspondiente a la matriz G4_Matriz_IREB_V3.0.xlsx. Tres casos de uso evaluados individualmente: CU01 Registrar Asistencia; CU02 Generar Reportes de Horas; CU03 Gestionar Códigos QR del Personal. El informe Word corresponde a una evaluación distinta, en conjunto, de todos los casos del SCA.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CU01 por Joffre, luego CU02 por Daniela y después CU03 por Luciana. Cada bloque contiene: presentación del caso, gráfica del checklist individual de 17 preguntas y dos diapositivas que explican los 11 criterios de la matriz IREB con sus evidencias. Al final se comparan resultados y se presentan conclusiones y recomendaciones.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CU01: Registrar Asistencia. Expositor: Joffre Gómez. Esta sección utiliza únicamente su hoja individual en la matriz Excel. Checklists: 16/17 (94%). Matriz IREB: 10 criterios OK y Realizable NOK. El Word general se evalúa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CU01, checklist independiente: Contenido 8 de 9=89%; Documentación 5 de 5=100%; Nivel de acuerdo 3 de 3=100%; total 16/17=94%. Los porcentajes describen respuestas del checklist, NO avance del desarrollo. La pregunta marcada No se relaciona con un proceso acotado para demostrar el cumplimiento de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Agreed: OK. Evidencia literal del Excel: 1. Videoconferencia de la entrevista 2. Minuta de la entrevista 3. Aceptación por videoconferencia
2. Ranked: OK. Evidencia literal del Excel: 1. En la descripción del caso de Uso se especifica la prioridad Alta
3. Unambiguos: OK. Evidencia literal del Excel: 1. Redacción en lenguaje claro. 2. El tutor y el equipo interpretan de igual manera el caso de uso
4. Valid and up-to date: OK. Evidencia literal del Excel: 1. Toda nueva información ha sido incorporada, se han incorporado los últimos cambios pedidos luego del feedback realizado por el cliente
5. Correct: OK. Evidencia literal del Excel: 1. Está alineado con los objetivos del sistema. 2. Refleja lo que realmente necesita el cliente.
6. Consisten: OK. Evidencia literal del Excel: 1. Documentación basada en modelos: Diagrama de Casos de Uso 2. Usa términos definidos previamente.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Verifiable: OK. Evidencia literal del Excel: 1. Requisito Medible 2. Falta Casos de Prueba
8. Realizable: NOK. Evidencia literal del Excel: 1. Funcionalidad tomada en cuenta dentro de la estimación del costo del proyecto 2. No se ha desarrollado
9. Traceable: OK. Evidencia literal del Excel: 1. Es claro el origen del requisito y sus relaciones con otros requisitos (matriz de trazabilidad cliente/casos de uso y casos de uso/casos de uso) 2. Cuenta con un identificador único
10. Complete: OK. Evidencia literal del Excel: 1. Contiene toda la información necesaria (entradas, salidas, precondiciones, postcondiciones) para entender y diseñar la función. 2. Describe completamente la funcionalidad esperada.
11. Understandability: OK. Evidencia literal del Excel: 1. Se involucra al cliente 2. Existe glosario de términos
Recomendación de la hoja: Estimar los recursos necesarios para el desarrollo del proyecto, identificando de manera referencial los posibles costos directos e indirectos asociados a su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CU02: Generar Reportes de Horas. Expositor: Daniela Flores. Esta sección utiliza únicamente su hoja individual en la matriz Excel. Checklists: 16/17 (94%). Matriz IREB: 10 criterios OK y Realizable NOK. El Word general se evalúa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CU02, checklist independiente: Contenido 8 de 9=89%; Documentación 5 de 5=100%; Nivel de acuerdo 3 de 3=100%; total 16/17=94%. Los porcentajes describen respuestas del checklist, NO avance del desarrollo. La pregunta marcada No se relaciona con un proceso acotado para demostrar el cumplimiento de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Agreed: OK. Evidencia literal del Excel: 1. Videoconferencia de la entrevista 2. Minuta de la entrevista 3. Aceptación del prototipo no funcional mediante videoconferencia
2. Ranked: OK. Evidencia literal del Excel: 1. En la descripción del caso de Uso se especifica la prioridad Alta
3. Unambiguos: OK. Evidencia literal del Excel: 1. Redacción en lenguaje claro. 2. El tutor y el equipo interpretan de igual manera el caso de uso
4. Valid and up-to date: OK. Evidencia literal del Excel: 1. No se han incorporado los últimos cambios pedidos luego del feedback realizado por el cliente
5. Correct: OK. Evidencia literal del Excel: 1. Está alineado con los objetivos del sistema. 2. Refleja lo que realmente necesita el cliente.
6. Consisten: OK. Evidencia literal del Excel: 1. Documentación basada en modelos: Diagrama de Casos de Uso 2. Usa términos definidos previamente. 3. Palabras repetitivas.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Verifiable: OK. Evidencia literal del Excel: 1. Requisito Medible 2. Falta Casos de Prueba
8. Realizable: NOK. Evidencia literal del Excel: 1. Funcionalidad tomada en cuenta dentro de la estimación del costo del proyecto 2. No se ha desarrollado
9. Traceable: OK. Evidencia literal del Excel: 1. Es claro el origen del requisito y sus relaciones con otros requisitos (matriz de trazabilidad cliente/casos de uso y casos de uso/casos de uso) 2. Cuenta con un identificador único
10. Complete: OK. Evidencia literal del Excel: 1. Contiene toda la información necesaria (entradas, salidas, precondiciones, postcondiciones) para entender y diseñar la función. 2. Describe completamente la funcionalidad esperada.
11. Understandability: OK. Evidencia literal del Excel: 1. Se involucra al cliente 2.Uso de términos respaldado por un glosario de términos
Recomendación de la hoja: Estimar los recursos necesarios para el desarrollo del proyecto, identificando de manera referencial los posibles costos directos e indirectos asociados a su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CU03: Gestionar Códigos QR del Personal. Expositor: Luciana Bolaños. Esta sección utiliza únicamente su hoja individual en la matriz Excel. Checklists: 16/17 (94%). Matriz IREB: 10 criterios OK y Realizable NOK. El Word general se evalúa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CU03, checklist independiente: Contenido 8 de 9=89%; Documentación 5 de 5=100%; Nivel de acuerdo 3 de 3=100%; total 16/17=94%. Los porcentajes describen respuestas del checklist, NO avance del desarrollo. La pregunta marcada No se relaciona con un proceso acotado para demostrar el cumplimiento de requisitos.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Agreed: OK. Evidencia literal del Excel: 1. Videoconferencia de la entrevista 2. Minuta de la entrevista 3. Aceptación del prototipo no funcional mediante videoconferencia
2. Ranked: OK. Evidencia literal del Excel: 1. En la descripción del caso de Uso se especifica la prioridad Alta
3. Unambiguos: OK. Evidencia literal del Excel: 1. Redacción en lenguaje claro. 2. El tutor y el equipo interpretan de igual manera el caso de uso
4. Valid and up-to date: OK. Evidencia literal del Excel: 1. Toda nueva información ha sido incorporada, se han incorporado los últimos cambios pedidos luego del feedback realizado por el cliente
5. Correct: OK. Evidencia literal del Excel: 1. Está alineado con los objetivos del sistema. 2. Refleja lo que realmente necesita el cliente.
6. Consisten: OK. Evidencia literal del Excel: 1. Documentación basada en modelos: Diagrama de Casos de Uso 2. Usa términos definidos previamente. 3. Palabras repetitivas.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Verifiable: OK. Evidencia literal del Excel: 1. Requisito Medible 2. Falta Casos de Prueba
8. Realizable: NOK. Evidencia literal del Excel: 1. Funcionalidad tomada en cuenta dentro de la estimación del costo del proyecto 2. No se ha desarrollado
9. Traceable: OK. Evidencia literal del Excel: 1. Es claro el origen del requisito y sus relaciones con otros requisitos (matriz de trazabilidad cliente/casos de uso y casos de uso/casos de uso) 2. Cuenta con un identificador único
10. Complete: OK. Evidencia literal del Excel: 1. Contiene toda la información necesaria (entradas, salidas, precondiciones, postcondiciones) para entender y diseñar la función. 2. Describe completamente la funcionalidad esperada.
11. Understandability: OK. Evidencia literal del Excel: 1. Se involucra al cliente 2.Uso de términos respaldado por un glosario de términos
Recomendación de la hoja: Estimar los recursos necesarios para el desarrollo del proyecto, identificando de manera referencial los posibles costos directos e indirectos asociados a su ejecución.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compara tres evaluaciones individuales del Excel: cada caso obtuvo 16 de 17 respuestas Sí (94%) en el checklist y 10 OK de 11 criterios en la matriz IREB. Esta coincidencia no convierte los tres casos en una evaluación general de todos los casos de uso. La observación del CU02 sobre cambios pendientes consta expresamente en su propia hoja.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conclusiones provienen de las hojas individuales del Excel. CU01, CU02 y CU03 comparten checklist 89% contenido, 100% documentación y 100% nivel de acuerdo. La matriz marca 10 OK y 1 NOK (Realizable). A pesar de OK en Verifiable, faltan casos de prueba según evidencia. En CU02 se indica Valid and up-to date OK pero no se incorporaron cambios del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recomendación literal de la matriz para los tres casos es: Estimar los recursos necesarios para el desarrollo del proyecto, identificando de manera referencial los posibles costos directos e indirectos asociados a su ejecución. Las acciones de pruebas, actualización de CU02 y validación de condiciones son pasos propuestos a partir de las observaciones de cada caso, no texto literal de la columna de recomendaciones del Excel. Los costos directos e indirectos son referenciales y no forman parte del alcance funcional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0584" cy="6858000"/>
          </a:xfrm>
          <a:prstGeom prst="rect">
            <a:avLst/>
          </a:prstGeom>
          <a:solidFill>
            <a:srgbClr val="2776D2"/>
          </a:solidFill>
          <a:ln w="12700">
            <a:solidFill>
              <a:srgbClr val="2776D2">
                <a:alpha val="0"/>
              </a:srgbClr>
            </a:solidFill>
            <a:prstDash val="solid"/>
          </a:ln>
        </p:spPr>
      </p:sp>
      <p:sp>
        <p:nvSpPr>
          <p:cNvPr id="3" name="Text 1"/>
          <p:cNvSpPr/>
          <p:nvPr/>
        </p:nvSpPr>
        <p:spPr>
          <a:xfrm>
            <a:off x="704088" y="502920"/>
            <a:ext cx="7132320" cy="219456"/>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ESPE   /   UNIDAD 1   ·   TALLER IREB</a:t>
            </a:r>
            <a:endParaRPr lang="en-US" sz="1030" dirty="0"/>
          </a:p>
        </p:txBody>
      </p:sp>
      <p:sp>
        <p:nvSpPr>
          <p:cNvPr id="4" name="Text 2"/>
          <p:cNvSpPr/>
          <p:nvPr/>
        </p:nvSpPr>
        <p:spPr>
          <a:xfrm>
            <a:off x="658368" y="1225296"/>
            <a:ext cx="6492240" cy="1554480"/>
          </a:xfrm>
          <a:prstGeom prst="rect">
            <a:avLst/>
          </a:prstGeom>
          <a:noFill/>
          <a:ln/>
        </p:spPr>
        <p:txBody>
          <a:bodyPr wrap="square" lIns="0" tIns="0" rIns="0" bIns="0" rtlCol="0" anchor="t">
            <a:normAutofit/>
          </a:bodyPr>
          <a:lstStyle/>
          <a:p>
            <a:pPr indent="0" marL="0">
              <a:buNone/>
            </a:pPr>
            <a:r>
              <a:rPr lang="en-US" sz="5200" b="1" dirty="0">
                <a:solidFill>
                  <a:srgbClr val="102A43"/>
                </a:solidFill>
                <a:latin typeface="Inter" pitchFamily="34" charset="0"/>
                <a:ea typeface="Inter" pitchFamily="34" charset="-122"/>
                <a:cs typeface="Inter" pitchFamily="34" charset="-120"/>
              </a:rPr>
              <a:t>Calidad de</a:t>
            </a:r>
            <a:endParaRPr lang="en-US" sz="5200" dirty="0"/>
          </a:p>
          <a:p>
            <a:pPr indent="0" marL="0">
              <a:buNone/>
            </a:pPr>
            <a:r>
              <a:rPr lang="en-US" sz="5200" b="1" dirty="0">
                <a:solidFill>
                  <a:srgbClr val="102A43"/>
                </a:solidFill>
                <a:latin typeface="Inter" pitchFamily="34" charset="0"/>
                <a:ea typeface="Inter" pitchFamily="34" charset="-122"/>
                <a:cs typeface="Inter" pitchFamily="34" charset="-120"/>
              </a:rPr>
              <a:t>requisitos</a:t>
            </a:r>
            <a:endParaRPr lang="en-US" sz="5200" dirty="0"/>
          </a:p>
        </p:txBody>
      </p:sp>
      <p:sp>
        <p:nvSpPr>
          <p:cNvPr id="5" name="Shape 3"/>
          <p:cNvSpPr/>
          <p:nvPr/>
        </p:nvSpPr>
        <p:spPr>
          <a:xfrm>
            <a:off x="704088" y="3136392"/>
            <a:ext cx="777240" cy="77724"/>
          </a:xfrm>
          <a:prstGeom prst="rect">
            <a:avLst/>
          </a:prstGeom>
          <a:solidFill>
            <a:srgbClr val="2776D2"/>
          </a:solidFill>
          <a:ln w="12700">
            <a:solidFill>
              <a:srgbClr val="2776D2">
                <a:alpha val="0"/>
              </a:srgbClr>
            </a:solidFill>
            <a:prstDash val="solid"/>
          </a:ln>
        </p:spPr>
      </p:sp>
      <p:sp>
        <p:nvSpPr>
          <p:cNvPr id="6" name="Text 4"/>
          <p:cNvSpPr/>
          <p:nvPr/>
        </p:nvSpPr>
        <p:spPr>
          <a:xfrm>
            <a:off x="704088" y="3538728"/>
            <a:ext cx="6565392" cy="420624"/>
          </a:xfrm>
          <a:prstGeom prst="rect">
            <a:avLst/>
          </a:prstGeom>
          <a:noFill/>
          <a:ln/>
        </p:spPr>
        <p:txBody>
          <a:bodyPr wrap="square" lIns="0" tIns="0" rIns="0" bIns="0" rtlCol="0" anchor="ctr">
            <a:normAutofit/>
          </a:bodyPr>
          <a:lstStyle/>
          <a:p>
            <a:pPr indent="0" marL="0">
              <a:buNone/>
            </a:pPr>
            <a:r>
              <a:rPr lang="en-US" sz="2400" b="1" dirty="0">
                <a:solidFill>
                  <a:srgbClr val="233A53"/>
                </a:solidFill>
                <a:latin typeface="Inter" pitchFamily="34" charset="0"/>
                <a:ea typeface="Inter" pitchFamily="34" charset="-122"/>
                <a:cs typeface="Inter" pitchFamily="34" charset="-120"/>
              </a:rPr>
              <a:t>Sistema de Control de Asistencia</a:t>
            </a:r>
            <a:endParaRPr lang="en-US" sz="2400" dirty="0"/>
          </a:p>
        </p:txBody>
      </p:sp>
      <p:sp>
        <p:nvSpPr>
          <p:cNvPr id="7" name="Text 5"/>
          <p:cNvSpPr/>
          <p:nvPr/>
        </p:nvSpPr>
        <p:spPr>
          <a:xfrm>
            <a:off x="704088" y="4105656"/>
            <a:ext cx="6254496" cy="530352"/>
          </a:xfrm>
          <a:prstGeom prst="rect">
            <a:avLst/>
          </a:prstGeom>
          <a:noFill/>
          <a:ln/>
        </p:spPr>
        <p:txBody>
          <a:bodyPr wrap="square" lIns="0" tIns="0" rIns="0" bIns="0" rtlCol="0" anchor="ctr">
            <a:normAutofit/>
          </a:bodyPr>
          <a:lstStyle/>
          <a:p>
            <a:pPr indent="0" marL="0">
              <a:buNone/>
            </a:pPr>
            <a:r>
              <a:rPr lang="en-US" sz="1630" dirty="0">
                <a:solidFill>
                  <a:srgbClr val="60748A"/>
                </a:solidFill>
                <a:latin typeface="Inter" pitchFamily="34" charset="0"/>
                <a:ea typeface="Inter" pitchFamily="34" charset="-122"/>
                <a:cs typeface="Inter" pitchFamily="34" charset="-120"/>
              </a:rPr>
              <a:t>Tres casos de uso. Tres evaluaciones independientes.</a:t>
            </a:r>
            <a:endParaRPr lang="en-US" sz="1630" dirty="0"/>
          </a:p>
        </p:txBody>
      </p:sp>
      <p:sp>
        <p:nvSpPr>
          <p:cNvPr id="8" name="Text 6"/>
          <p:cNvSpPr/>
          <p:nvPr/>
        </p:nvSpPr>
        <p:spPr>
          <a:xfrm>
            <a:off x="704088" y="6089904"/>
            <a:ext cx="6675120" cy="210312"/>
          </a:xfrm>
          <a:prstGeom prst="rect">
            <a:avLst/>
          </a:prstGeom>
          <a:noFill/>
          <a:ln/>
        </p:spPr>
        <p:txBody>
          <a:bodyPr wrap="square" lIns="0" tIns="0" rIns="0" bIns="0" rtlCol="0" anchor="ctr">
            <a:normAutofit/>
          </a:bodyPr>
          <a:lstStyle/>
          <a:p>
            <a:pPr indent="0" marL="0">
              <a:buNone/>
            </a:pPr>
            <a:r>
              <a:rPr lang="en-US" sz="1030" b="1" spc="140" kern="0" dirty="0">
                <a:solidFill>
                  <a:srgbClr val="60748A"/>
                </a:solidFill>
                <a:latin typeface="Inter" pitchFamily="34" charset="0"/>
                <a:ea typeface="Inter" pitchFamily="34" charset="-122"/>
                <a:cs typeface="Inter" pitchFamily="34" charset="-120"/>
              </a:rPr>
              <a:t>GRUPO 4   ·   ANÁLISIS Y DISEÑO DE SOFTWARE</a:t>
            </a:r>
            <a:endParaRPr lang="en-US" sz="1030" dirty="0"/>
          </a:p>
        </p:txBody>
      </p:sp>
      <p:sp>
        <p:nvSpPr>
          <p:cNvPr id="9" name="Shape 7"/>
          <p:cNvSpPr/>
          <p:nvPr/>
        </p:nvSpPr>
        <p:spPr>
          <a:xfrm>
            <a:off x="7479792" y="777240"/>
            <a:ext cx="4059936" cy="5321808"/>
          </a:xfrm>
          <a:prstGeom prst="roundRect">
            <a:avLst>
              <a:gd name="adj" fmla="val 4505"/>
            </a:avLst>
          </a:prstGeom>
          <a:solidFill>
            <a:srgbClr val="F7F9FC"/>
          </a:solidFill>
          <a:ln w="12700">
            <a:solidFill>
              <a:srgbClr val="F7F9FC">
                <a:alpha val="0"/>
              </a:srgbClr>
            </a:solidFill>
            <a:prstDash val="solid"/>
          </a:ln>
        </p:spPr>
      </p:sp>
      <p:sp>
        <p:nvSpPr>
          <p:cNvPr id="10" name="Shape 8"/>
          <p:cNvSpPr/>
          <p:nvPr/>
        </p:nvSpPr>
        <p:spPr>
          <a:xfrm>
            <a:off x="7836408" y="1325880"/>
            <a:ext cx="3355848" cy="1161288"/>
          </a:xfrm>
          <a:prstGeom prst="roundRect">
            <a:avLst>
              <a:gd name="adj" fmla="val 11811"/>
            </a:avLst>
          </a:prstGeom>
          <a:solidFill>
            <a:srgbClr val="FFFFFF"/>
          </a:solidFill>
          <a:ln w="10160">
            <a:solidFill>
              <a:srgbClr val="E1EAF1"/>
            </a:solidFill>
            <a:prstDash val="solid"/>
          </a:ln>
        </p:spPr>
      </p:sp>
      <p:sp>
        <p:nvSpPr>
          <p:cNvPr id="11" name="Shape 9"/>
          <p:cNvSpPr/>
          <p:nvPr/>
        </p:nvSpPr>
        <p:spPr>
          <a:xfrm>
            <a:off x="7836408" y="1325880"/>
            <a:ext cx="61265" cy="1161288"/>
          </a:xfrm>
          <a:prstGeom prst="rect">
            <a:avLst/>
          </a:prstGeom>
          <a:solidFill>
            <a:srgbClr val="2776D2"/>
          </a:solidFill>
          <a:ln w="12700">
            <a:solidFill>
              <a:srgbClr val="2776D2">
                <a:alpha val="0"/>
              </a:srgbClr>
            </a:solidFill>
            <a:prstDash val="solid"/>
          </a:ln>
        </p:spPr>
      </p:sp>
      <p:sp>
        <p:nvSpPr>
          <p:cNvPr id="12" name="Shape 10"/>
          <p:cNvSpPr/>
          <p:nvPr/>
        </p:nvSpPr>
        <p:spPr>
          <a:xfrm>
            <a:off x="8092440" y="1609344"/>
            <a:ext cx="813816" cy="566928"/>
          </a:xfrm>
          <a:prstGeom prst="roundRect">
            <a:avLst>
              <a:gd name="adj" fmla="val 17742"/>
            </a:avLst>
          </a:prstGeom>
          <a:solidFill>
            <a:srgbClr val="ECF5FF"/>
          </a:solidFill>
          <a:ln w="12700">
            <a:solidFill>
              <a:srgbClr val="ECF5FF">
                <a:alpha val="0"/>
              </a:srgbClr>
            </a:solidFill>
            <a:prstDash val="solid"/>
          </a:ln>
        </p:spPr>
      </p:sp>
      <p:sp>
        <p:nvSpPr>
          <p:cNvPr id="13" name="Text 11"/>
          <p:cNvSpPr/>
          <p:nvPr/>
        </p:nvSpPr>
        <p:spPr>
          <a:xfrm>
            <a:off x="8174736" y="1773936"/>
            <a:ext cx="640080" cy="201168"/>
          </a:xfrm>
          <a:prstGeom prst="rect">
            <a:avLst/>
          </a:prstGeom>
          <a:noFill/>
          <a:ln/>
        </p:spPr>
        <p:txBody>
          <a:bodyPr wrap="square" lIns="0" tIns="0" rIns="0" bIns="0" rtlCol="0" anchor="ctr">
            <a:normAutofit/>
          </a:bodyPr>
          <a:lstStyle/>
          <a:p>
            <a:pPr algn="ctr" indent="0" marL="0">
              <a:buNone/>
            </a:pPr>
            <a:r>
              <a:rPr lang="en-US" sz="1200" b="1" dirty="0">
                <a:solidFill>
                  <a:srgbClr val="2776D2"/>
                </a:solidFill>
                <a:latin typeface="Inter" pitchFamily="34" charset="0"/>
                <a:ea typeface="Inter" pitchFamily="34" charset="-122"/>
                <a:cs typeface="Inter" pitchFamily="34" charset="-120"/>
              </a:rPr>
              <a:t>CU01</a:t>
            </a:r>
            <a:endParaRPr lang="en-US" sz="1200" dirty="0"/>
          </a:p>
        </p:txBody>
      </p:sp>
      <p:sp>
        <p:nvSpPr>
          <p:cNvPr id="14" name="Text 12"/>
          <p:cNvSpPr/>
          <p:nvPr/>
        </p:nvSpPr>
        <p:spPr>
          <a:xfrm>
            <a:off x="9070848" y="1636776"/>
            <a:ext cx="1901952" cy="566928"/>
          </a:xfrm>
          <a:prstGeom prst="rect">
            <a:avLst/>
          </a:prstGeom>
          <a:noFill/>
          <a:ln/>
        </p:spPr>
        <p:txBody>
          <a:bodyPr wrap="square" lIns="0" tIns="0" rIns="0" bIns="0" rtlCol="0" anchor="ctr">
            <a:normAutofit/>
          </a:bodyPr>
          <a:lstStyle/>
          <a:p>
            <a:pPr indent="0" marL="0">
              <a:buNone/>
            </a:pPr>
            <a:r>
              <a:rPr lang="en-US" sz="1630" b="1" dirty="0">
                <a:solidFill>
                  <a:srgbClr val="102A43"/>
                </a:solidFill>
                <a:latin typeface="Inter" pitchFamily="34" charset="0"/>
                <a:ea typeface="Inter" pitchFamily="34" charset="-122"/>
                <a:cs typeface="Inter" pitchFamily="34" charset="-120"/>
              </a:rPr>
              <a:t>Registrar Asistencia</a:t>
            </a:r>
            <a:endParaRPr lang="en-US" sz="1630" dirty="0"/>
          </a:p>
        </p:txBody>
      </p:sp>
      <p:sp>
        <p:nvSpPr>
          <p:cNvPr id="15" name="Shape 13"/>
          <p:cNvSpPr/>
          <p:nvPr/>
        </p:nvSpPr>
        <p:spPr>
          <a:xfrm>
            <a:off x="7836408" y="2761488"/>
            <a:ext cx="3355848" cy="1161288"/>
          </a:xfrm>
          <a:prstGeom prst="roundRect">
            <a:avLst>
              <a:gd name="adj" fmla="val 11811"/>
            </a:avLst>
          </a:prstGeom>
          <a:solidFill>
            <a:srgbClr val="FFFFFF"/>
          </a:solidFill>
          <a:ln w="10160">
            <a:solidFill>
              <a:srgbClr val="E1EAF1"/>
            </a:solidFill>
            <a:prstDash val="solid"/>
          </a:ln>
        </p:spPr>
      </p:sp>
      <p:sp>
        <p:nvSpPr>
          <p:cNvPr id="16" name="Shape 14"/>
          <p:cNvSpPr/>
          <p:nvPr/>
        </p:nvSpPr>
        <p:spPr>
          <a:xfrm>
            <a:off x="7836408" y="2761488"/>
            <a:ext cx="61265" cy="1161288"/>
          </a:xfrm>
          <a:prstGeom prst="rect">
            <a:avLst/>
          </a:prstGeom>
          <a:solidFill>
            <a:srgbClr val="119E94"/>
          </a:solidFill>
          <a:ln w="12700">
            <a:solidFill>
              <a:srgbClr val="119E94">
                <a:alpha val="0"/>
              </a:srgbClr>
            </a:solidFill>
            <a:prstDash val="solid"/>
          </a:ln>
        </p:spPr>
      </p:sp>
      <p:sp>
        <p:nvSpPr>
          <p:cNvPr id="17" name="Shape 15"/>
          <p:cNvSpPr/>
          <p:nvPr/>
        </p:nvSpPr>
        <p:spPr>
          <a:xfrm>
            <a:off x="8092440" y="3044952"/>
            <a:ext cx="813816" cy="566928"/>
          </a:xfrm>
          <a:prstGeom prst="roundRect">
            <a:avLst>
              <a:gd name="adj" fmla="val 17742"/>
            </a:avLst>
          </a:prstGeom>
          <a:solidFill>
            <a:srgbClr val="E7F7F3"/>
          </a:solidFill>
          <a:ln w="12700">
            <a:solidFill>
              <a:srgbClr val="E7F7F3">
                <a:alpha val="0"/>
              </a:srgbClr>
            </a:solidFill>
            <a:prstDash val="solid"/>
          </a:ln>
        </p:spPr>
      </p:sp>
      <p:sp>
        <p:nvSpPr>
          <p:cNvPr id="18" name="Text 16"/>
          <p:cNvSpPr/>
          <p:nvPr/>
        </p:nvSpPr>
        <p:spPr>
          <a:xfrm>
            <a:off x="8174736" y="3209544"/>
            <a:ext cx="640080" cy="201168"/>
          </a:xfrm>
          <a:prstGeom prst="rect">
            <a:avLst/>
          </a:prstGeom>
          <a:noFill/>
          <a:ln/>
        </p:spPr>
        <p:txBody>
          <a:bodyPr wrap="square" lIns="0" tIns="0" rIns="0" bIns="0" rtlCol="0" anchor="ctr">
            <a:normAutofit/>
          </a:bodyPr>
          <a:lstStyle/>
          <a:p>
            <a:pPr algn="ctr" indent="0" marL="0">
              <a:buNone/>
            </a:pPr>
            <a:r>
              <a:rPr lang="en-US" sz="1200" b="1" dirty="0">
                <a:solidFill>
                  <a:srgbClr val="119E94"/>
                </a:solidFill>
                <a:latin typeface="Inter" pitchFamily="34" charset="0"/>
                <a:ea typeface="Inter" pitchFamily="34" charset="-122"/>
                <a:cs typeface="Inter" pitchFamily="34" charset="-120"/>
              </a:rPr>
              <a:t>CU02</a:t>
            </a:r>
            <a:endParaRPr lang="en-US" sz="1200" dirty="0"/>
          </a:p>
        </p:txBody>
      </p:sp>
      <p:sp>
        <p:nvSpPr>
          <p:cNvPr id="19" name="Text 17"/>
          <p:cNvSpPr/>
          <p:nvPr/>
        </p:nvSpPr>
        <p:spPr>
          <a:xfrm>
            <a:off x="9070848" y="3072384"/>
            <a:ext cx="1901952" cy="566928"/>
          </a:xfrm>
          <a:prstGeom prst="rect">
            <a:avLst/>
          </a:prstGeom>
          <a:noFill/>
          <a:ln/>
        </p:spPr>
        <p:txBody>
          <a:bodyPr wrap="square" lIns="0" tIns="0" rIns="0" bIns="0" rtlCol="0" anchor="ctr">
            <a:normAutofit/>
          </a:bodyPr>
          <a:lstStyle/>
          <a:p>
            <a:pPr indent="0" marL="0">
              <a:buNone/>
            </a:pPr>
            <a:r>
              <a:rPr lang="en-US" sz="1630" b="1" dirty="0">
                <a:solidFill>
                  <a:srgbClr val="102A43"/>
                </a:solidFill>
                <a:latin typeface="Inter" pitchFamily="34" charset="0"/>
                <a:ea typeface="Inter" pitchFamily="34" charset="-122"/>
                <a:cs typeface="Inter" pitchFamily="34" charset="-120"/>
              </a:rPr>
              <a:t>Generar Reportes</a:t>
            </a:r>
            <a:endParaRPr lang="en-US" sz="1630" dirty="0"/>
          </a:p>
        </p:txBody>
      </p:sp>
      <p:sp>
        <p:nvSpPr>
          <p:cNvPr id="20" name="Shape 18"/>
          <p:cNvSpPr/>
          <p:nvPr/>
        </p:nvSpPr>
        <p:spPr>
          <a:xfrm>
            <a:off x="7836408" y="4197096"/>
            <a:ext cx="3355848" cy="1161288"/>
          </a:xfrm>
          <a:prstGeom prst="roundRect">
            <a:avLst>
              <a:gd name="adj" fmla="val 11811"/>
            </a:avLst>
          </a:prstGeom>
          <a:solidFill>
            <a:srgbClr val="FFFFFF"/>
          </a:solidFill>
          <a:ln w="10160">
            <a:solidFill>
              <a:srgbClr val="E1EAF1"/>
            </a:solidFill>
            <a:prstDash val="solid"/>
          </a:ln>
        </p:spPr>
      </p:sp>
      <p:sp>
        <p:nvSpPr>
          <p:cNvPr id="21" name="Shape 19"/>
          <p:cNvSpPr/>
          <p:nvPr/>
        </p:nvSpPr>
        <p:spPr>
          <a:xfrm>
            <a:off x="7836408" y="4197096"/>
            <a:ext cx="61265" cy="1161288"/>
          </a:xfrm>
          <a:prstGeom prst="rect">
            <a:avLst/>
          </a:prstGeom>
          <a:solidFill>
            <a:srgbClr val="DF8633"/>
          </a:solidFill>
          <a:ln w="12700">
            <a:solidFill>
              <a:srgbClr val="DF8633">
                <a:alpha val="0"/>
              </a:srgbClr>
            </a:solidFill>
            <a:prstDash val="solid"/>
          </a:ln>
        </p:spPr>
      </p:sp>
      <p:sp>
        <p:nvSpPr>
          <p:cNvPr id="22" name="Shape 20"/>
          <p:cNvSpPr/>
          <p:nvPr/>
        </p:nvSpPr>
        <p:spPr>
          <a:xfrm>
            <a:off x="8092440" y="4480560"/>
            <a:ext cx="813816" cy="566928"/>
          </a:xfrm>
          <a:prstGeom prst="roundRect">
            <a:avLst>
              <a:gd name="adj" fmla="val 17742"/>
            </a:avLst>
          </a:prstGeom>
          <a:solidFill>
            <a:srgbClr val="FFF1E4"/>
          </a:solidFill>
          <a:ln w="12700">
            <a:solidFill>
              <a:srgbClr val="FFF1E4">
                <a:alpha val="0"/>
              </a:srgbClr>
            </a:solidFill>
            <a:prstDash val="solid"/>
          </a:ln>
        </p:spPr>
      </p:sp>
      <p:sp>
        <p:nvSpPr>
          <p:cNvPr id="23" name="Text 21"/>
          <p:cNvSpPr/>
          <p:nvPr/>
        </p:nvSpPr>
        <p:spPr>
          <a:xfrm>
            <a:off x="8174736" y="4645152"/>
            <a:ext cx="640080" cy="201168"/>
          </a:xfrm>
          <a:prstGeom prst="rect">
            <a:avLst/>
          </a:prstGeom>
          <a:noFill/>
          <a:ln/>
        </p:spPr>
        <p:txBody>
          <a:bodyPr wrap="square" lIns="0" tIns="0" rIns="0" bIns="0" rtlCol="0" anchor="ctr">
            <a:normAutofit/>
          </a:bodyPr>
          <a:lstStyle/>
          <a:p>
            <a:pPr algn="ctr" indent="0" marL="0">
              <a:buNone/>
            </a:pPr>
            <a:r>
              <a:rPr lang="en-US" sz="1200" b="1" dirty="0">
                <a:solidFill>
                  <a:srgbClr val="DF8633"/>
                </a:solidFill>
                <a:latin typeface="Inter" pitchFamily="34" charset="0"/>
                <a:ea typeface="Inter" pitchFamily="34" charset="-122"/>
                <a:cs typeface="Inter" pitchFamily="34" charset="-120"/>
              </a:rPr>
              <a:t>CU03</a:t>
            </a:r>
            <a:endParaRPr lang="en-US" sz="1200" dirty="0"/>
          </a:p>
        </p:txBody>
      </p:sp>
      <p:sp>
        <p:nvSpPr>
          <p:cNvPr id="24" name="Text 22"/>
          <p:cNvSpPr/>
          <p:nvPr/>
        </p:nvSpPr>
        <p:spPr>
          <a:xfrm>
            <a:off x="9070848" y="4507992"/>
            <a:ext cx="1901952" cy="566928"/>
          </a:xfrm>
          <a:prstGeom prst="rect">
            <a:avLst/>
          </a:prstGeom>
          <a:noFill/>
          <a:ln/>
        </p:spPr>
        <p:txBody>
          <a:bodyPr wrap="square" lIns="0" tIns="0" rIns="0" bIns="0" rtlCol="0" anchor="ctr">
            <a:normAutofit/>
          </a:bodyPr>
          <a:lstStyle/>
          <a:p>
            <a:pPr indent="0" marL="0">
              <a:buNone/>
            </a:pPr>
            <a:r>
              <a:rPr lang="en-US" sz="1630" b="1" dirty="0">
                <a:solidFill>
                  <a:srgbClr val="102A43"/>
                </a:solidFill>
                <a:latin typeface="Inter" pitchFamily="34" charset="0"/>
                <a:ea typeface="Inter" pitchFamily="34" charset="-122"/>
                <a:cs typeface="Inter" pitchFamily="34" charset="-120"/>
              </a:rPr>
              <a:t>Códigos QR</a:t>
            </a:r>
            <a:endParaRPr lang="en-US" sz="1630" dirty="0"/>
          </a:p>
        </p:txBody>
      </p:sp>
      <p:sp>
        <p:nvSpPr>
          <p:cNvPr id="25" name="Shape 23"/>
          <p:cNvSpPr/>
          <p:nvPr/>
        </p:nvSpPr>
        <p:spPr>
          <a:xfrm>
            <a:off x="7909560" y="6373368"/>
            <a:ext cx="3520440" cy="0"/>
          </a:xfrm>
          <a:prstGeom prst="line">
            <a:avLst/>
          </a:prstGeom>
          <a:noFill/>
          <a:ln w="12700">
            <a:solidFill>
              <a:srgbClr val="E1EAF1"/>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METODOLOGÍA</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02</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ESTRUCTURA DE LA EXPOSICIÓN</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20" b="1" dirty="0">
                <a:solidFill>
                  <a:srgbClr val="102A43"/>
                </a:solidFill>
                <a:latin typeface="Inter" pitchFamily="34" charset="0"/>
                <a:ea typeface="Inter" pitchFamily="34" charset="-122"/>
                <a:cs typeface="Inter" pitchFamily="34" charset="-120"/>
              </a:rPr>
              <a:t>Un caso completo antes de pasar al siguiente</a:t>
            </a:r>
            <a:endParaRPr lang="en-US" sz="282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Cada integrante explica los resultados y los 11 criterios de su propio caso.</a:t>
            </a:r>
            <a:endParaRPr lang="en-US" sz="1280" dirty="0"/>
          </a:p>
        </p:txBody>
      </p:sp>
      <p:sp>
        <p:nvSpPr>
          <p:cNvPr id="11" name="Shape 9"/>
          <p:cNvSpPr/>
          <p:nvPr/>
        </p:nvSpPr>
        <p:spPr>
          <a:xfrm>
            <a:off x="667512" y="2103120"/>
            <a:ext cx="3538728" cy="2542032"/>
          </a:xfrm>
          <a:prstGeom prst="roundRect">
            <a:avLst>
              <a:gd name="adj" fmla="val 6115"/>
            </a:avLst>
          </a:prstGeom>
          <a:solidFill>
            <a:srgbClr val="FFFFFF"/>
          </a:solidFill>
          <a:ln w="10160">
            <a:solidFill>
              <a:srgbClr val="E1EAF1"/>
            </a:solidFill>
            <a:prstDash val="solid"/>
          </a:ln>
        </p:spPr>
      </p:sp>
      <p:sp>
        <p:nvSpPr>
          <p:cNvPr id="12" name="Shape 10"/>
          <p:cNvSpPr/>
          <p:nvPr/>
        </p:nvSpPr>
        <p:spPr>
          <a:xfrm>
            <a:off x="667512" y="2103120"/>
            <a:ext cx="3538728" cy="82296"/>
          </a:xfrm>
          <a:prstGeom prst="rect">
            <a:avLst/>
          </a:prstGeom>
          <a:solidFill>
            <a:srgbClr val="2776D2"/>
          </a:solidFill>
          <a:ln w="12700">
            <a:solidFill>
              <a:srgbClr val="2776D2">
                <a:alpha val="0"/>
              </a:srgbClr>
            </a:solidFill>
            <a:prstDash val="solid"/>
          </a:ln>
        </p:spPr>
      </p:sp>
      <p:sp>
        <p:nvSpPr>
          <p:cNvPr id="13" name="Text 11"/>
          <p:cNvSpPr/>
          <p:nvPr/>
        </p:nvSpPr>
        <p:spPr>
          <a:xfrm>
            <a:off x="932688" y="2386584"/>
            <a:ext cx="2889504" cy="228600"/>
          </a:xfrm>
          <a:prstGeom prst="rect">
            <a:avLst/>
          </a:prstGeom>
          <a:noFill/>
          <a:ln/>
        </p:spPr>
        <p:txBody>
          <a:bodyPr wrap="square" lIns="0" tIns="0" rIns="0" bIns="0" rtlCol="0" anchor="ctr">
            <a:normAutofit/>
          </a:bodyPr>
          <a:lstStyle/>
          <a:p>
            <a:pPr indent="0" marL="0">
              <a:buNone/>
            </a:pPr>
            <a:r>
              <a:rPr lang="en-US" sz="1000" b="1" spc="140" kern="0" dirty="0">
                <a:solidFill>
                  <a:srgbClr val="2776D2"/>
                </a:solidFill>
                <a:latin typeface="Inter" pitchFamily="34" charset="0"/>
                <a:ea typeface="Inter" pitchFamily="34" charset="-122"/>
                <a:cs typeface="Inter" pitchFamily="34" charset="-120"/>
              </a:rPr>
              <a:t>BLOQUE 01</a:t>
            </a:r>
            <a:endParaRPr lang="en-US" sz="1000" dirty="0"/>
          </a:p>
        </p:txBody>
      </p:sp>
      <p:sp>
        <p:nvSpPr>
          <p:cNvPr id="14" name="Text 12"/>
          <p:cNvSpPr/>
          <p:nvPr/>
        </p:nvSpPr>
        <p:spPr>
          <a:xfrm>
            <a:off x="932688" y="2788920"/>
            <a:ext cx="2880360" cy="548640"/>
          </a:xfrm>
          <a:prstGeom prst="rect">
            <a:avLst/>
          </a:prstGeom>
          <a:noFill/>
          <a:ln/>
        </p:spPr>
        <p:txBody>
          <a:bodyPr wrap="square" lIns="0" tIns="0" rIns="0" bIns="0" rtlCol="0" anchor="ctr">
            <a:normAutofit/>
          </a:bodyPr>
          <a:lstStyle/>
          <a:p>
            <a:pPr indent="0" marL="0">
              <a:buNone/>
            </a:pPr>
            <a:r>
              <a:rPr lang="en-US" sz="3700" b="1" dirty="0">
                <a:solidFill>
                  <a:srgbClr val="2776D2"/>
                </a:solidFill>
                <a:latin typeface="Inter" pitchFamily="34" charset="0"/>
                <a:ea typeface="Inter" pitchFamily="34" charset="-122"/>
                <a:cs typeface="Inter" pitchFamily="34" charset="-120"/>
              </a:rPr>
              <a:t>CU01</a:t>
            </a:r>
            <a:endParaRPr lang="en-US" sz="3700" dirty="0"/>
          </a:p>
        </p:txBody>
      </p:sp>
      <p:sp>
        <p:nvSpPr>
          <p:cNvPr id="15" name="Text 13"/>
          <p:cNvSpPr/>
          <p:nvPr/>
        </p:nvSpPr>
        <p:spPr>
          <a:xfrm>
            <a:off x="932688" y="3447288"/>
            <a:ext cx="3017520" cy="603504"/>
          </a:xfrm>
          <a:prstGeom prst="rect">
            <a:avLst/>
          </a:prstGeom>
          <a:noFill/>
          <a:ln/>
        </p:spPr>
        <p:txBody>
          <a:bodyPr wrap="square" lIns="0" tIns="0" rIns="0" bIns="0" rtlCol="0" anchor="t">
            <a:normAutofit/>
          </a:bodyPr>
          <a:lstStyle/>
          <a:p>
            <a:pPr indent="0" marL="0">
              <a:buNone/>
            </a:pPr>
            <a:r>
              <a:rPr lang="en-US" sz="1760" b="1" dirty="0">
                <a:solidFill>
                  <a:srgbClr val="102A43"/>
                </a:solidFill>
                <a:latin typeface="Inter" pitchFamily="34" charset="0"/>
                <a:ea typeface="Inter" pitchFamily="34" charset="-122"/>
                <a:cs typeface="Inter" pitchFamily="34" charset="-120"/>
              </a:rPr>
              <a:t>Registrar Asistencia</a:t>
            </a:r>
            <a:endParaRPr lang="en-US" sz="1760" dirty="0"/>
          </a:p>
        </p:txBody>
      </p:sp>
      <p:sp>
        <p:nvSpPr>
          <p:cNvPr id="16" name="Text 14"/>
          <p:cNvSpPr/>
          <p:nvPr/>
        </p:nvSpPr>
        <p:spPr>
          <a:xfrm>
            <a:off x="932688" y="4261104"/>
            <a:ext cx="2852928" cy="201168"/>
          </a:xfrm>
          <a:prstGeom prst="rect">
            <a:avLst/>
          </a:prstGeom>
          <a:noFill/>
          <a:ln/>
        </p:spPr>
        <p:txBody>
          <a:bodyPr wrap="square" lIns="0" tIns="0" rIns="0" bIns="0" rtlCol="0" anchor="ctr">
            <a:normAutofit/>
          </a:bodyPr>
          <a:lstStyle/>
          <a:p>
            <a:pPr indent="0" marL="0">
              <a:buNone/>
            </a:pPr>
            <a:r>
              <a:rPr lang="en-US" sz="1230" dirty="0">
                <a:solidFill>
                  <a:srgbClr val="60748A"/>
                </a:solidFill>
                <a:latin typeface="Inter" pitchFamily="34" charset="0"/>
                <a:ea typeface="Inter" pitchFamily="34" charset="-122"/>
                <a:cs typeface="Inter" pitchFamily="34" charset="-120"/>
              </a:rPr>
              <a:t>Joffre Gómez</a:t>
            </a:r>
            <a:endParaRPr lang="en-US" sz="1230" dirty="0"/>
          </a:p>
        </p:txBody>
      </p:sp>
      <p:sp>
        <p:nvSpPr>
          <p:cNvPr id="17" name="Shape 15"/>
          <p:cNvSpPr/>
          <p:nvPr/>
        </p:nvSpPr>
        <p:spPr>
          <a:xfrm>
            <a:off x="4443984" y="2103120"/>
            <a:ext cx="3538728" cy="2542032"/>
          </a:xfrm>
          <a:prstGeom prst="roundRect">
            <a:avLst>
              <a:gd name="adj" fmla="val 6115"/>
            </a:avLst>
          </a:prstGeom>
          <a:solidFill>
            <a:srgbClr val="FFFFFF"/>
          </a:solidFill>
          <a:ln w="10160">
            <a:solidFill>
              <a:srgbClr val="E1EAF1"/>
            </a:solidFill>
            <a:prstDash val="solid"/>
          </a:ln>
        </p:spPr>
      </p:sp>
      <p:sp>
        <p:nvSpPr>
          <p:cNvPr id="18" name="Shape 16"/>
          <p:cNvSpPr/>
          <p:nvPr/>
        </p:nvSpPr>
        <p:spPr>
          <a:xfrm>
            <a:off x="4443984" y="2103120"/>
            <a:ext cx="3538728" cy="82296"/>
          </a:xfrm>
          <a:prstGeom prst="rect">
            <a:avLst/>
          </a:prstGeom>
          <a:solidFill>
            <a:srgbClr val="119E94"/>
          </a:solidFill>
          <a:ln w="12700">
            <a:solidFill>
              <a:srgbClr val="119E94">
                <a:alpha val="0"/>
              </a:srgbClr>
            </a:solidFill>
            <a:prstDash val="solid"/>
          </a:ln>
        </p:spPr>
      </p:sp>
      <p:sp>
        <p:nvSpPr>
          <p:cNvPr id="19" name="Text 17"/>
          <p:cNvSpPr/>
          <p:nvPr/>
        </p:nvSpPr>
        <p:spPr>
          <a:xfrm>
            <a:off x="4709160" y="2386584"/>
            <a:ext cx="2889504" cy="228600"/>
          </a:xfrm>
          <a:prstGeom prst="rect">
            <a:avLst/>
          </a:prstGeom>
          <a:noFill/>
          <a:ln/>
        </p:spPr>
        <p:txBody>
          <a:bodyPr wrap="square" lIns="0" tIns="0" rIns="0" bIns="0" rtlCol="0" anchor="ctr">
            <a:normAutofit/>
          </a:bodyPr>
          <a:lstStyle/>
          <a:p>
            <a:pPr indent="0" marL="0">
              <a:buNone/>
            </a:pPr>
            <a:r>
              <a:rPr lang="en-US" sz="1000" b="1" spc="140" kern="0" dirty="0">
                <a:solidFill>
                  <a:srgbClr val="119E94"/>
                </a:solidFill>
                <a:latin typeface="Inter" pitchFamily="34" charset="0"/>
                <a:ea typeface="Inter" pitchFamily="34" charset="-122"/>
                <a:cs typeface="Inter" pitchFamily="34" charset="-120"/>
              </a:rPr>
              <a:t>BLOQUE 02</a:t>
            </a:r>
            <a:endParaRPr lang="en-US" sz="1000" dirty="0"/>
          </a:p>
        </p:txBody>
      </p:sp>
      <p:sp>
        <p:nvSpPr>
          <p:cNvPr id="20" name="Text 18"/>
          <p:cNvSpPr/>
          <p:nvPr/>
        </p:nvSpPr>
        <p:spPr>
          <a:xfrm>
            <a:off x="4709160" y="2788920"/>
            <a:ext cx="2880360" cy="548640"/>
          </a:xfrm>
          <a:prstGeom prst="rect">
            <a:avLst/>
          </a:prstGeom>
          <a:noFill/>
          <a:ln/>
        </p:spPr>
        <p:txBody>
          <a:bodyPr wrap="square" lIns="0" tIns="0" rIns="0" bIns="0" rtlCol="0" anchor="ctr">
            <a:normAutofit/>
          </a:bodyPr>
          <a:lstStyle/>
          <a:p>
            <a:pPr indent="0" marL="0">
              <a:buNone/>
            </a:pPr>
            <a:r>
              <a:rPr lang="en-US" sz="3700" b="1" dirty="0">
                <a:solidFill>
                  <a:srgbClr val="119E94"/>
                </a:solidFill>
                <a:latin typeface="Inter" pitchFamily="34" charset="0"/>
                <a:ea typeface="Inter" pitchFamily="34" charset="-122"/>
                <a:cs typeface="Inter" pitchFamily="34" charset="-120"/>
              </a:rPr>
              <a:t>CU02</a:t>
            </a:r>
            <a:endParaRPr lang="en-US" sz="3700" dirty="0"/>
          </a:p>
        </p:txBody>
      </p:sp>
      <p:sp>
        <p:nvSpPr>
          <p:cNvPr id="21" name="Text 19"/>
          <p:cNvSpPr/>
          <p:nvPr/>
        </p:nvSpPr>
        <p:spPr>
          <a:xfrm>
            <a:off x="4709160" y="3447288"/>
            <a:ext cx="3017520" cy="603504"/>
          </a:xfrm>
          <a:prstGeom prst="rect">
            <a:avLst/>
          </a:prstGeom>
          <a:noFill/>
          <a:ln/>
        </p:spPr>
        <p:txBody>
          <a:bodyPr wrap="square" lIns="0" tIns="0" rIns="0" bIns="0" rtlCol="0" anchor="t">
            <a:normAutofit/>
          </a:bodyPr>
          <a:lstStyle/>
          <a:p>
            <a:pPr indent="0" marL="0">
              <a:buNone/>
            </a:pPr>
            <a:r>
              <a:rPr lang="en-US" sz="1760" b="1" dirty="0">
                <a:solidFill>
                  <a:srgbClr val="102A43"/>
                </a:solidFill>
                <a:latin typeface="Inter" pitchFamily="34" charset="0"/>
                <a:ea typeface="Inter" pitchFamily="34" charset="-122"/>
                <a:cs typeface="Inter" pitchFamily="34" charset="-120"/>
              </a:rPr>
              <a:t>Generar Reportes de Horas</a:t>
            </a:r>
            <a:endParaRPr lang="en-US" sz="1760" dirty="0"/>
          </a:p>
        </p:txBody>
      </p:sp>
      <p:sp>
        <p:nvSpPr>
          <p:cNvPr id="22" name="Text 20"/>
          <p:cNvSpPr/>
          <p:nvPr/>
        </p:nvSpPr>
        <p:spPr>
          <a:xfrm>
            <a:off x="4709160" y="4261104"/>
            <a:ext cx="2852928" cy="201168"/>
          </a:xfrm>
          <a:prstGeom prst="rect">
            <a:avLst/>
          </a:prstGeom>
          <a:noFill/>
          <a:ln/>
        </p:spPr>
        <p:txBody>
          <a:bodyPr wrap="square" lIns="0" tIns="0" rIns="0" bIns="0" rtlCol="0" anchor="ctr">
            <a:normAutofit/>
          </a:bodyPr>
          <a:lstStyle/>
          <a:p>
            <a:pPr indent="0" marL="0">
              <a:buNone/>
            </a:pPr>
            <a:r>
              <a:rPr lang="en-US" sz="1230" dirty="0">
                <a:solidFill>
                  <a:srgbClr val="60748A"/>
                </a:solidFill>
                <a:latin typeface="Inter" pitchFamily="34" charset="0"/>
                <a:ea typeface="Inter" pitchFamily="34" charset="-122"/>
                <a:cs typeface="Inter" pitchFamily="34" charset="-120"/>
              </a:rPr>
              <a:t>Daniela Flores</a:t>
            </a:r>
            <a:endParaRPr lang="en-US" sz="1230" dirty="0"/>
          </a:p>
        </p:txBody>
      </p:sp>
      <p:sp>
        <p:nvSpPr>
          <p:cNvPr id="23" name="Shape 21"/>
          <p:cNvSpPr/>
          <p:nvPr/>
        </p:nvSpPr>
        <p:spPr>
          <a:xfrm>
            <a:off x="8220456" y="2103120"/>
            <a:ext cx="3538728" cy="2542032"/>
          </a:xfrm>
          <a:prstGeom prst="roundRect">
            <a:avLst>
              <a:gd name="adj" fmla="val 6115"/>
            </a:avLst>
          </a:prstGeom>
          <a:solidFill>
            <a:srgbClr val="FFFFFF"/>
          </a:solidFill>
          <a:ln w="10160">
            <a:solidFill>
              <a:srgbClr val="E1EAF1"/>
            </a:solidFill>
            <a:prstDash val="solid"/>
          </a:ln>
        </p:spPr>
      </p:sp>
      <p:sp>
        <p:nvSpPr>
          <p:cNvPr id="24" name="Shape 22"/>
          <p:cNvSpPr/>
          <p:nvPr/>
        </p:nvSpPr>
        <p:spPr>
          <a:xfrm>
            <a:off x="8220456" y="2103120"/>
            <a:ext cx="3538728" cy="82296"/>
          </a:xfrm>
          <a:prstGeom prst="rect">
            <a:avLst/>
          </a:prstGeom>
          <a:solidFill>
            <a:srgbClr val="DF8633"/>
          </a:solidFill>
          <a:ln w="12700">
            <a:solidFill>
              <a:srgbClr val="DF8633">
                <a:alpha val="0"/>
              </a:srgbClr>
            </a:solidFill>
            <a:prstDash val="solid"/>
          </a:ln>
        </p:spPr>
      </p:sp>
      <p:sp>
        <p:nvSpPr>
          <p:cNvPr id="25" name="Text 23"/>
          <p:cNvSpPr/>
          <p:nvPr/>
        </p:nvSpPr>
        <p:spPr>
          <a:xfrm>
            <a:off x="8485632" y="2386584"/>
            <a:ext cx="2889504" cy="228600"/>
          </a:xfrm>
          <a:prstGeom prst="rect">
            <a:avLst/>
          </a:prstGeom>
          <a:noFill/>
          <a:ln/>
        </p:spPr>
        <p:txBody>
          <a:bodyPr wrap="square" lIns="0" tIns="0" rIns="0" bIns="0" rtlCol="0" anchor="ctr">
            <a:normAutofit/>
          </a:bodyPr>
          <a:lstStyle/>
          <a:p>
            <a:pPr indent="0" marL="0">
              <a:buNone/>
            </a:pPr>
            <a:r>
              <a:rPr lang="en-US" sz="1000" b="1" spc="140" kern="0" dirty="0">
                <a:solidFill>
                  <a:srgbClr val="DF8633"/>
                </a:solidFill>
                <a:latin typeface="Inter" pitchFamily="34" charset="0"/>
                <a:ea typeface="Inter" pitchFamily="34" charset="-122"/>
                <a:cs typeface="Inter" pitchFamily="34" charset="-120"/>
              </a:rPr>
              <a:t>BLOQUE 03</a:t>
            </a:r>
            <a:endParaRPr lang="en-US" sz="1000" dirty="0"/>
          </a:p>
        </p:txBody>
      </p:sp>
      <p:sp>
        <p:nvSpPr>
          <p:cNvPr id="26" name="Text 24"/>
          <p:cNvSpPr/>
          <p:nvPr/>
        </p:nvSpPr>
        <p:spPr>
          <a:xfrm>
            <a:off x="8485632" y="2788920"/>
            <a:ext cx="2880360" cy="548640"/>
          </a:xfrm>
          <a:prstGeom prst="rect">
            <a:avLst/>
          </a:prstGeom>
          <a:noFill/>
          <a:ln/>
        </p:spPr>
        <p:txBody>
          <a:bodyPr wrap="square" lIns="0" tIns="0" rIns="0" bIns="0" rtlCol="0" anchor="ctr">
            <a:normAutofit/>
          </a:bodyPr>
          <a:lstStyle/>
          <a:p>
            <a:pPr indent="0" marL="0">
              <a:buNone/>
            </a:pPr>
            <a:r>
              <a:rPr lang="en-US" sz="3700" b="1" dirty="0">
                <a:solidFill>
                  <a:srgbClr val="DF8633"/>
                </a:solidFill>
                <a:latin typeface="Inter" pitchFamily="34" charset="0"/>
                <a:ea typeface="Inter" pitchFamily="34" charset="-122"/>
                <a:cs typeface="Inter" pitchFamily="34" charset="-120"/>
              </a:rPr>
              <a:t>CU03</a:t>
            </a:r>
            <a:endParaRPr lang="en-US" sz="3700" dirty="0"/>
          </a:p>
        </p:txBody>
      </p:sp>
      <p:sp>
        <p:nvSpPr>
          <p:cNvPr id="27" name="Text 25"/>
          <p:cNvSpPr/>
          <p:nvPr/>
        </p:nvSpPr>
        <p:spPr>
          <a:xfrm>
            <a:off x="8485632" y="3447288"/>
            <a:ext cx="3017520" cy="603504"/>
          </a:xfrm>
          <a:prstGeom prst="rect">
            <a:avLst/>
          </a:prstGeom>
          <a:noFill/>
          <a:ln/>
        </p:spPr>
        <p:txBody>
          <a:bodyPr wrap="square" lIns="0" tIns="0" rIns="0" bIns="0" rtlCol="0" anchor="t">
            <a:normAutofit/>
          </a:bodyPr>
          <a:lstStyle/>
          <a:p>
            <a:pPr indent="0" marL="0">
              <a:buNone/>
            </a:pPr>
            <a:r>
              <a:rPr lang="en-US" sz="1760" b="1" dirty="0">
                <a:solidFill>
                  <a:srgbClr val="102A43"/>
                </a:solidFill>
                <a:latin typeface="Inter" pitchFamily="34" charset="0"/>
                <a:ea typeface="Inter" pitchFamily="34" charset="-122"/>
                <a:cs typeface="Inter" pitchFamily="34" charset="-120"/>
              </a:rPr>
              <a:t>Gestionar Códigos QR del Personal</a:t>
            </a:r>
            <a:endParaRPr lang="en-US" sz="1760" dirty="0"/>
          </a:p>
        </p:txBody>
      </p:sp>
      <p:sp>
        <p:nvSpPr>
          <p:cNvPr id="28" name="Text 26"/>
          <p:cNvSpPr/>
          <p:nvPr/>
        </p:nvSpPr>
        <p:spPr>
          <a:xfrm>
            <a:off x="8485632" y="4261104"/>
            <a:ext cx="2852928" cy="201168"/>
          </a:xfrm>
          <a:prstGeom prst="rect">
            <a:avLst/>
          </a:prstGeom>
          <a:noFill/>
          <a:ln/>
        </p:spPr>
        <p:txBody>
          <a:bodyPr wrap="square" lIns="0" tIns="0" rIns="0" bIns="0" rtlCol="0" anchor="ctr">
            <a:normAutofit/>
          </a:bodyPr>
          <a:lstStyle/>
          <a:p>
            <a:pPr indent="0" marL="0">
              <a:buNone/>
            </a:pPr>
            <a:r>
              <a:rPr lang="en-US" sz="1230" dirty="0">
                <a:solidFill>
                  <a:srgbClr val="60748A"/>
                </a:solidFill>
                <a:latin typeface="Inter" pitchFamily="34" charset="0"/>
                <a:ea typeface="Inter" pitchFamily="34" charset="-122"/>
                <a:cs typeface="Inter" pitchFamily="34" charset="-120"/>
              </a:rPr>
              <a:t>Luciana Bolaños</a:t>
            </a:r>
            <a:endParaRPr lang="en-US" sz="1230" dirty="0"/>
          </a:p>
        </p:txBody>
      </p:sp>
      <p:sp>
        <p:nvSpPr>
          <p:cNvPr id="29" name="Shape 27"/>
          <p:cNvSpPr/>
          <p:nvPr/>
        </p:nvSpPr>
        <p:spPr>
          <a:xfrm>
            <a:off x="667512" y="4965192"/>
            <a:ext cx="10835640" cy="941832"/>
          </a:xfrm>
          <a:prstGeom prst="roundRect">
            <a:avLst>
              <a:gd name="adj" fmla="val 12621"/>
            </a:avLst>
          </a:prstGeom>
          <a:solidFill>
            <a:srgbClr val="ECF5FF"/>
          </a:solidFill>
          <a:ln w="12700">
            <a:solidFill>
              <a:srgbClr val="ECF5FF">
                <a:alpha val="0"/>
              </a:srgbClr>
            </a:solidFill>
            <a:prstDash val="solid"/>
          </a:ln>
        </p:spPr>
      </p:sp>
      <p:sp>
        <p:nvSpPr>
          <p:cNvPr id="30" name="Text 28"/>
          <p:cNvSpPr/>
          <p:nvPr/>
        </p:nvSpPr>
        <p:spPr>
          <a:xfrm>
            <a:off x="960120" y="5266944"/>
            <a:ext cx="374904" cy="256032"/>
          </a:xfrm>
          <a:prstGeom prst="rect">
            <a:avLst/>
          </a:prstGeom>
          <a:noFill/>
          <a:ln/>
        </p:spPr>
        <p:txBody>
          <a:bodyPr wrap="square" lIns="0" tIns="0" rIns="0" bIns="0" rtlCol="0" anchor="ctr">
            <a:normAutofit/>
          </a:bodyPr>
          <a:lstStyle/>
          <a:p>
            <a:pPr indent="0" marL="0">
              <a:buNone/>
            </a:pPr>
            <a:r>
              <a:rPr lang="en-US" sz="1500" b="1" dirty="0">
                <a:solidFill>
                  <a:srgbClr val="2776D2"/>
                </a:solidFill>
                <a:latin typeface="Inter" pitchFamily="34" charset="0"/>
                <a:ea typeface="Inter" pitchFamily="34" charset="-122"/>
                <a:cs typeface="Inter" pitchFamily="34" charset="-120"/>
              </a:rPr>
              <a:t>01</a:t>
            </a:r>
            <a:endParaRPr lang="en-US" sz="1500" dirty="0"/>
          </a:p>
        </p:txBody>
      </p:sp>
      <p:sp>
        <p:nvSpPr>
          <p:cNvPr id="31" name="Text 29"/>
          <p:cNvSpPr/>
          <p:nvPr/>
        </p:nvSpPr>
        <p:spPr>
          <a:xfrm>
            <a:off x="1380744" y="5202936"/>
            <a:ext cx="2176272" cy="402336"/>
          </a:xfrm>
          <a:prstGeom prst="rect">
            <a:avLst/>
          </a:prstGeom>
          <a:noFill/>
          <a:ln/>
        </p:spPr>
        <p:txBody>
          <a:bodyPr wrap="square" lIns="0" tIns="0" rIns="0" bIns="0" rtlCol="0" anchor="ctr">
            <a:normAutofit/>
          </a:bodyPr>
          <a:lstStyle/>
          <a:p>
            <a:pPr indent="0" marL="0">
              <a:buNone/>
            </a:pPr>
            <a:r>
              <a:rPr lang="en-US" sz="1900" b="1" dirty="0">
                <a:solidFill>
                  <a:srgbClr val="102A43"/>
                </a:solidFill>
                <a:latin typeface="Inter" pitchFamily="34" charset="0"/>
                <a:ea typeface="Inter" pitchFamily="34" charset="-122"/>
                <a:cs typeface="Inter" pitchFamily="34" charset="-120"/>
              </a:rPr>
              <a:t>Checklist</a:t>
            </a:r>
            <a:endParaRPr lang="en-US" sz="1900" dirty="0"/>
          </a:p>
        </p:txBody>
      </p:sp>
      <p:sp>
        <p:nvSpPr>
          <p:cNvPr id="32" name="Text 30"/>
          <p:cNvSpPr/>
          <p:nvPr/>
        </p:nvSpPr>
        <p:spPr>
          <a:xfrm>
            <a:off x="3364992" y="5312664"/>
            <a:ext cx="1581912" cy="228600"/>
          </a:xfrm>
          <a:prstGeom prst="rect">
            <a:avLst/>
          </a:prstGeom>
          <a:noFill/>
          <a:ln/>
        </p:spPr>
        <p:txBody>
          <a:bodyPr wrap="square" lIns="0" tIns="0" rIns="0" bIns="0" rtlCol="0" anchor="ctr">
            <a:normAutofit/>
          </a:bodyPr>
          <a:lstStyle/>
          <a:p>
            <a:pPr indent="0" marL="0">
              <a:buNone/>
            </a:pPr>
            <a:r>
              <a:rPr lang="en-US" sz="1200" dirty="0">
                <a:solidFill>
                  <a:srgbClr val="60748A"/>
                </a:solidFill>
                <a:latin typeface="Inter" pitchFamily="34" charset="0"/>
                <a:ea typeface="Inter" pitchFamily="34" charset="-122"/>
                <a:cs typeface="Inter" pitchFamily="34" charset="-120"/>
              </a:rPr>
              <a:t>17 preguntas</a:t>
            </a:r>
            <a:endParaRPr lang="en-US" sz="1200" dirty="0"/>
          </a:p>
        </p:txBody>
      </p:sp>
      <p:sp>
        <p:nvSpPr>
          <p:cNvPr id="33" name="Shape 31"/>
          <p:cNvSpPr/>
          <p:nvPr/>
        </p:nvSpPr>
        <p:spPr>
          <a:xfrm>
            <a:off x="5852160" y="5221224"/>
            <a:ext cx="22860" cy="457200"/>
          </a:xfrm>
          <a:prstGeom prst="rect">
            <a:avLst/>
          </a:prstGeom>
          <a:solidFill>
            <a:srgbClr val="BDD7F1"/>
          </a:solidFill>
          <a:ln w="12700">
            <a:solidFill>
              <a:srgbClr val="BDD7F1">
                <a:alpha val="0"/>
              </a:srgbClr>
            </a:solidFill>
            <a:prstDash val="solid"/>
          </a:ln>
        </p:spPr>
      </p:sp>
      <p:sp>
        <p:nvSpPr>
          <p:cNvPr id="34" name="Text 32"/>
          <p:cNvSpPr/>
          <p:nvPr/>
        </p:nvSpPr>
        <p:spPr>
          <a:xfrm>
            <a:off x="6455664" y="5266944"/>
            <a:ext cx="374904" cy="256032"/>
          </a:xfrm>
          <a:prstGeom prst="rect">
            <a:avLst/>
          </a:prstGeom>
          <a:noFill/>
          <a:ln/>
        </p:spPr>
        <p:txBody>
          <a:bodyPr wrap="square" lIns="0" tIns="0" rIns="0" bIns="0" rtlCol="0" anchor="ctr">
            <a:normAutofit/>
          </a:bodyPr>
          <a:lstStyle/>
          <a:p>
            <a:pPr indent="0" marL="0">
              <a:buNone/>
            </a:pPr>
            <a:r>
              <a:rPr lang="en-US" sz="1500" b="1" dirty="0">
                <a:solidFill>
                  <a:srgbClr val="2776D2"/>
                </a:solidFill>
                <a:latin typeface="Inter" pitchFamily="34" charset="0"/>
                <a:ea typeface="Inter" pitchFamily="34" charset="-122"/>
                <a:cs typeface="Inter" pitchFamily="34" charset="-120"/>
              </a:rPr>
              <a:t>02</a:t>
            </a:r>
            <a:endParaRPr lang="en-US" sz="1500" dirty="0"/>
          </a:p>
        </p:txBody>
      </p:sp>
      <p:sp>
        <p:nvSpPr>
          <p:cNvPr id="35" name="Text 33"/>
          <p:cNvSpPr/>
          <p:nvPr/>
        </p:nvSpPr>
        <p:spPr>
          <a:xfrm>
            <a:off x="6894576" y="5202936"/>
            <a:ext cx="2395728" cy="402336"/>
          </a:xfrm>
          <a:prstGeom prst="rect">
            <a:avLst/>
          </a:prstGeom>
          <a:noFill/>
          <a:ln/>
        </p:spPr>
        <p:txBody>
          <a:bodyPr wrap="square" lIns="0" tIns="0" rIns="0" bIns="0" rtlCol="0" anchor="ctr">
            <a:normAutofit/>
          </a:bodyPr>
          <a:lstStyle/>
          <a:p>
            <a:pPr indent="0" marL="0">
              <a:buNone/>
            </a:pPr>
            <a:r>
              <a:rPr lang="en-US" sz="1900" b="1" dirty="0">
                <a:solidFill>
                  <a:srgbClr val="102A43"/>
                </a:solidFill>
                <a:latin typeface="Inter" pitchFamily="34" charset="0"/>
                <a:ea typeface="Inter" pitchFamily="34" charset="-122"/>
                <a:cs typeface="Inter" pitchFamily="34" charset="-120"/>
              </a:rPr>
              <a:t>Matriz IREB</a:t>
            </a:r>
            <a:endParaRPr lang="en-US" sz="1900" dirty="0"/>
          </a:p>
        </p:txBody>
      </p:sp>
      <p:sp>
        <p:nvSpPr>
          <p:cNvPr id="36" name="Text 34"/>
          <p:cNvSpPr/>
          <p:nvPr/>
        </p:nvSpPr>
        <p:spPr>
          <a:xfrm>
            <a:off x="9774936" y="5312664"/>
            <a:ext cx="1353312" cy="228600"/>
          </a:xfrm>
          <a:prstGeom prst="rect">
            <a:avLst/>
          </a:prstGeom>
          <a:noFill/>
          <a:ln/>
        </p:spPr>
        <p:txBody>
          <a:bodyPr wrap="square" lIns="0" tIns="0" rIns="0" bIns="0" rtlCol="0" anchor="ctr">
            <a:normAutofit/>
          </a:bodyPr>
          <a:lstStyle/>
          <a:p>
            <a:pPr indent="0" marL="0">
              <a:buNone/>
            </a:pPr>
            <a:r>
              <a:rPr lang="en-US" sz="1200" dirty="0">
                <a:solidFill>
                  <a:srgbClr val="60748A"/>
                </a:solidFill>
                <a:latin typeface="Inter" pitchFamily="34" charset="0"/>
                <a:ea typeface="Inter" pitchFamily="34" charset="-122"/>
                <a:cs typeface="Inter" pitchFamily="34" charset="-120"/>
              </a:rPr>
              <a:t>11 criterios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CU01</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03</a:t>
            </a:r>
            <a:endParaRPr lang="en-US" sz="930" dirty="0"/>
          </a:p>
        </p:txBody>
      </p:sp>
      <p:sp>
        <p:nvSpPr>
          <p:cNvPr id="8" name="Text 6"/>
          <p:cNvSpPr/>
          <p:nvPr/>
        </p:nvSpPr>
        <p:spPr>
          <a:xfrm>
            <a:off x="640080" y="704088"/>
            <a:ext cx="6309360" cy="219456"/>
          </a:xfrm>
          <a:prstGeom prst="rect">
            <a:avLst/>
          </a:prstGeom>
          <a:noFill/>
          <a:ln/>
        </p:spPr>
        <p:txBody>
          <a:bodyPr wrap="square" lIns="0" tIns="0" rIns="0" bIns="0" rtlCol="0" anchor="ctr">
            <a:normAutofit/>
          </a:bodyPr>
          <a:lstStyle/>
          <a:p>
            <a:pPr indent="0" marL="0">
              <a:buNone/>
            </a:pPr>
            <a:r>
              <a:rPr lang="en-US" sz="1060" b="1" spc="140" kern="0" dirty="0">
                <a:solidFill>
                  <a:srgbClr val="2776D2"/>
                </a:solidFill>
                <a:latin typeface="Inter" pitchFamily="34" charset="0"/>
                <a:ea typeface="Inter" pitchFamily="34" charset="-122"/>
                <a:cs typeface="Inter" pitchFamily="34" charset="-120"/>
              </a:rPr>
              <a:t>EVALUACIÓN IREB   /   CU01</a:t>
            </a:r>
            <a:endParaRPr lang="en-US" sz="1060" dirty="0"/>
          </a:p>
        </p:txBody>
      </p:sp>
      <p:sp>
        <p:nvSpPr>
          <p:cNvPr id="9" name="Text 7"/>
          <p:cNvSpPr/>
          <p:nvPr/>
        </p:nvSpPr>
        <p:spPr>
          <a:xfrm>
            <a:off x="585216" y="1060704"/>
            <a:ext cx="4663440" cy="1097280"/>
          </a:xfrm>
          <a:prstGeom prst="rect">
            <a:avLst/>
          </a:prstGeom>
          <a:noFill/>
          <a:ln/>
        </p:spPr>
        <p:txBody>
          <a:bodyPr wrap="square" lIns="0" tIns="0" rIns="0" bIns="0" rtlCol="0" anchor="ctr">
            <a:normAutofit/>
          </a:bodyPr>
          <a:lstStyle/>
          <a:p>
            <a:pPr indent="0" marL="0">
              <a:buNone/>
            </a:pPr>
            <a:r>
              <a:rPr lang="en-US" sz="6800" b="1" dirty="0">
                <a:solidFill>
                  <a:srgbClr val="2776D2"/>
                </a:solidFill>
                <a:latin typeface="Inter" pitchFamily="34" charset="0"/>
                <a:ea typeface="Inter" pitchFamily="34" charset="-122"/>
                <a:cs typeface="Inter" pitchFamily="34" charset="-120"/>
              </a:rPr>
              <a:t>CU01</a:t>
            </a:r>
            <a:endParaRPr lang="en-US" sz="6800" dirty="0"/>
          </a:p>
        </p:txBody>
      </p:sp>
      <p:sp>
        <p:nvSpPr>
          <p:cNvPr id="10" name="Text 8"/>
          <p:cNvSpPr/>
          <p:nvPr/>
        </p:nvSpPr>
        <p:spPr>
          <a:xfrm>
            <a:off x="658368" y="2267712"/>
            <a:ext cx="6510528" cy="1179576"/>
          </a:xfrm>
          <a:prstGeom prst="rect">
            <a:avLst/>
          </a:prstGeom>
          <a:noFill/>
          <a:ln/>
        </p:spPr>
        <p:txBody>
          <a:bodyPr wrap="square" lIns="0" tIns="0" rIns="0" bIns="0" rtlCol="0" anchor="t">
            <a:normAutofit/>
          </a:bodyPr>
          <a:lstStyle/>
          <a:p>
            <a:pPr indent="0" marL="0">
              <a:buNone/>
            </a:pPr>
            <a:r>
              <a:rPr lang="en-US" sz="3100" b="1" dirty="0">
                <a:solidFill>
                  <a:srgbClr val="102A43"/>
                </a:solidFill>
                <a:latin typeface="Inter" pitchFamily="34" charset="0"/>
                <a:ea typeface="Inter" pitchFamily="34" charset="-122"/>
                <a:cs typeface="Inter" pitchFamily="34" charset="-120"/>
              </a:rPr>
              <a:t>Registrar Asistencia</a:t>
            </a:r>
            <a:endParaRPr lang="en-US" sz="3100" dirty="0"/>
          </a:p>
        </p:txBody>
      </p:sp>
      <p:sp>
        <p:nvSpPr>
          <p:cNvPr id="11" name="Shape 9"/>
          <p:cNvSpPr/>
          <p:nvPr/>
        </p:nvSpPr>
        <p:spPr>
          <a:xfrm>
            <a:off x="694944" y="3758184"/>
            <a:ext cx="32004" cy="493776"/>
          </a:xfrm>
          <a:prstGeom prst="rect">
            <a:avLst/>
          </a:prstGeom>
          <a:solidFill>
            <a:srgbClr val="2776D2"/>
          </a:solidFill>
          <a:ln w="12700">
            <a:solidFill>
              <a:srgbClr val="2776D2">
                <a:alpha val="0"/>
              </a:srgbClr>
            </a:solidFill>
            <a:prstDash val="solid"/>
          </a:ln>
        </p:spPr>
      </p:sp>
      <p:sp>
        <p:nvSpPr>
          <p:cNvPr id="12" name="Text 10"/>
          <p:cNvSpPr/>
          <p:nvPr/>
        </p:nvSpPr>
        <p:spPr>
          <a:xfrm>
            <a:off x="886968" y="3758184"/>
            <a:ext cx="5330952" cy="448056"/>
          </a:xfrm>
          <a:prstGeom prst="rect">
            <a:avLst/>
          </a:prstGeom>
          <a:noFill/>
          <a:ln/>
        </p:spPr>
        <p:txBody>
          <a:bodyPr wrap="square" lIns="0" tIns="0" rIns="0" bIns="0" rtlCol="0" anchor="ctr">
            <a:normAutofit/>
          </a:bodyPr>
          <a:lstStyle/>
          <a:p>
            <a:pPr indent="0" marL="0">
              <a:buNone/>
            </a:pPr>
            <a:r>
              <a:rPr lang="en-US" sz="1700" b="1" dirty="0">
                <a:solidFill>
                  <a:srgbClr val="233A53"/>
                </a:solidFill>
                <a:latin typeface="Inter" pitchFamily="34" charset="0"/>
                <a:ea typeface="Inter" pitchFamily="34" charset="-122"/>
                <a:cs typeface="Inter" pitchFamily="34" charset="-120"/>
              </a:rPr>
              <a:t>Joffre Gómez</a:t>
            </a:r>
            <a:endParaRPr lang="en-US" sz="1700" dirty="0"/>
          </a:p>
        </p:txBody>
      </p:sp>
      <p:sp>
        <p:nvSpPr>
          <p:cNvPr id="13" name="Text 11"/>
          <p:cNvSpPr/>
          <p:nvPr/>
        </p:nvSpPr>
        <p:spPr>
          <a:xfrm>
            <a:off x="685800" y="4407408"/>
            <a:ext cx="5623560" cy="347472"/>
          </a:xfrm>
          <a:prstGeom prst="rect">
            <a:avLst/>
          </a:prstGeom>
          <a:noFill/>
          <a:ln/>
        </p:spPr>
        <p:txBody>
          <a:bodyPr wrap="square" lIns="0" tIns="0" rIns="0" bIns="0" rtlCol="0" anchor="ctr">
            <a:normAutofit/>
          </a:bodyPr>
          <a:lstStyle/>
          <a:p>
            <a:pPr indent="0" marL="0">
              <a:buNone/>
            </a:pPr>
            <a:r>
              <a:rPr lang="en-US" sz="1400" dirty="0">
                <a:solidFill>
                  <a:srgbClr val="60748A"/>
                </a:solidFill>
                <a:latin typeface="Inter" pitchFamily="34" charset="0"/>
                <a:ea typeface="Inter" pitchFamily="34" charset="-122"/>
                <a:cs typeface="Inter" pitchFamily="34" charset="-120"/>
              </a:rPr>
              <a:t>Evaluación independiente del caso de uso</a:t>
            </a:r>
            <a:endParaRPr lang="en-US" sz="1400" dirty="0"/>
          </a:p>
        </p:txBody>
      </p:sp>
      <p:sp>
        <p:nvSpPr>
          <p:cNvPr id="14" name="Shape 12"/>
          <p:cNvSpPr/>
          <p:nvPr/>
        </p:nvSpPr>
        <p:spPr>
          <a:xfrm>
            <a:off x="658368" y="5257800"/>
            <a:ext cx="1837944" cy="987552"/>
          </a:xfrm>
          <a:prstGeom prst="roundRect">
            <a:avLst>
              <a:gd name="adj" fmla="val 15741"/>
            </a:avLst>
          </a:prstGeom>
          <a:solidFill>
            <a:srgbClr val="ECF5FF"/>
          </a:solidFill>
          <a:ln w="12700">
            <a:solidFill>
              <a:srgbClr val="ECF5FF">
                <a:alpha val="0"/>
              </a:srgbClr>
            </a:solidFill>
            <a:prstDash val="solid"/>
          </a:ln>
        </p:spPr>
      </p:sp>
      <p:sp>
        <p:nvSpPr>
          <p:cNvPr id="15" name="Text 13"/>
          <p:cNvSpPr/>
          <p:nvPr/>
        </p:nvSpPr>
        <p:spPr>
          <a:xfrm>
            <a:off x="841248"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2776D2"/>
                </a:solidFill>
                <a:latin typeface="Inter" pitchFamily="34" charset="0"/>
                <a:ea typeface="Inter" pitchFamily="34" charset="-122"/>
                <a:cs typeface="Inter" pitchFamily="34" charset="-120"/>
              </a:rPr>
              <a:t>16 / 17</a:t>
            </a:r>
            <a:endParaRPr lang="en-US" sz="2500" dirty="0"/>
          </a:p>
        </p:txBody>
      </p:sp>
      <p:sp>
        <p:nvSpPr>
          <p:cNvPr id="16" name="Text 14"/>
          <p:cNvSpPr/>
          <p:nvPr/>
        </p:nvSpPr>
        <p:spPr>
          <a:xfrm>
            <a:off x="841248"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CHECKLIST</a:t>
            </a:r>
            <a:endParaRPr lang="en-US" sz="1080" dirty="0"/>
          </a:p>
        </p:txBody>
      </p:sp>
      <p:sp>
        <p:nvSpPr>
          <p:cNvPr id="17" name="Shape 15"/>
          <p:cNvSpPr/>
          <p:nvPr/>
        </p:nvSpPr>
        <p:spPr>
          <a:xfrm>
            <a:off x="2642616" y="5257800"/>
            <a:ext cx="1837944" cy="987552"/>
          </a:xfrm>
          <a:prstGeom prst="roundRect">
            <a:avLst>
              <a:gd name="adj" fmla="val 15741"/>
            </a:avLst>
          </a:prstGeom>
          <a:solidFill>
            <a:srgbClr val="ECF5FF"/>
          </a:solidFill>
          <a:ln w="12700">
            <a:solidFill>
              <a:srgbClr val="ECF5FF">
                <a:alpha val="0"/>
              </a:srgbClr>
            </a:solidFill>
            <a:prstDash val="solid"/>
          </a:ln>
        </p:spPr>
      </p:sp>
      <p:sp>
        <p:nvSpPr>
          <p:cNvPr id="18" name="Text 16"/>
          <p:cNvSpPr/>
          <p:nvPr/>
        </p:nvSpPr>
        <p:spPr>
          <a:xfrm>
            <a:off x="2825496"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2776D2"/>
                </a:solidFill>
                <a:latin typeface="Inter" pitchFamily="34" charset="0"/>
                <a:ea typeface="Inter" pitchFamily="34" charset="-122"/>
                <a:cs typeface="Inter" pitchFamily="34" charset="-120"/>
              </a:rPr>
              <a:t>10 / 11</a:t>
            </a:r>
            <a:endParaRPr lang="en-US" sz="2500" dirty="0"/>
          </a:p>
        </p:txBody>
      </p:sp>
      <p:sp>
        <p:nvSpPr>
          <p:cNvPr id="19" name="Text 17"/>
          <p:cNvSpPr/>
          <p:nvPr/>
        </p:nvSpPr>
        <p:spPr>
          <a:xfrm>
            <a:off x="2825496"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CRITERIOS OK</a:t>
            </a:r>
            <a:endParaRPr lang="en-US" sz="1080" dirty="0"/>
          </a:p>
        </p:txBody>
      </p:sp>
      <p:sp>
        <p:nvSpPr>
          <p:cNvPr id="20" name="Shape 18"/>
          <p:cNvSpPr/>
          <p:nvPr/>
        </p:nvSpPr>
        <p:spPr>
          <a:xfrm>
            <a:off x="4626864" y="5257800"/>
            <a:ext cx="1837944" cy="987552"/>
          </a:xfrm>
          <a:prstGeom prst="roundRect">
            <a:avLst>
              <a:gd name="adj" fmla="val 15741"/>
            </a:avLst>
          </a:prstGeom>
          <a:solidFill>
            <a:srgbClr val="FFF0EF"/>
          </a:solidFill>
          <a:ln w="12700">
            <a:solidFill>
              <a:srgbClr val="FFF0EF">
                <a:alpha val="0"/>
              </a:srgbClr>
            </a:solidFill>
            <a:prstDash val="solid"/>
          </a:ln>
        </p:spPr>
      </p:sp>
      <p:sp>
        <p:nvSpPr>
          <p:cNvPr id="21" name="Text 19"/>
          <p:cNvSpPr/>
          <p:nvPr/>
        </p:nvSpPr>
        <p:spPr>
          <a:xfrm>
            <a:off x="4809744"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C95057"/>
                </a:solidFill>
                <a:latin typeface="Inter" pitchFamily="34" charset="0"/>
                <a:ea typeface="Inter" pitchFamily="34" charset="-122"/>
                <a:cs typeface="Inter" pitchFamily="34" charset="-120"/>
              </a:rPr>
              <a:t>1 NOK</a:t>
            </a:r>
            <a:endParaRPr lang="en-US" sz="2500" dirty="0"/>
          </a:p>
        </p:txBody>
      </p:sp>
      <p:sp>
        <p:nvSpPr>
          <p:cNvPr id="22" name="Text 20"/>
          <p:cNvSpPr/>
          <p:nvPr/>
        </p:nvSpPr>
        <p:spPr>
          <a:xfrm>
            <a:off x="4809744"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REALIZABLE</a:t>
            </a:r>
            <a:endParaRPr lang="en-US" sz="1080" dirty="0"/>
          </a:p>
        </p:txBody>
      </p:sp>
      <p:sp>
        <p:nvSpPr>
          <p:cNvPr id="23" name="Shape 21"/>
          <p:cNvSpPr/>
          <p:nvPr/>
        </p:nvSpPr>
        <p:spPr>
          <a:xfrm>
            <a:off x="7406640" y="1572768"/>
            <a:ext cx="3776472" cy="3794760"/>
          </a:xfrm>
          <a:prstGeom prst="roundRect">
            <a:avLst>
              <a:gd name="adj" fmla="val 4843"/>
            </a:avLst>
          </a:prstGeom>
          <a:solidFill>
            <a:srgbClr val="ECF5FF"/>
          </a:solidFill>
          <a:ln w="12700">
            <a:solidFill>
              <a:srgbClr val="ECF5FF">
                <a:alpha val="0"/>
              </a:srgbClr>
            </a:solidFill>
            <a:prstDash val="solid"/>
          </a:ln>
        </p:spPr>
      </p:sp>
      <p:sp>
        <p:nvSpPr>
          <p:cNvPr id="24" name="Shape 22"/>
          <p:cNvSpPr/>
          <p:nvPr/>
        </p:nvSpPr>
        <p:spPr>
          <a:xfrm>
            <a:off x="8385048" y="2304288"/>
            <a:ext cx="1984248" cy="1984248"/>
          </a:xfrm>
          <a:prstGeom prst="ellipse">
            <a:avLst/>
          </a:prstGeom>
          <a:solidFill>
            <a:srgbClr val="FFFFFF"/>
          </a:solidFill>
          <a:ln w="12700">
            <a:solidFill>
              <a:srgbClr val="FFFFFF">
                <a:alpha val="0"/>
              </a:srgbClr>
            </a:solidFill>
            <a:prstDash val="solid"/>
          </a:ln>
        </p:spPr>
      </p:sp>
      <p:sp>
        <p:nvSpPr>
          <p:cNvPr id="25" name="Shape 23"/>
          <p:cNvSpPr/>
          <p:nvPr/>
        </p:nvSpPr>
        <p:spPr>
          <a:xfrm>
            <a:off x="8668512" y="2679192"/>
            <a:ext cx="1417320" cy="1298448"/>
          </a:xfrm>
          <a:prstGeom prst="roundRect">
            <a:avLst>
              <a:gd name="adj" fmla="val 5634"/>
            </a:avLst>
          </a:prstGeom>
          <a:solidFill>
            <a:srgbClr val="FFFFFF"/>
          </a:solidFill>
          <a:ln w="10160">
            <a:solidFill>
              <a:srgbClr val="2776D2"/>
            </a:solidFill>
            <a:prstDash val="solid"/>
          </a:ln>
        </p:spPr>
      </p:sp>
      <p:sp>
        <p:nvSpPr>
          <p:cNvPr id="26" name="Shape 24"/>
          <p:cNvSpPr/>
          <p:nvPr/>
        </p:nvSpPr>
        <p:spPr>
          <a:xfrm>
            <a:off x="8878824" y="2907792"/>
            <a:ext cx="146304" cy="146304"/>
          </a:xfrm>
          <a:prstGeom prst="rect">
            <a:avLst/>
          </a:prstGeom>
          <a:solidFill>
            <a:srgbClr val="2776D2"/>
          </a:solidFill>
          <a:ln w="12700">
            <a:solidFill>
              <a:srgbClr val="2776D2">
                <a:alpha val="0"/>
              </a:srgbClr>
            </a:solidFill>
            <a:prstDash val="solid"/>
          </a:ln>
        </p:spPr>
      </p:sp>
      <p:sp>
        <p:nvSpPr>
          <p:cNvPr id="27" name="Shape 25"/>
          <p:cNvSpPr/>
          <p:nvPr/>
        </p:nvSpPr>
        <p:spPr>
          <a:xfrm>
            <a:off x="8878824" y="3163824"/>
            <a:ext cx="146304" cy="146304"/>
          </a:xfrm>
          <a:prstGeom prst="rect">
            <a:avLst/>
          </a:prstGeom>
          <a:solidFill>
            <a:srgbClr val="ECF5FF"/>
          </a:solidFill>
          <a:ln w="12700">
            <a:solidFill>
              <a:srgbClr val="ECF5FF">
                <a:alpha val="0"/>
              </a:srgbClr>
            </a:solidFill>
            <a:prstDash val="solid"/>
          </a:ln>
        </p:spPr>
      </p:sp>
      <p:sp>
        <p:nvSpPr>
          <p:cNvPr id="28" name="Shape 26"/>
          <p:cNvSpPr/>
          <p:nvPr/>
        </p:nvSpPr>
        <p:spPr>
          <a:xfrm>
            <a:off x="8878824" y="3419856"/>
            <a:ext cx="146304" cy="146304"/>
          </a:xfrm>
          <a:prstGeom prst="rect">
            <a:avLst/>
          </a:prstGeom>
          <a:solidFill>
            <a:srgbClr val="2776D2"/>
          </a:solidFill>
          <a:ln w="12700">
            <a:solidFill>
              <a:srgbClr val="2776D2">
                <a:alpha val="0"/>
              </a:srgbClr>
            </a:solidFill>
            <a:prstDash val="solid"/>
          </a:ln>
        </p:spPr>
      </p:sp>
      <p:sp>
        <p:nvSpPr>
          <p:cNvPr id="29" name="Shape 27"/>
          <p:cNvSpPr/>
          <p:nvPr/>
        </p:nvSpPr>
        <p:spPr>
          <a:xfrm>
            <a:off x="9134856" y="2907792"/>
            <a:ext cx="146304" cy="146304"/>
          </a:xfrm>
          <a:prstGeom prst="rect">
            <a:avLst/>
          </a:prstGeom>
          <a:solidFill>
            <a:srgbClr val="ECF5FF"/>
          </a:solidFill>
          <a:ln w="12700">
            <a:solidFill>
              <a:srgbClr val="ECF5FF">
                <a:alpha val="0"/>
              </a:srgbClr>
            </a:solidFill>
            <a:prstDash val="solid"/>
          </a:ln>
        </p:spPr>
      </p:sp>
      <p:sp>
        <p:nvSpPr>
          <p:cNvPr id="30" name="Shape 28"/>
          <p:cNvSpPr/>
          <p:nvPr/>
        </p:nvSpPr>
        <p:spPr>
          <a:xfrm>
            <a:off x="9134856" y="3163824"/>
            <a:ext cx="146304" cy="146304"/>
          </a:xfrm>
          <a:prstGeom prst="rect">
            <a:avLst/>
          </a:prstGeom>
          <a:solidFill>
            <a:srgbClr val="2776D2"/>
          </a:solidFill>
          <a:ln w="12700">
            <a:solidFill>
              <a:srgbClr val="2776D2">
                <a:alpha val="0"/>
              </a:srgbClr>
            </a:solidFill>
            <a:prstDash val="solid"/>
          </a:ln>
        </p:spPr>
      </p:sp>
      <p:sp>
        <p:nvSpPr>
          <p:cNvPr id="31" name="Shape 29"/>
          <p:cNvSpPr/>
          <p:nvPr/>
        </p:nvSpPr>
        <p:spPr>
          <a:xfrm>
            <a:off x="9134856" y="3419856"/>
            <a:ext cx="146304" cy="146304"/>
          </a:xfrm>
          <a:prstGeom prst="rect">
            <a:avLst/>
          </a:prstGeom>
          <a:solidFill>
            <a:srgbClr val="ECF5FF"/>
          </a:solidFill>
          <a:ln w="12700">
            <a:solidFill>
              <a:srgbClr val="ECF5FF">
                <a:alpha val="0"/>
              </a:srgbClr>
            </a:solidFill>
            <a:prstDash val="solid"/>
          </a:ln>
        </p:spPr>
      </p:sp>
      <p:sp>
        <p:nvSpPr>
          <p:cNvPr id="32" name="Shape 30"/>
          <p:cNvSpPr/>
          <p:nvPr/>
        </p:nvSpPr>
        <p:spPr>
          <a:xfrm>
            <a:off x="9390888" y="2907792"/>
            <a:ext cx="146304" cy="146304"/>
          </a:xfrm>
          <a:prstGeom prst="rect">
            <a:avLst/>
          </a:prstGeom>
          <a:solidFill>
            <a:srgbClr val="2776D2"/>
          </a:solidFill>
          <a:ln w="12700">
            <a:solidFill>
              <a:srgbClr val="2776D2">
                <a:alpha val="0"/>
              </a:srgbClr>
            </a:solidFill>
            <a:prstDash val="solid"/>
          </a:ln>
        </p:spPr>
      </p:sp>
      <p:sp>
        <p:nvSpPr>
          <p:cNvPr id="33" name="Shape 31"/>
          <p:cNvSpPr/>
          <p:nvPr/>
        </p:nvSpPr>
        <p:spPr>
          <a:xfrm>
            <a:off x="9390888" y="3163824"/>
            <a:ext cx="146304" cy="146304"/>
          </a:xfrm>
          <a:prstGeom prst="rect">
            <a:avLst/>
          </a:prstGeom>
          <a:solidFill>
            <a:srgbClr val="ECF5FF"/>
          </a:solidFill>
          <a:ln w="12700">
            <a:solidFill>
              <a:srgbClr val="ECF5FF">
                <a:alpha val="0"/>
              </a:srgbClr>
            </a:solidFill>
            <a:prstDash val="solid"/>
          </a:ln>
        </p:spPr>
      </p:sp>
      <p:sp>
        <p:nvSpPr>
          <p:cNvPr id="34" name="Shape 32"/>
          <p:cNvSpPr/>
          <p:nvPr/>
        </p:nvSpPr>
        <p:spPr>
          <a:xfrm>
            <a:off x="9390888" y="3419856"/>
            <a:ext cx="146304" cy="146304"/>
          </a:xfrm>
          <a:prstGeom prst="rect">
            <a:avLst/>
          </a:prstGeom>
          <a:solidFill>
            <a:srgbClr val="2776D2"/>
          </a:solidFill>
          <a:ln w="12700">
            <a:solidFill>
              <a:srgbClr val="2776D2">
                <a:alpha val="0"/>
              </a:srgbClr>
            </a:solidFill>
            <a:prstDash val="solid"/>
          </a:ln>
        </p:spPr>
      </p:sp>
      <p:sp>
        <p:nvSpPr>
          <p:cNvPr id="35" name="Shape 33"/>
          <p:cNvSpPr/>
          <p:nvPr/>
        </p:nvSpPr>
        <p:spPr>
          <a:xfrm>
            <a:off x="9838944" y="3730752"/>
            <a:ext cx="594360" cy="594360"/>
          </a:xfrm>
          <a:prstGeom prst="ellipse">
            <a:avLst/>
          </a:prstGeom>
          <a:solidFill>
            <a:srgbClr val="2776D2"/>
          </a:solidFill>
          <a:ln w="12700">
            <a:solidFill>
              <a:srgbClr val="2776D2">
                <a:alpha val="0"/>
              </a:srgbClr>
            </a:solidFill>
            <a:prstDash val="solid"/>
          </a:ln>
        </p:spPr>
      </p:sp>
      <p:sp>
        <p:nvSpPr>
          <p:cNvPr id="36" name="Text 34"/>
          <p:cNvSpPr/>
          <p:nvPr/>
        </p:nvSpPr>
        <p:spPr>
          <a:xfrm>
            <a:off x="9966960" y="3867912"/>
            <a:ext cx="320040" cy="246888"/>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Inter" pitchFamily="34" charset="0"/>
                <a:ea typeface="Inter" pitchFamily="34" charset="-122"/>
                <a:cs typeface="Inter" pitchFamily="34" charset="-120"/>
              </a:rPr>
              <a:t>✓</a:t>
            </a:r>
            <a:endParaRPr lang="en-US" sz="1800" dirty="0"/>
          </a:p>
        </p:txBody>
      </p:sp>
      <p:sp>
        <p:nvSpPr>
          <p:cNvPr id="37" name="Shape 35"/>
          <p:cNvSpPr/>
          <p:nvPr/>
        </p:nvSpPr>
        <p:spPr>
          <a:xfrm>
            <a:off x="8138160" y="4809744"/>
            <a:ext cx="2286000" cy="329184"/>
          </a:xfrm>
          <a:prstGeom prst="roundRect">
            <a:avLst>
              <a:gd name="adj" fmla="val 41667"/>
            </a:avLst>
          </a:prstGeom>
          <a:solidFill>
            <a:srgbClr val="FFFFFF"/>
          </a:solidFill>
          <a:ln w="12700">
            <a:solidFill>
              <a:srgbClr val="FFFFFF">
                <a:alpha val="0"/>
              </a:srgbClr>
            </a:solidFill>
            <a:prstDash val="solid"/>
          </a:ln>
        </p:spPr>
      </p:sp>
      <p:sp>
        <p:nvSpPr>
          <p:cNvPr id="38" name="Text 36"/>
          <p:cNvSpPr/>
          <p:nvPr/>
        </p:nvSpPr>
        <p:spPr>
          <a:xfrm>
            <a:off x="8302752" y="4873752"/>
            <a:ext cx="1984248" cy="173736"/>
          </a:xfrm>
          <a:prstGeom prst="rect">
            <a:avLst/>
          </a:prstGeom>
          <a:noFill/>
          <a:ln/>
        </p:spPr>
        <p:txBody>
          <a:bodyPr wrap="square" lIns="0" tIns="0" rIns="0" bIns="0" rtlCol="0" anchor="ctr">
            <a:normAutofit/>
          </a:bodyPr>
          <a:lstStyle/>
          <a:p>
            <a:pPr algn="ctr" indent="0" marL="0">
              <a:buNone/>
            </a:pPr>
            <a:r>
              <a:rPr lang="en-US" sz="970" b="1" spc="70" kern="0" dirty="0">
                <a:solidFill>
                  <a:srgbClr val="2776D2"/>
                </a:solidFill>
                <a:latin typeface="Inter" pitchFamily="34" charset="0"/>
                <a:ea typeface="Inter" pitchFamily="34" charset="-122"/>
                <a:cs typeface="Inter" pitchFamily="34" charset="-120"/>
              </a:rPr>
              <a:t>EVALUACIÓN INDIVIDUAL</a:t>
            </a:r>
            <a:endParaRPr lang="en-US" sz="9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CU01</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04</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CU01   ·   LISTA DE COMPROBACIÓN</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Inter" pitchFamily="34" charset="0"/>
                <a:ea typeface="Inter" pitchFamily="34" charset="-122"/>
                <a:cs typeface="Inter" pitchFamily="34" charset="-120"/>
              </a:rPr>
              <a:t>La calidad alcanza 16 de 17 respuestas positivas</a:t>
            </a:r>
            <a:endParaRPr lang="en-US" sz="30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Tres áreas evaluadas por separado para este caso de uso.</a:t>
            </a:r>
            <a:endParaRPr lang="en-US" sz="1280" dirty="0"/>
          </a:p>
        </p:txBody>
      </p:sp>
      <p:sp>
        <p:nvSpPr>
          <p:cNvPr id="11" name="Shape 9"/>
          <p:cNvSpPr/>
          <p:nvPr/>
        </p:nvSpPr>
        <p:spPr>
          <a:xfrm>
            <a:off x="658368" y="2029968"/>
            <a:ext cx="3712464" cy="3557016"/>
          </a:xfrm>
          <a:prstGeom prst="roundRect">
            <a:avLst>
              <a:gd name="adj" fmla="val 5913"/>
            </a:avLst>
          </a:prstGeom>
          <a:solidFill>
            <a:srgbClr val="F7F9FC"/>
          </a:solidFill>
          <a:ln w="12700">
            <a:solidFill>
              <a:srgbClr val="F7F9FC">
                <a:alpha val="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8720" y="2276856"/>
            <a:ext cx="2724912" cy="2724912"/>
          </a:xfrm>
          <a:prstGeom prst="rect">
            <a:avLst/>
          </a:prstGeom>
        </p:spPr>
      </p:pic>
      <p:sp>
        <p:nvSpPr>
          <p:cNvPr id="13" name="Text 10"/>
          <p:cNvSpPr/>
          <p:nvPr/>
        </p:nvSpPr>
        <p:spPr>
          <a:xfrm>
            <a:off x="1920240" y="3072384"/>
            <a:ext cx="1316736" cy="512064"/>
          </a:xfrm>
          <a:prstGeom prst="rect">
            <a:avLst/>
          </a:prstGeom>
          <a:noFill/>
          <a:ln/>
        </p:spPr>
        <p:txBody>
          <a:bodyPr wrap="square" lIns="0" tIns="0" rIns="0" bIns="0" rtlCol="0" anchor="ctr">
            <a:normAutofit/>
          </a:bodyPr>
          <a:lstStyle/>
          <a:p>
            <a:pPr algn="ctr" indent="0" marL="0">
              <a:buNone/>
            </a:pPr>
            <a:r>
              <a:rPr lang="en-US" sz="3900" b="1" dirty="0">
                <a:solidFill>
                  <a:srgbClr val="102A43"/>
                </a:solidFill>
                <a:latin typeface="Inter" pitchFamily="34" charset="0"/>
                <a:ea typeface="Inter" pitchFamily="34" charset="-122"/>
                <a:cs typeface="Inter" pitchFamily="34" charset="-120"/>
              </a:rPr>
              <a:t>94%</a:t>
            </a:r>
            <a:endParaRPr lang="en-US" sz="3900" dirty="0"/>
          </a:p>
        </p:txBody>
      </p:sp>
      <p:sp>
        <p:nvSpPr>
          <p:cNvPr id="14" name="Text 11"/>
          <p:cNvSpPr/>
          <p:nvPr/>
        </p:nvSpPr>
        <p:spPr>
          <a:xfrm>
            <a:off x="1197864" y="5111496"/>
            <a:ext cx="2670048" cy="256032"/>
          </a:xfrm>
          <a:prstGeom prst="rect">
            <a:avLst/>
          </a:prstGeom>
          <a:noFill/>
          <a:ln/>
        </p:spPr>
        <p:txBody>
          <a:bodyPr wrap="square" lIns="0" tIns="0" rIns="0" bIns="0" rtlCol="0" anchor="ctr">
            <a:normAutofit/>
          </a:bodyPr>
          <a:lstStyle/>
          <a:p>
            <a:pPr algn="ctr" indent="0" marL="0">
              <a:buNone/>
            </a:pPr>
            <a:r>
              <a:rPr lang="en-US" sz="1350" dirty="0">
                <a:solidFill>
                  <a:srgbClr val="60748A"/>
                </a:solidFill>
                <a:latin typeface="Inter" pitchFamily="34" charset="0"/>
                <a:ea typeface="Inter" pitchFamily="34" charset="-122"/>
                <a:cs typeface="Inter" pitchFamily="34" charset="-120"/>
              </a:rPr>
              <a:t>16 respuestas «Sí»</a:t>
            </a:r>
            <a:endParaRPr lang="en-US" sz="1350" dirty="0"/>
          </a:p>
        </p:txBody>
      </p:sp>
      <p:sp>
        <p:nvSpPr>
          <p:cNvPr id="15" name="Shape 12"/>
          <p:cNvSpPr/>
          <p:nvPr/>
        </p:nvSpPr>
        <p:spPr>
          <a:xfrm>
            <a:off x="4608576" y="2029968"/>
            <a:ext cx="6922008" cy="3566160"/>
          </a:xfrm>
          <a:prstGeom prst="roundRect">
            <a:avLst>
              <a:gd name="adj" fmla="val 5897"/>
            </a:avLst>
          </a:prstGeom>
          <a:solidFill>
            <a:srgbClr val="FFFFFF"/>
          </a:solidFill>
          <a:ln w="10160">
            <a:solidFill>
              <a:srgbClr val="E1EAF1"/>
            </a:solidFill>
            <a:prstDash val="solid"/>
          </a:ln>
        </p:spPr>
      </p:sp>
      <p:sp>
        <p:nvSpPr>
          <p:cNvPr id="16" name="Text 13"/>
          <p:cNvSpPr/>
          <p:nvPr/>
        </p:nvSpPr>
        <p:spPr>
          <a:xfrm>
            <a:off x="4937760" y="2432304"/>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Contenido</a:t>
            </a:r>
            <a:endParaRPr lang="en-US" sz="1700" dirty="0"/>
          </a:p>
        </p:txBody>
      </p:sp>
      <p:sp>
        <p:nvSpPr>
          <p:cNvPr id="17" name="Text 14"/>
          <p:cNvSpPr/>
          <p:nvPr/>
        </p:nvSpPr>
        <p:spPr>
          <a:xfrm>
            <a:off x="4937760" y="2788920"/>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8 de 9 preguntas</a:t>
            </a:r>
            <a:endParaRPr lang="en-US" sz="1170" dirty="0"/>
          </a:p>
        </p:txBody>
      </p:sp>
      <p:sp>
        <p:nvSpPr>
          <p:cNvPr id="18" name="Shape 15"/>
          <p:cNvSpPr/>
          <p:nvPr/>
        </p:nvSpPr>
        <p:spPr>
          <a:xfrm>
            <a:off x="8005572" y="2542032"/>
            <a:ext cx="2147468" cy="182880"/>
          </a:xfrm>
          <a:prstGeom prst="roundRect">
            <a:avLst>
              <a:gd name="adj" fmla="val 50000"/>
            </a:avLst>
          </a:prstGeom>
          <a:solidFill>
            <a:srgbClr val="F2F6FB"/>
          </a:solidFill>
          <a:ln w="12700">
            <a:solidFill>
              <a:srgbClr val="F2F6FB">
                <a:alpha val="0"/>
              </a:srgbClr>
            </a:solidFill>
            <a:prstDash val="solid"/>
          </a:ln>
        </p:spPr>
      </p:sp>
      <p:sp>
        <p:nvSpPr>
          <p:cNvPr id="19" name="Shape 16"/>
          <p:cNvSpPr/>
          <p:nvPr/>
        </p:nvSpPr>
        <p:spPr>
          <a:xfrm>
            <a:off x="8005572" y="2542032"/>
            <a:ext cx="1908861" cy="182880"/>
          </a:xfrm>
          <a:prstGeom prst="roundRect">
            <a:avLst>
              <a:gd name="adj" fmla="val 50000"/>
            </a:avLst>
          </a:prstGeom>
          <a:solidFill>
            <a:srgbClr val="2776D2"/>
          </a:solidFill>
          <a:ln w="12700">
            <a:solidFill>
              <a:srgbClr val="2776D2">
                <a:alpha val="0"/>
              </a:srgbClr>
            </a:solidFill>
            <a:prstDash val="solid"/>
          </a:ln>
        </p:spPr>
      </p:sp>
      <p:sp>
        <p:nvSpPr>
          <p:cNvPr id="20" name="Text 17"/>
          <p:cNvSpPr/>
          <p:nvPr/>
        </p:nvSpPr>
        <p:spPr>
          <a:xfrm>
            <a:off x="10337109" y="2414016"/>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2776D2"/>
                </a:solidFill>
                <a:latin typeface="Inter" pitchFamily="34" charset="0"/>
                <a:ea typeface="Inter" pitchFamily="34" charset="-122"/>
                <a:cs typeface="Inter" pitchFamily="34" charset="-120"/>
              </a:rPr>
              <a:t>89%</a:t>
            </a:r>
            <a:endParaRPr lang="en-US" sz="1900" dirty="0"/>
          </a:p>
        </p:txBody>
      </p:sp>
      <p:sp>
        <p:nvSpPr>
          <p:cNvPr id="21" name="Shape 18"/>
          <p:cNvSpPr/>
          <p:nvPr/>
        </p:nvSpPr>
        <p:spPr>
          <a:xfrm>
            <a:off x="4946904" y="3392424"/>
            <a:ext cx="6254496" cy="0"/>
          </a:xfrm>
          <a:prstGeom prst="line">
            <a:avLst/>
          </a:prstGeom>
          <a:noFill/>
          <a:ln w="8890">
            <a:solidFill>
              <a:srgbClr val="E1EAF1"/>
            </a:solidFill>
            <a:prstDash val="solid"/>
            <a:headEnd type="none"/>
            <a:tailEnd type="none"/>
          </a:ln>
        </p:spPr>
      </p:sp>
      <p:sp>
        <p:nvSpPr>
          <p:cNvPr id="22" name="Text 19"/>
          <p:cNvSpPr/>
          <p:nvPr/>
        </p:nvSpPr>
        <p:spPr>
          <a:xfrm>
            <a:off x="4937760" y="3593592"/>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Documentación</a:t>
            </a:r>
            <a:endParaRPr lang="en-US" sz="1700" dirty="0"/>
          </a:p>
        </p:txBody>
      </p:sp>
      <p:sp>
        <p:nvSpPr>
          <p:cNvPr id="23" name="Text 20"/>
          <p:cNvSpPr/>
          <p:nvPr/>
        </p:nvSpPr>
        <p:spPr>
          <a:xfrm>
            <a:off x="4937760" y="3950208"/>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5 de 5 preguntas</a:t>
            </a:r>
            <a:endParaRPr lang="en-US" sz="1170" dirty="0"/>
          </a:p>
        </p:txBody>
      </p:sp>
      <p:sp>
        <p:nvSpPr>
          <p:cNvPr id="24" name="Shape 21"/>
          <p:cNvSpPr/>
          <p:nvPr/>
        </p:nvSpPr>
        <p:spPr>
          <a:xfrm>
            <a:off x="8005572" y="3703320"/>
            <a:ext cx="2147468" cy="182880"/>
          </a:xfrm>
          <a:prstGeom prst="roundRect">
            <a:avLst>
              <a:gd name="adj" fmla="val 50000"/>
            </a:avLst>
          </a:prstGeom>
          <a:solidFill>
            <a:srgbClr val="F2F6FB"/>
          </a:solidFill>
          <a:ln w="12700">
            <a:solidFill>
              <a:srgbClr val="F2F6FB">
                <a:alpha val="0"/>
              </a:srgbClr>
            </a:solidFill>
            <a:prstDash val="solid"/>
          </a:ln>
        </p:spPr>
      </p:sp>
      <p:sp>
        <p:nvSpPr>
          <p:cNvPr id="25" name="Shape 22"/>
          <p:cNvSpPr/>
          <p:nvPr/>
        </p:nvSpPr>
        <p:spPr>
          <a:xfrm>
            <a:off x="8005572" y="3703320"/>
            <a:ext cx="2147468" cy="182880"/>
          </a:xfrm>
          <a:prstGeom prst="roundRect">
            <a:avLst>
              <a:gd name="adj" fmla="val 50000"/>
            </a:avLst>
          </a:prstGeom>
          <a:solidFill>
            <a:srgbClr val="2776D2"/>
          </a:solidFill>
          <a:ln w="12700">
            <a:solidFill>
              <a:srgbClr val="2776D2">
                <a:alpha val="0"/>
              </a:srgbClr>
            </a:solidFill>
            <a:prstDash val="solid"/>
          </a:ln>
        </p:spPr>
      </p:sp>
      <p:sp>
        <p:nvSpPr>
          <p:cNvPr id="26" name="Text 23"/>
          <p:cNvSpPr/>
          <p:nvPr/>
        </p:nvSpPr>
        <p:spPr>
          <a:xfrm>
            <a:off x="10337109" y="3575304"/>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2776D2"/>
                </a:solidFill>
                <a:latin typeface="Inter" pitchFamily="34" charset="0"/>
                <a:ea typeface="Inter" pitchFamily="34" charset="-122"/>
                <a:cs typeface="Inter" pitchFamily="34" charset="-120"/>
              </a:rPr>
              <a:t>100%</a:t>
            </a:r>
            <a:endParaRPr lang="en-US" sz="1900" dirty="0"/>
          </a:p>
        </p:txBody>
      </p:sp>
      <p:sp>
        <p:nvSpPr>
          <p:cNvPr id="27" name="Shape 24"/>
          <p:cNvSpPr/>
          <p:nvPr/>
        </p:nvSpPr>
        <p:spPr>
          <a:xfrm>
            <a:off x="4946904" y="4544568"/>
            <a:ext cx="6254496" cy="0"/>
          </a:xfrm>
          <a:prstGeom prst="line">
            <a:avLst/>
          </a:prstGeom>
          <a:noFill/>
          <a:ln w="8890">
            <a:solidFill>
              <a:srgbClr val="E1EAF1"/>
            </a:solidFill>
            <a:prstDash val="solid"/>
            <a:headEnd type="none"/>
            <a:tailEnd type="none"/>
          </a:ln>
        </p:spPr>
      </p:sp>
      <p:sp>
        <p:nvSpPr>
          <p:cNvPr id="28" name="Text 25"/>
          <p:cNvSpPr/>
          <p:nvPr/>
        </p:nvSpPr>
        <p:spPr>
          <a:xfrm>
            <a:off x="4937760" y="4745736"/>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Nivel de acuerdo</a:t>
            </a:r>
            <a:endParaRPr lang="en-US" sz="1700" dirty="0"/>
          </a:p>
        </p:txBody>
      </p:sp>
      <p:sp>
        <p:nvSpPr>
          <p:cNvPr id="29" name="Text 26"/>
          <p:cNvSpPr/>
          <p:nvPr/>
        </p:nvSpPr>
        <p:spPr>
          <a:xfrm>
            <a:off x="4937760" y="5102352"/>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3 de 3 preguntas</a:t>
            </a:r>
            <a:endParaRPr lang="en-US" sz="1170" dirty="0"/>
          </a:p>
        </p:txBody>
      </p:sp>
      <p:sp>
        <p:nvSpPr>
          <p:cNvPr id="30" name="Shape 27"/>
          <p:cNvSpPr/>
          <p:nvPr/>
        </p:nvSpPr>
        <p:spPr>
          <a:xfrm>
            <a:off x="8005572" y="4855464"/>
            <a:ext cx="2147468" cy="182880"/>
          </a:xfrm>
          <a:prstGeom prst="roundRect">
            <a:avLst>
              <a:gd name="adj" fmla="val 50000"/>
            </a:avLst>
          </a:prstGeom>
          <a:solidFill>
            <a:srgbClr val="F2F6FB"/>
          </a:solidFill>
          <a:ln w="12700">
            <a:solidFill>
              <a:srgbClr val="F2F6FB">
                <a:alpha val="0"/>
              </a:srgbClr>
            </a:solidFill>
            <a:prstDash val="solid"/>
          </a:ln>
        </p:spPr>
      </p:sp>
      <p:sp>
        <p:nvSpPr>
          <p:cNvPr id="31" name="Shape 28"/>
          <p:cNvSpPr/>
          <p:nvPr/>
        </p:nvSpPr>
        <p:spPr>
          <a:xfrm>
            <a:off x="8005572" y="4855464"/>
            <a:ext cx="2147468" cy="182880"/>
          </a:xfrm>
          <a:prstGeom prst="roundRect">
            <a:avLst>
              <a:gd name="adj" fmla="val 50000"/>
            </a:avLst>
          </a:prstGeom>
          <a:solidFill>
            <a:srgbClr val="2776D2"/>
          </a:solidFill>
          <a:ln w="12700">
            <a:solidFill>
              <a:srgbClr val="2776D2">
                <a:alpha val="0"/>
              </a:srgbClr>
            </a:solidFill>
            <a:prstDash val="solid"/>
          </a:ln>
        </p:spPr>
      </p:sp>
      <p:sp>
        <p:nvSpPr>
          <p:cNvPr id="32" name="Text 29"/>
          <p:cNvSpPr/>
          <p:nvPr/>
        </p:nvSpPr>
        <p:spPr>
          <a:xfrm>
            <a:off x="10337109" y="4727448"/>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2776D2"/>
                </a:solidFill>
                <a:latin typeface="Inter" pitchFamily="34" charset="0"/>
                <a:ea typeface="Inter" pitchFamily="34" charset="-122"/>
                <a:cs typeface="Inter" pitchFamily="34" charset="-120"/>
              </a:rPr>
              <a:t>100%</a:t>
            </a:r>
            <a:endParaRPr lang="en-US" sz="1900" dirty="0"/>
          </a:p>
        </p:txBody>
      </p:sp>
      <p:sp>
        <p:nvSpPr>
          <p:cNvPr id="33" name="Shape 30"/>
          <p:cNvSpPr/>
          <p:nvPr/>
        </p:nvSpPr>
        <p:spPr>
          <a:xfrm>
            <a:off x="685800" y="5815584"/>
            <a:ext cx="10817352" cy="402336"/>
          </a:xfrm>
          <a:prstGeom prst="roundRect">
            <a:avLst>
              <a:gd name="adj" fmla="val 27273"/>
            </a:avLst>
          </a:prstGeom>
          <a:solidFill>
            <a:srgbClr val="ECF5FF"/>
          </a:solidFill>
          <a:ln w="12700">
            <a:solidFill>
              <a:srgbClr val="ECF5FF">
                <a:alpha val="0"/>
              </a:srgbClr>
            </a:solidFill>
            <a:prstDash val="solid"/>
          </a:ln>
        </p:spPr>
      </p:sp>
      <p:sp>
        <p:nvSpPr>
          <p:cNvPr id="34" name="Text 31"/>
          <p:cNvSpPr/>
          <p:nvPr/>
        </p:nvSpPr>
        <p:spPr>
          <a:xfrm>
            <a:off x="950976" y="5888736"/>
            <a:ext cx="10168128" cy="192024"/>
          </a:xfrm>
          <a:prstGeom prst="rect">
            <a:avLst/>
          </a:prstGeom>
          <a:noFill/>
          <a:ln/>
        </p:spPr>
        <p:txBody>
          <a:bodyPr wrap="square" lIns="0" tIns="0" rIns="0" bIns="0" rtlCol="0" anchor="ctr">
            <a:normAutofit/>
          </a:bodyPr>
          <a:lstStyle/>
          <a:p>
            <a:pPr indent="0" marL="0">
              <a:buNone/>
            </a:pPr>
            <a:r>
              <a:rPr lang="en-US" sz="1310" b="1" dirty="0">
                <a:solidFill>
                  <a:srgbClr val="233A53"/>
                </a:solidFill>
                <a:latin typeface="Inter" pitchFamily="34" charset="0"/>
                <a:ea typeface="Inter" pitchFamily="34" charset="-122"/>
                <a:cs typeface="Inter" pitchFamily="34" charset="-120"/>
              </a:rPr>
              <a:t>Punto pendiente: proceso de verificación delimitado en tiempo y presupuesto.</a:t>
            </a:r>
            <a:endParaRPr lang="en-US" sz="13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CU01</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05</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CU01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01–06: una base documental sólida</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La matriz identifica el estado y la evidencia de cada criterio.</a:t>
            </a:r>
            <a:endParaRPr lang="en-US" sz="1280" dirty="0"/>
          </a:p>
        </p:txBody>
      </p:sp>
      <p:sp>
        <p:nvSpPr>
          <p:cNvPr id="11" name="Shape 9"/>
          <p:cNvSpPr/>
          <p:nvPr/>
        </p:nvSpPr>
        <p:spPr>
          <a:xfrm>
            <a:off x="658368" y="2029968"/>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29968"/>
            <a:ext cx="44806" cy="1115568"/>
          </a:xfrm>
          <a:prstGeom prst="rect">
            <a:avLst/>
          </a:prstGeom>
          <a:solidFill>
            <a:srgbClr val="2776D2"/>
          </a:solidFill>
          <a:ln w="12700">
            <a:solidFill>
              <a:srgbClr val="2776D2">
                <a:alpha val="0"/>
              </a:srgbClr>
            </a:solidFill>
            <a:prstDash val="solid"/>
          </a:ln>
        </p:spPr>
      </p:sp>
      <p:sp>
        <p:nvSpPr>
          <p:cNvPr id="13" name="Text 11"/>
          <p:cNvSpPr/>
          <p:nvPr/>
        </p:nvSpPr>
        <p:spPr>
          <a:xfrm>
            <a:off x="822960"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01</a:t>
            </a:r>
            <a:endParaRPr lang="en-US" sz="920" dirty="0"/>
          </a:p>
        </p:txBody>
      </p:sp>
      <p:sp>
        <p:nvSpPr>
          <p:cNvPr id="14" name="Text 12"/>
          <p:cNvSpPr/>
          <p:nvPr/>
        </p:nvSpPr>
        <p:spPr>
          <a:xfrm>
            <a:off x="1252728"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Agreed</a:t>
            </a:r>
            <a:endParaRPr lang="en-US" sz="1600" dirty="0"/>
          </a:p>
        </p:txBody>
      </p:sp>
      <p:sp>
        <p:nvSpPr>
          <p:cNvPr id="15" name="Shape 13"/>
          <p:cNvSpPr/>
          <p:nvPr/>
        </p:nvSpPr>
        <p:spPr>
          <a:xfrm>
            <a:off x="5294376"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Entrevista, minuta y aceptación del cliente en videoconferencia.</a:t>
            </a:r>
            <a:endParaRPr lang="en-US" sz="1240" dirty="0"/>
          </a:p>
        </p:txBody>
      </p:sp>
      <p:sp>
        <p:nvSpPr>
          <p:cNvPr id="18" name="Shape 16"/>
          <p:cNvSpPr/>
          <p:nvPr/>
        </p:nvSpPr>
        <p:spPr>
          <a:xfrm>
            <a:off x="658368" y="3346704"/>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58368" y="3346704"/>
            <a:ext cx="44806" cy="1115568"/>
          </a:xfrm>
          <a:prstGeom prst="rect">
            <a:avLst/>
          </a:prstGeom>
          <a:solidFill>
            <a:srgbClr val="2776D2"/>
          </a:solidFill>
          <a:ln w="12700">
            <a:solidFill>
              <a:srgbClr val="2776D2">
                <a:alpha val="0"/>
              </a:srgbClr>
            </a:solidFill>
            <a:prstDash val="solid"/>
          </a:ln>
        </p:spPr>
      </p:sp>
      <p:sp>
        <p:nvSpPr>
          <p:cNvPr id="20" name="Text 18"/>
          <p:cNvSpPr/>
          <p:nvPr/>
        </p:nvSpPr>
        <p:spPr>
          <a:xfrm>
            <a:off x="822960"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02</a:t>
            </a:r>
            <a:endParaRPr lang="en-US" sz="920" dirty="0"/>
          </a:p>
        </p:txBody>
      </p:sp>
      <p:sp>
        <p:nvSpPr>
          <p:cNvPr id="21" name="Text 19"/>
          <p:cNvSpPr/>
          <p:nvPr/>
        </p:nvSpPr>
        <p:spPr>
          <a:xfrm>
            <a:off x="1252728"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Ranked</a:t>
            </a:r>
            <a:endParaRPr lang="en-US" sz="1600" dirty="0"/>
          </a:p>
        </p:txBody>
      </p:sp>
      <p:sp>
        <p:nvSpPr>
          <p:cNvPr id="22" name="Shape 20"/>
          <p:cNvSpPr/>
          <p:nvPr/>
        </p:nvSpPr>
        <p:spPr>
          <a:xfrm>
            <a:off x="5294376"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5367528"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841248"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Prioridad alta definida en la descripción del caso.</a:t>
            </a:r>
            <a:endParaRPr lang="en-US" sz="1240" dirty="0"/>
          </a:p>
        </p:txBody>
      </p:sp>
      <p:sp>
        <p:nvSpPr>
          <p:cNvPr id="25" name="Shape 23"/>
          <p:cNvSpPr/>
          <p:nvPr/>
        </p:nvSpPr>
        <p:spPr>
          <a:xfrm>
            <a:off x="658368" y="4663440"/>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4663440"/>
            <a:ext cx="44806" cy="1115568"/>
          </a:xfrm>
          <a:prstGeom prst="rect">
            <a:avLst/>
          </a:prstGeom>
          <a:solidFill>
            <a:srgbClr val="2776D2"/>
          </a:solidFill>
          <a:ln w="12700">
            <a:solidFill>
              <a:srgbClr val="2776D2">
                <a:alpha val="0"/>
              </a:srgbClr>
            </a:solidFill>
            <a:prstDash val="solid"/>
          </a:ln>
        </p:spPr>
      </p:sp>
      <p:sp>
        <p:nvSpPr>
          <p:cNvPr id="27" name="Text 25"/>
          <p:cNvSpPr/>
          <p:nvPr/>
        </p:nvSpPr>
        <p:spPr>
          <a:xfrm>
            <a:off x="822960"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03</a:t>
            </a:r>
            <a:endParaRPr lang="en-US" sz="920" dirty="0"/>
          </a:p>
        </p:txBody>
      </p:sp>
      <p:sp>
        <p:nvSpPr>
          <p:cNvPr id="28" name="Text 26"/>
          <p:cNvSpPr/>
          <p:nvPr/>
        </p:nvSpPr>
        <p:spPr>
          <a:xfrm>
            <a:off x="1252728"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Unambiguos</a:t>
            </a:r>
            <a:endParaRPr lang="en-US" sz="1600" dirty="0"/>
          </a:p>
        </p:txBody>
      </p:sp>
      <p:sp>
        <p:nvSpPr>
          <p:cNvPr id="29" name="Shape 27"/>
          <p:cNvSpPr/>
          <p:nvPr/>
        </p:nvSpPr>
        <p:spPr>
          <a:xfrm>
            <a:off x="5294376"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Lenguaje claro; tutor y equipo comparten interpretación.</a:t>
            </a:r>
            <a:endParaRPr lang="en-US" sz="1240" dirty="0"/>
          </a:p>
        </p:txBody>
      </p:sp>
      <p:sp>
        <p:nvSpPr>
          <p:cNvPr id="32" name="Shape 30"/>
          <p:cNvSpPr/>
          <p:nvPr/>
        </p:nvSpPr>
        <p:spPr>
          <a:xfrm>
            <a:off x="6217920" y="20299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17920" y="2029968"/>
            <a:ext cx="44806" cy="1115568"/>
          </a:xfrm>
          <a:prstGeom prst="rect">
            <a:avLst/>
          </a:prstGeom>
          <a:solidFill>
            <a:srgbClr val="2776D2"/>
          </a:solidFill>
          <a:ln w="12700">
            <a:solidFill>
              <a:srgbClr val="2776D2">
                <a:alpha val="0"/>
              </a:srgbClr>
            </a:solidFill>
            <a:prstDash val="solid"/>
          </a:ln>
        </p:spPr>
      </p:sp>
      <p:sp>
        <p:nvSpPr>
          <p:cNvPr id="34" name="Text 32"/>
          <p:cNvSpPr/>
          <p:nvPr/>
        </p:nvSpPr>
        <p:spPr>
          <a:xfrm>
            <a:off x="6382512"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04</a:t>
            </a:r>
            <a:endParaRPr lang="en-US" sz="920" dirty="0"/>
          </a:p>
        </p:txBody>
      </p:sp>
      <p:sp>
        <p:nvSpPr>
          <p:cNvPr id="35" name="Text 33"/>
          <p:cNvSpPr/>
          <p:nvPr/>
        </p:nvSpPr>
        <p:spPr>
          <a:xfrm>
            <a:off x="6812280"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Valid and up-to date</a:t>
            </a:r>
            <a:endParaRPr lang="en-US" sz="1600" dirty="0"/>
          </a:p>
        </p:txBody>
      </p:sp>
      <p:sp>
        <p:nvSpPr>
          <p:cNvPr id="36" name="Shape 34"/>
          <p:cNvSpPr/>
          <p:nvPr/>
        </p:nvSpPr>
        <p:spPr>
          <a:xfrm>
            <a:off x="10853928"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27080"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400800"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Feedback del cliente incorporado a la especificación.</a:t>
            </a:r>
            <a:endParaRPr lang="en-US" sz="1240" dirty="0"/>
          </a:p>
        </p:txBody>
      </p:sp>
      <p:sp>
        <p:nvSpPr>
          <p:cNvPr id="39" name="Shape 37"/>
          <p:cNvSpPr/>
          <p:nvPr/>
        </p:nvSpPr>
        <p:spPr>
          <a:xfrm>
            <a:off x="6217920" y="3346704"/>
            <a:ext cx="5285232" cy="1115568"/>
          </a:xfrm>
          <a:prstGeom prst="roundRect">
            <a:avLst>
              <a:gd name="adj" fmla="val 9836"/>
            </a:avLst>
          </a:prstGeom>
          <a:solidFill>
            <a:srgbClr val="FFFFFF"/>
          </a:solidFill>
          <a:ln w="10160">
            <a:solidFill>
              <a:srgbClr val="E1EAF1"/>
            </a:solidFill>
            <a:prstDash val="solid"/>
          </a:ln>
        </p:spPr>
      </p:sp>
      <p:sp>
        <p:nvSpPr>
          <p:cNvPr id="40" name="Shape 38"/>
          <p:cNvSpPr/>
          <p:nvPr/>
        </p:nvSpPr>
        <p:spPr>
          <a:xfrm>
            <a:off x="6217920" y="3346704"/>
            <a:ext cx="44806" cy="1115568"/>
          </a:xfrm>
          <a:prstGeom prst="rect">
            <a:avLst/>
          </a:prstGeom>
          <a:solidFill>
            <a:srgbClr val="2776D2"/>
          </a:solidFill>
          <a:ln w="12700">
            <a:solidFill>
              <a:srgbClr val="2776D2">
                <a:alpha val="0"/>
              </a:srgbClr>
            </a:solidFill>
            <a:prstDash val="solid"/>
          </a:ln>
        </p:spPr>
      </p:sp>
      <p:sp>
        <p:nvSpPr>
          <p:cNvPr id="41" name="Text 39"/>
          <p:cNvSpPr/>
          <p:nvPr/>
        </p:nvSpPr>
        <p:spPr>
          <a:xfrm>
            <a:off x="6382512"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05</a:t>
            </a:r>
            <a:endParaRPr lang="en-US" sz="920" dirty="0"/>
          </a:p>
        </p:txBody>
      </p:sp>
      <p:sp>
        <p:nvSpPr>
          <p:cNvPr id="42" name="Text 40"/>
          <p:cNvSpPr/>
          <p:nvPr/>
        </p:nvSpPr>
        <p:spPr>
          <a:xfrm>
            <a:off x="6812280"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Correct</a:t>
            </a:r>
            <a:endParaRPr lang="en-US" sz="1600" dirty="0"/>
          </a:p>
        </p:txBody>
      </p:sp>
      <p:sp>
        <p:nvSpPr>
          <p:cNvPr id="43" name="Shape 41"/>
          <p:cNvSpPr/>
          <p:nvPr/>
        </p:nvSpPr>
        <p:spPr>
          <a:xfrm>
            <a:off x="10853928"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44" name="Text 42"/>
          <p:cNvSpPr/>
          <p:nvPr/>
        </p:nvSpPr>
        <p:spPr>
          <a:xfrm>
            <a:off x="10927080"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45" name="Text 43"/>
          <p:cNvSpPr/>
          <p:nvPr/>
        </p:nvSpPr>
        <p:spPr>
          <a:xfrm>
            <a:off x="6400800"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Alineación con los objetivos y necesidades del cliente.</a:t>
            </a:r>
            <a:endParaRPr lang="en-US" sz="1240" dirty="0"/>
          </a:p>
        </p:txBody>
      </p:sp>
      <p:sp>
        <p:nvSpPr>
          <p:cNvPr id="46" name="Shape 44"/>
          <p:cNvSpPr/>
          <p:nvPr/>
        </p:nvSpPr>
        <p:spPr>
          <a:xfrm>
            <a:off x="6217920" y="4663440"/>
            <a:ext cx="5285232" cy="1115568"/>
          </a:xfrm>
          <a:prstGeom prst="roundRect">
            <a:avLst>
              <a:gd name="adj" fmla="val 9836"/>
            </a:avLst>
          </a:prstGeom>
          <a:solidFill>
            <a:srgbClr val="FFFFFF"/>
          </a:solidFill>
          <a:ln w="10160">
            <a:solidFill>
              <a:srgbClr val="E1EAF1"/>
            </a:solidFill>
            <a:prstDash val="solid"/>
          </a:ln>
        </p:spPr>
      </p:sp>
      <p:sp>
        <p:nvSpPr>
          <p:cNvPr id="47" name="Shape 45"/>
          <p:cNvSpPr/>
          <p:nvPr/>
        </p:nvSpPr>
        <p:spPr>
          <a:xfrm>
            <a:off x="6217920" y="4663440"/>
            <a:ext cx="44806" cy="1115568"/>
          </a:xfrm>
          <a:prstGeom prst="rect">
            <a:avLst/>
          </a:prstGeom>
          <a:solidFill>
            <a:srgbClr val="2776D2"/>
          </a:solidFill>
          <a:ln w="12700">
            <a:solidFill>
              <a:srgbClr val="2776D2">
                <a:alpha val="0"/>
              </a:srgbClr>
            </a:solidFill>
            <a:prstDash val="solid"/>
          </a:ln>
        </p:spPr>
      </p:sp>
      <p:sp>
        <p:nvSpPr>
          <p:cNvPr id="48" name="Text 46"/>
          <p:cNvSpPr/>
          <p:nvPr/>
        </p:nvSpPr>
        <p:spPr>
          <a:xfrm>
            <a:off x="6382512"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06</a:t>
            </a:r>
            <a:endParaRPr lang="en-US" sz="920" dirty="0"/>
          </a:p>
        </p:txBody>
      </p:sp>
      <p:sp>
        <p:nvSpPr>
          <p:cNvPr id="49" name="Text 47"/>
          <p:cNvSpPr/>
          <p:nvPr/>
        </p:nvSpPr>
        <p:spPr>
          <a:xfrm>
            <a:off x="6812280"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Consisten</a:t>
            </a:r>
            <a:endParaRPr lang="en-US" sz="1600" dirty="0"/>
          </a:p>
        </p:txBody>
      </p:sp>
      <p:sp>
        <p:nvSpPr>
          <p:cNvPr id="50" name="Shape 48"/>
          <p:cNvSpPr/>
          <p:nvPr/>
        </p:nvSpPr>
        <p:spPr>
          <a:xfrm>
            <a:off x="10853928"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51" name="Text 49"/>
          <p:cNvSpPr/>
          <p:nvPr/>
        </p:nvSpPr>
        <p:spPr>
          <a:xfrm>
            <a:off x="10927080"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52" name="Text 50"/>
          <p:cNvSpPr/>
          <p:nvPr/>
        </p:nvSpPr>
        <p:spPr>
          <a:xfrm>
            <a:off x="6400800"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Diagrama de casos de uso y terminología definida.</a:t>
            </a:r>
            <a:endParaRPr lang="en-US" sz="1240" dirty="0"/>
          </a:p>
        </p:txBody>
      </p:sp>
      <p:sp>
        <p:nvSpPr>
          <p:cNvPr id="53" name="Shape 51"/>
          <p:cNvSpPr/>
          <p:nvPr/>
        </p:nvSpPr>
        <p:spPr>
          <a:xfrm>
            <a:off x="667512" y="6089904"/>
            <a:ext cx="10789920" cy="256032"/>
          </a:xfrm>
          <a:prstGeom prst="roundRect">
            <a:avLst>
              <a:gd name="adj" fmla="val 28571"/>
            </a:avLst>
          </a:prstGeom>
          <a:solidFill>
            <a:srgbClr val="ECF5FF"/>
          </a:solidFill>
          <a:ln w="12700">
            <a:solidFill>
              <a:srgbClr val="ECF5FF">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CU01</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06</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CU01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07–11: la viabilidad queda pendiente</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Un criterio NOK y observaciones de seguimiento en otros criterios.</a:t>
            </a:r>
            <a:endParaRPr lang="en-US" sz="1280" dirty="0"/>
          </a:p>
        </p:txBody>
      </p:sp>
      <p:sp>
        <p:nvSpPr>
          <p:cNvPr id="11" name="Shape 9"/>
          <p:cNvSpPr/>
          <p:nvPr/>
        </p:nvSpPr>
        <p:spPr>
          <a:xfrm>
            <a:off x="658368" y="2057400"/>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57400"/>
            <a:ext cx="44806" cy="1115568"/>
          </a:xfrm>
          <a:prstGeom prst="rect">
            <a:avLst/>
          </a:prstGeom>
          <a:solidFill>
            <a:srgbClr val="2776D2"/>
          </a:solidFill>
          <a:ln w="12700">
            <a:solidFill>
              <a:srgbClr val="2776D2">
                <a:alpha val="0"/>
              </a:srgbClr>
            </a:solidFill>
            <a:prstDash val="solid"/>
          </a:ln>
        </p:spPr>
      </p:sp>
      <p:sp>
        <p:nvSpPr>
          <p:cNvPr id="13" name="Text 11"/>
          <p:cNvSpPr/>
          <p:nvPr/>
        </p:nvSpPr>
        <p:spPr>
          <a:xfrm>
            <a:off x="822960"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07</a:t>
            </a:r>
            <a:endParaRPr lang="en-US" sz="920" dirty="0"/>
          </a:p>
        </p:txBody>
      </p:sp>
      <p:sp>
        <p:nvSpPr>
          <p:cNvPr id="14" name="Text 12"/>
          <p:cNvSpPr/>
          <p:nvPr/>
        </p:nvSpPr>
        <p:spPr>
          <a:xfrm>
            <a:off x="1252728"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Verifiable</a:t>
            </a:r>
            <a:endParaRPr lang="en-US" sz="1600" dirty="0"/>
          </a:p>
        </p:txBody>
      </p:sp>
      <p:sp>
        <p:nvSpPr>
          <p:cNvPr id="15" name="Shape 13"/>
          <p:cNvSpPr/>
          <p:nvPr/>
        </p:nvSpPr>
        <p:spPr>
          <a:xfrm>
            <a:off x="5294376"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Requisito medible; faltan casos de prueba.</a:t>
            </a:r>
            <a:endParaRPr lang="en-US" sz="1240" dirty="0"/>
          </a:p>
        </p:txBody>
      </p:sp>
      <p:sp>
        <p:nvSpPr>
          <p:cNvPr id="18" name="Shape 16"/>
          <p:cNvSpPr/>
          <p:nvPr/>
        </p:nvSpPr>
        <p:spPr>
          <a:xfrm>
            <a:off x="6208776" y="2057400"/>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208776" y="2057400"/>
            <a:ext cx="44806" cy="1115568"/>
          </a:xfrm>
          <a:prstGeom prst="rect">
            <a:avLst/>
          </a:prstGeom>
          <a:solidFill>
            <a:srgbClr val="2776D2"/>
          </a:solidFill>
          <a:ln w="12700">
            <a:solidFill>
              <a:srgbClr val="2776D2">
                <a:alpha val="0"/>
              </a:srgbClr>
            </a:solidFill>
            <a:prstDash val="solid"/>
          </a:ln>
        </p:spPr>
      </p:sp>
      <p:sp>
        <p:nvSpPr>
          <p:cNvPr id="20" name="Text 18"/>
          <p:cNvSpPr/>
          <p:nvPr/>
        </p:nvSpPr>
        <p:spPr>
          <a:xfrm>
            <a:off x="6373368"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09</a:t>
            </a:r>
            <a:endParaRPr lang="en-US" sz="920" dirty="0"/>
          </a:p>
        </p:txBody>
      </p:sp>
      <p:sp>
        <p:nvSpPr>
          <p:cNvPr id="21" name="Text 19"/>
          <p:cNvSpPr/>
          <p:nvPr/>
        </p:nvSpPr>
        <p:spPr>
          <a:xfrm>
            <a:off x="6803136"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Traceable</a:t>
            </a:r>
            <a:endParaRPr lang="en-US" sz="1600" dirty="0"/>
          </a:p>
        </p:txBody>
      </p:sp>
      <p:sp>
        <p:nvSpPr>
          <p:cNvPr id="22" name="Shape 20"/>
          <p:cNvSpPr/>
          <p:nvPr/>
        </p:nvSpPr>
        <p:spPr>
          <a:xfrm>
            <a:off x="10844784"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10917936"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6391656"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Origen, matrices de trazabilidad e identificador único.</a:t>
            </a:r>
            <a:endParaRPr lang="en-US" sz="1240" dirty="0"/>
          </a:p>
        </p:txBody>
      </p:sp>
      <p:sp>
        <p:nvSpPr>
          <p:cNvPr id="25" name="Shape 23"/>
          <p:cNvSpPr/>
          <p:nvPr/>
        </p:nvSpPr>
        <p:spPr>
          <a:xfrm>
            <a:off x="658368" y="3401568"/>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3401568"/>
            <a:ext cx="44806" cy="1115568"/>
          </a:xfrm>
          <a:prstGeom prst="rect">
            <a:avLst/>
          </a:prstGeom>
          <a:solidFill>
            <a:srgbClr val="2776D2"/>
          </a:solidFill>
          <a:ln w="12700">
            <a:solidFill>
              <a:srgbClr val="2776D2">
                <a:alpha val="0"/>
              </a:srgbClr>
            </a:solidFill>
            <a:prstDash val="solid"/>
          </a:ln>
        </p:spPr>
      </p:sp>
      <p:sp>
        <p:nvSpPr>
          <p:cNvPr id="27" name="Text 25"/>
          <p:cNvSpPr/>
          <p:nvPr/>
        </p:nvSpPr>
        <p:spPr>
          <a:xfrm>
            <a:off x="822960"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10</a:t>
            </a:r>
            <a:endParaRPr lang="en-US" sz="920" dirty="0"/>
          </a:p>
        </p:txBody>
      </p:sp>
      <p:sp>
        <p:nvSpPr>
          <p:cNvPr id="28" name="Text 26"/>
          <p:cNvSpPr/>
          <p:nvPr/>
        </p:nvSpPr>
        <p:spPr>
          <a:xfrm>
            <a:off x="1252728"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Complete</a:t>
            </a:r>
            <a:endParaRPr lang="en-US" sz="1600" dirty="0"/>
          </a:p>
        </p:txBody>
      </p:sp>
      <p:sp>
        <p:nvSpPr>
          <p:cNvPr id="29" name="Shape 27"/>
          <p:cNvSpPr/>
          <p:nvPr/>
        </p:nvSpPr>
        <p:spPr>
          <a:xfrm>
            <a:off x="5294376"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Entradas, salidas, precondiciones y postcondiciones.</a:t>
            </a:r>
            <a:endParaRPr lang="en-US" sz="1240" dirty="0"/>
          </a:p>
        </p:txBody>
      </p:sp>
      <p:sp>
        <p:nvSpPr>
          <p:cNvPr id="32" name="Shape 30"/>
          <p:cNvSpPr/>
          <p:nvPr/>
        </p:nvSpPr>
        <p:spPr>
          <a:xfrm>
            <a:off x="6208776" y="34015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08776" y="3401568"/>
            <a:ext cx="44806" cy="1115568"/>
          </a:xfrm>
          <a:prstGeom prst="rect">
            <a:avLst/>
          </a:prstGeom>
          <a:solidFill>
            <a:srgbClr val="2776D2"/>
          </a:solidFill>
          <a:ln w="12700">
            <a:solidFill>
              <a:srgbClr val="2776D2">
                <a:alpha val="0"/>
              </a:srgbClr>
            </a:solidFill>
            <a:prstDash val="solid"/>
          </a:ln>
        </p:spPr>
      </p:sp>
      <p:sp>
        <p:nvSpPr>
          <p:cNvPr id="34" name="Text 32"/>
          <p:cNvSpPr/>
          <p:nvPr/>
        </p:nvSpPr>
        <p:spPr>
          <a:xfrm>
            <a:off x="6373368"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2776D2"/>
                </a:solidFill>
                <a:latin typeface="Inter" pitchFamily="34" charset="0"/>
                <a:ea typeface="Inter" pitchFamily="34" charset="-122"/>
                <a:cs typeface="Inter" pitchFamily="34" charset="-120"/>
              </a:rPr>
              <a:t>11</a:t>
            </a:r>
            <a:endParaRPr lang="en-US" sz="920" dirty="0"/>
          </a:p>
        </p:txBody>
      </p:sp>
      <p:sp>
        <p:nvSpPr>
          <p:cNvPr id="35" name="Text 33"/>
          <p:cNvSpPr/>
          <p:nvPr/>
        </p:nvSpPr>
        <p:spPr>
          <a:xfrm>
            <a:off x="6803136"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Understandability</a:t>
            </a:r>
            <a:endParaRPr lang="en-US" sz="1600" dirty="0"/>
          </a:p>
        </p:txBody>
      </p:sp>
      <p:sp>
        <p:nvSpPr>
          <p:cNvPr id="36" name="Shape 34"/>
          <p:cNvSpPr/>
          <p:nvPr/>
        </p:nvSpPr>
        <p:spPr>
          <a:xfrm>
            <a:off x="10844784"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17936"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391656"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Cliente involucrado y glosario de términos.</a:t>
            </a:r>
            <a:endParaRPr lang="en-US" sz="1240" dirty="0"/>
          </a:p>
        </p:txBody>
      </p:sp>
      <p:sp>
        <p:nvSpPr>
          <p:cNvPr id="39" name="Shape 37"/>
          <p:cNvSpPr/>
          <p:nvPr/>
        </p:nvSpPr>
        <p:spPr>
          <a:xfrm>
            <a:off x="658368" y="4965192"/>
            <a:ext cx="10817352" cy="1280160"/>
          </a:xfrm>
          <a:prstGeom prst="roundRect">
            <a:avLst>
              <a:gd name="adj" fmla="val 12143"/>
            </a:avLst>
          </a:prstGeom>
          <a:solidFill>
            <a:srgbClr val="FFF0EF"/>
          </a:solidFill>
          <a:ln w="10160">
            <a:solidFill>
              <a:srgbClr val="F9D7D7"/>
            </a:solidFill>
            <a:prstDash val="solid"/>
          </a:ln>
        </p:spPr>
      </p:sp>
      <p:sp>
        <p:nvSpPr>
          <p:cNvPr id="40" name="Shape 38"/>
          <p:cNvSpPr/>
          <p:nvPr/>
        </p:nvSpPr>
        <p:spPr>
          <a:xfrm>
            <a:off x="941832" y="5285232"/>
            <a:ext cx="438912" cy="429768"/>
          </a:xfrm>
          <a:prstGeom prst="roundRect">
            <a:avLst>
              <a:gd name="adj" fmla="val 38298"/>
            </a:avLst>
          </a:prstGeom>
          <a:solidFill>
            <a:srgbClr val="FFFFFF"/>
          </a:solidFill>
          <a:ln w="12700">
            <a:solidFill>
              <a:srgbClr val="FFFFFF">
                <a:alpha val="0"/>
              </a:srgbClr>
            </a:solidFill>
            <a:prstDash val="solid"/>
          </a:ln>
        </p:spPr>
      </p:sp>
      <p:sp>
        <p:nvSpPr>
          <p:cNvPr id="41" name="Text 39"/>
          <p:cNvSpPr/>
          <p:nvPr/>
        </p:nvSpPr>
        <p:spPr>
          <a:xfrm>
            <a:off x="1065276" y="5394960"/>
            <a:ext cx="201168" cy="173736"/>
          </a:xfrm>
          <a:prstGeom prst="rect">
            <a:avLst/>
          </a:prstGeom>
          <a:noFill/>
          <a:ln/>
        </p:spPr>
        <p:txBody>
          <a:bodyPr wrap="square" lIns="0" tIns="0" rIns="0" bIns="0" rtlCol="0" anchor="ctr">
            <a:normAutofit/>
          </a:bodyPr>
          <a:lstStyle/>
          <a:p>
            <a:pPr algn="ctr" indent="0" marL="0">
              <a:buNone/>
            </a:pPr>
            <a:r>
              <a:rPr lang="en-US" sz="1500" b="1" dirty="0">
                <a:solidFill>
                  <a:srgbClr val="C95057"/>
                </a:solidFill>
                <a:latin typeface="Inter" pitchFamily="34" charset="0"/>
                <a:ea typeface="Inter" pitchFamily="34" charset="-122"/>
                <a:cs typeface="Inter" pitchFamily="34" charset="-120"/>
              </a:rPr>
              <a:t>!</a:t>
            </a:r>
            <a:endParaRPr lang="en-US" sz="1500" dirty="0"/>
          </a:p>
        </p:txBody>
      </p:sp>
      <p:sp>
        <p:nvSpPr>
          <p:cNvPr id="42" name="Text 40"/>
          <p:cNvSpPr/>
          <p:nvPr/>
        </p:nvSpPr>
        <p:spPr>
          <a:xfrm>
            <a:off x="1572768" y="5166360"/>
            <a:ext cx="6163056" cy="201168"/>
          </a:xfrm>
          <a:prstGeom prst="rect">
            <a:avLst/>
          </a:prstGeom>
          <a:noFill/>
          <a:ln/>
        </p:spPr>
        <p:txBody>
          <a:bodyPr wrap="square" lIns="0" tIns="0" rIns="0" bIns="0" rtlCol="0" anchor="ctr">
            <a:normAutofit/>
          </a:bodyPr>
          <a:lstStyle/>
          <a:p>
            <a:pPr indent="0" marL="0">
              <a:buNone/>
            </a:pPr>
            <a:r>
              <a:rPr lang="en-US" sz="1050" b="1" spc="140" kern="0" dirty="0">
                <a:solidFill>
                  <a:srgbClr val="C95057"/>
                </a:solidFill>
                <a:latin typeface="Inter" pitchFamily="34" charset="0"/>
                <a:ea typeface="Inter" pitchFamily="34" charset="-122"/>
                <a:cs typeface="Inter" pitchFamily="34" charset="-120"/>
              </a:rPr>
              <a:t>08  /  REALIZABLE</a:t>
            </a:r>
            <a:endParaRPr lang="en-US" sz="1050" dirty="0"/>
          </a:p>
        </p:txBody>
      </p:sp>
      <p:sp>
        <p:nvSpPr>
          <p:cNvPr id="43" name="Text 41"/>
          <p:cNvSpPr/>
          <p:nvPr/>
        </p:nvSpPr>
        <p:spPr>
          <a:xfrm>
            <a:off x="1572768" y="5458968"/>
            <a:ext cx="8796528" cy="402336"/>
          </a:xfrm>
          <a:prstGeom prst="rect">
            <a:avLst/>
          </a:prstGeom>
          <a:noFill/>
          <a:ln/>
        </p:spPr>
        <p:txBody>
          <a:bodyPr wrap="square" lIns="0" tIns="0" rIns="0" bIns="0" rtlCol="0" anchor="ctr">
            <a:normAutofit/>
          </a:bodyPr>
          <a:lstStyle/>
          <a:p>
            <a:pPr indent="0" marL="0">
              <a:buNone/>
            </a:pPr>
            <a:r>
              <a:rPr lang="en-US" sz="1980" b="1" dirty="0">
                <a:solidFill>
                  <a:srgbClr val="102A43"/>
                </a:solidFill>
                <a:latin typeface="Inter" pitchFamily="34" charset="0"/>
                <a:ea typeface="Inter" pitchFamily="34" charset="-122"/>
                <a:cs typeface="Inter" pitchFamily="34" charset="-120"/>
              </a:rPr>
              <a:t>NOK · Funcionalidad estimada, pero aún no desarrollada</a:t>
            </a:r>
            <a:endParaRPr lang="en-US" sz="1980" dirty="0"/>
          </a:p>
        </p:txBody>
      </p:sp>
      <p:sp>
        <p:nvSpPr>
          <p:cNvPr id="44" name="Shape 42"/>
          <p:cNvSpPr/>
          <p:nvPr/>
        </p:nvSpPr>
        <p:spPr>
          <a:xfrm>
            <a:off x="10241280" y="5340096"/>
            <a:ext cx="914400" cy="329184"/>
          </a:xfrm>
          <a:prstGeom prst="roundRect">
            <a:avLst>
              <a:gd name="adj" fmla="val 38889"/>
            </a:avLst>
          </a:prstGeom>
          <a:solidFill>
            <a:srgbClr val="FFFFFF"/>
          </a:solidFill>
          <a:ln w="12700">
            <a:solidFill>
              <a:srgbClr val="FFFFFF">
                <a:alpha val="0"/>
              </a:srgbClr>
            </a:solidFill>
            <a:prstDash val="solid"/>
          </a:ln>
        </p:spPr>
      </p:sp>
      <p:sp>
        <p:nvSpPr>
          <p:cNvPr id="45" name="Text 43"/>
          <p:cNvSpPr/>
          <p:nvPr/>
        </p:nvSpPr>
        <p:spPr>
          <a:xfrm>
            <a:off x="10314432" y="5390388"/>
            <a:ext cx="768096" cy="219456"/>
          </a:xfrm>
          <a:prstGeom prst="rect">
            <a:avLst/>
          </a:prstGeom>
          <a:noFill/>
          <a:ln/>
        </p:spPr>
        <p:txBody>
          <a:bodyPr wrap="square" lIns="0" tIns="0" rIns="0" bIns="0" rtlCol="0" anchor="ctr">
            <a:normAutofit/>
          </a:bodyPr>
          <a:lstStyle/>
          <a:p>
            <a:pPr algn="ctr" indent="0" marL="0">
              <a:buNone/>
            </a:pPr>
            <a:r>
              <a:rPr lang="en-US" sz="1000" b="1" dirty="0">
                <a:solidFill>
                  <a:srgbClr val="C95057"/>
                </a:solidFill>
                <a:latin typeface="Inter" pitchFamily="34" charset="0"/>
                <a:ea typeface="Inter" pitchFamily="34" charset="-122"/>
                <a:cs typeface="Inter" pitchFamily="34" charset="-120"/>
              </a:rPr>
              <a:t>1 NOK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119E94"/>
          </a:solidFill>
          <a:ln w="12700">
            <a:solidFill>
              <a:srgbClr val="119E94">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CU02</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119E94"/>
                </a:solidFill>
                <a:latin typeface="Inter" pitchFamily="34" charset="0"/>
                <a:ea typeface="Inter" pitchFamily="34" charset="-122"/>
                <a:cs typeface="Inter" pitchFamily="34" charset="-120"/>
              </a:rPr>
              <a:t>07</a:t>
            </a:r>
            <a:endParaRPr lang="en-US" sz="930" dirty="0"/>
          </a:p>
        </p:txBody>
      </p:sp>
      <p:sp>
        <p:nvSpPr>
          <p:cNvPr id="8" name="Text 6"/>
          <p:cNvSpPr/>
          <p:nvPr/>
        </p:nvSpPr>
        <p:spPr>
          <a:xfrm>
            <a:off x="640080" y="704088"/>
            <a:ext cx="6309360" cy="219456"/>
          </a:xfrm>
          <a:prstGeom prst="rect">
            <a:avLst/>
          </a:prstGeom>
          <a:noFill/>
          <a:ln/>
        </p:spPr>
        <p:txBody>
          <a:bodyPr wrap="square" lIns="0" tIns="0" rIns="0" bIns="0" rtlCol="0" anchor="ctr">
            <a:normAutofit/>
          </a:bodyPr>
          <a:lstStyle/>
          <a:p>
            <a:pPr indent="0" marL="0">
              <a:buNone/>
            </a:pPr>
            <a:r>
              <a:rPr lang="en-US" sz="1060" b="1" spc="140" kern="0" dirty="0">
                <a:solidFill>
                  <a:srgbClr val="119E94"/>
                </a:solidFill>
                <a:latin typeface="Inter" pitchFamily="34" charset="0"/>
                <a:ea typeface="Inter" pitchFamily="34" charset="-122"/>
                <a:cs typeface="Inter" pitchFamily="34" charset="-120"/>
              </a:rPr>
              <a:t>EVALUACIÓN IREB   /   CU02</a:t>
            </a:r>
            <a:endParaRPr lang="en-US" sz="1060" dirty="0"/>
          </a:p>
        </p:txBody>
      </p:sp>
      <p:sp>
        <p:nvSpPr>
          <p:cNvPr id="9" name="Text 7"/>
          <p:cNvSpPr/>
          <p:nvPr/>
        </p:nvSpPr>
        <p:spPr>
          <a:xfrm>
            <a:off x="585216" y="1060704"/>
            <a:ext cx="4663440" cy="1097280"/>
          </a:xfrm>
          <a:prstGeom prst="rect">
            <a:avLst/>
          </a:prstGeom>
          <a:noFill/>
          <a:ln/>
        </p:spPr>
        <p:txBody>
          <a:bodyPr wrap="square" lIns="0" tIns="0" rIns="0" bIns="0" rtlCol="0" anchor="ctr">
            <a:normAutofit/>
          </a:bodyPr>
          <a:lstStyle/>
          <a:p>
            <a:pPr indent="0" marL="0">
              <a:buNone/>
            </a:pPr>
            <a:r>
              <a:rPr lang="en-US" sz="6800" b="1" dirty="0">
                <a:solidFill>
                  <a:srgbClr val="119E94"/>
                </a:solidFill>
                <a:latin typeface="Inter" pitchFamily="34" charset="0"/>
                <a:ea typeface="Inter" pitchFamily="34" charset="-122"/>
                <a:cs typeface="Inter" pitchFamily="34" charset="-120"/>
              </a:rPr>
              <a:t>CU02</a:t>
            </a:r>
            <a:endParaRPr lang="en-US" sz="6800" dirty="0"/>
          </a:p>
        </p:txBody>
      </p:sp>
      <p:sp>
        <p:nvSpPr>
          <p:cNvPr id="10" name="Text 8"/>
          <p:cNvSpPr/>
          <p:nvPr/>
        </p:nvSpPr>
        <p:spPr>
          <a:xfrm>
            <a:off x="658368" y="2267712"/>
            <a:ext cx="6510528" cy="1179576"/>
          </a:xfrm>
          <a:prstGeom prst="rect">
            <a:avLst/>
          </a:prstGeom>
          <a:noFill/>
          <a:ln/>
        </p:spPr>
        <p:txBody>
          <a:bodyPr wrap="square" lIns="0" tIns="0" rIns="0" bIns="0" rtlCol="0" anchor="t">
            <a:normAutofit/>
          </a:bodyPr>
          <a:lstStyle/>
          <a:p>
            <a:pPr indent="0" marL="0">
              <a:buNone/>
            </a:pPr>
            <a:r>
              <a:rPr lang="en-US" sz="3100" b="1" dirty="0">
                <a:solidFill>
                  <a:srgbClr val="102A43"/>
                </a:solidFill>
                <a:latin typeface="Inter" pitchFamily="34" charset="0"/>
                <a:ea typeface="Inter" pitchFamily="34" charset="-122"/>
                <a:cs typeface="Inter" pitchFamily="34" charset="-120"/>
              </a:rPr>
              <a:t>Generar Reportes de Horas</a:t>
            </a:r>
            <a:endParaRPr lang="en-US" sz="3100" dirty="0"/>
          </a:p>
        </p:txBody>
      </p:sp>
      <p:sp>
        <p:nvSpPr>
          <p:cNvPr id="11" name="Shape 9"/>
          <p:cNvSpPr/>
          <p:nvPr/>
        </p:nvSpPr>
        <p:spPr>
          <a:xfrm>
            <a:off x="694944" y="3758184"/>
            <a:ext cx="32004" cy="493776"/>
          </a:xfrm>
          <a:prstGeom prst="rect">
            <a:avLst/>
          </a:prstGeom>
          <a:solidFill>
            <a:srgbClr val="119E94"/>
          </a:solidFill>
          <a:ln w="12700">
            <a:solidFill>
              <a:srgbClr val="119E94">
                <a:alpha val="0"/>
              </a:srgbClr>
            </a:solidFill>
            <a:prstDash val="solid"/>
          </a:ln>
        </p:spPr>
      </p:sp>
      <p:sp>
        <p:nvSpPr>
          <p:cNvPr id="12" name="Text 10"/>
          <p:cNvSpPr/>
          <p:nvPr/>
        </p:nvSpPr>
        <p:spPr>
          <a:xfrm>
            <a:off x="886968" y="3758184"/>
            <a:ext cx="5330952" cy="448056"/>
          </a:xfrm>
          <a:prstGeom prst="rect">
            <a:avLst/>
          </a:prstGeom>
          <a:noFill/>
          <a:ln/>
        </p:spPr>
        <p:txBody>
          <a:bodyPr wrap="square" lIns="0" tIns="0" rIns="0" bIns="0" rtlCol="0" anchor="ctr">
            <a:normAutofit/>
          </a:bodyPr>
          <a:lstStyle/>
          <a:p>
            <a:pPr indent="0" marL="0">
              <a:buNone/>
            </a:pPr>
            <a:r>
              <a:rPr lang="en-US" sz="1700" b="1" dirty="0">
                <a:solidFill>
                  <a:srgbClr val="233A53"/>
                </a:solidFill>
                <a:latin typeface="Inter" pitchFamily="34" charset="0"/>
                <a:ea typeface="Inter" pitchFamily="34" charset="-122"/>
                <a:cs typeface="Inter" pitchFamily="34" charset="-120"/>
              </a:rPr>
              <a:t>Daniela Flores</a:t>
            </a:r>
            <a:endParaRPr lang="en-US" sz="1700" dirty="0"/>
          </a:p>
        </p:txBody>
      </p:sp>
      <p:sp>
        <p:nvSpPr>
          <p:cNvPr id="13" name="Text 11"/>
          <p:cNvSpPr/>
          <p:nvPr/>
        </p:nvSpPr>
        <p:spPr>
          <a:xfrm>
            <a:off x="685800" y="4407408"/>
            <a:ext cx="5623560" cy="347472"/>
          </a:xfrm>
          <a:prstGeom prst="rect">
            <a:avLst/>
          </a:prstGeom>
          <a:noFill/>
          <a:ln/>
        </p:spPr>
        <p:txBody>
          <a:bodyPr wrap="square" lIns="0" tIns="0" rIns="0" bIns="0" rtlCol="0" anchor="ctr">
            <a:normAutofit/>
          </a:bodyPr>
          <a:lstStyle/>
          <a:p>
            <a:pPr indent="0" marL="0">
              <a:buNone/>
            </a:pPr>
            <a:r>
              <a:rPr lang="en-US" sz="1400" dirty="0">
                <a:solidFill>
                  <a:srgbClr val="60748A"/>
                </a:solidFill>
                <a:latin typeface="Inter" pitchFamily="34" charset="0"/>
                <a:ea typeface="Inter" pitchFamily="34" charset="-122"/>
                <a:cs typeface="Inter" pitchFamily="34" charset="-120"/>
              </a:rPr>
              <a:t>Evaluación independiente del caso de uso</a:t>
            </a:r>
            <a:endParaRPr lang="en-US" sz="1400" dirty="0"/>
          </a:p>
        </p:txBody>
      </p:sp>
      <p:sp>
        <p:nvSpPr>
          <p:cNvPr id="14" name="Shape 12"/>
          <p:cNvSpPr/>
          <p:nvPr/>
        </p:nvSpPr>
        <p:spPr>
          <a:xfrm>
            <a:off x="658368" y="5257800"/>
            <a:ext cx="1837944" cy="987552"/>
          </a:xfrm>
          <a:prstGeom prst="roundRect">
            <a:avLst>
              <a:gd name="adj" fmla="val 15741"/>
            </a:avLst>
          </a:prstGeom>
          <a:solidFill>
            <a:srgbClr val="E7F7F3"/>
          </a:solidFill>
          <a:ln w="12700">
            <a:solidFill>
              <a:srgbClr val="E7F7F3">
                <a:alpha val="0"/>
              </a:srgbClr>
            </a:solidFill>
            <a:prstDash val="solid"/>
          </a:ln>
        </p:spPr>
      </p:sp>
      <p:sp>
        <p:nvSpPr>
          <p:cNvPr id="15" name="Text 13"/>
          <p:cNvSpPr/>
          <p:nvPr/>
        </p:nvSpPr>
        <p:spPr>
          <a:xfrm>
            <a:off x="841248"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119E94"/>
                </a:solidFill>
                <a:latin typeface="Inter" pitchFamily="34" charset="0"/>
                <a:ea typeface="Inter" pitchFamily="34" charset="-122"/>
                <a:cs typeface="Inter" pitchFamily="34" charset="-120"/>
              </a:rPr>
              <a:t>16 / 17</a:t>
            </a:r>
            <a:endParaRPr lang="en-US" sz="2500" dirty="0"/>
          </a:p>
        </p:txBody>
      </p:sp>
      <p:sp>
        <p:nvSpPr>
          <p:cNvPr id="16" name="Text 14"/>
          <p:cNvSpPr/>
          <p:nvPr/>
        </p:nvSpPr>
        <p:spPr>
          <a:xfrm>
            <a:off x="841248"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CHECKLIST</a:t>
            </a:r>
            <a:endParaRPr lang="en-US" sz="1080" dirty="0"/>
          </a:p>
        </p:txBody>
      </p:sp>
      <p:sp>
        <p:nvSpPr>
          <p:cNvPr id="17" name="Shape 15"/>
          <p:cNvSpPr/>
          <p:nvPr/>
        </p:nvSpPr>
        <p:spPr>
          <a:xfrm>
            <a:off x="2642616" y="5257800"/>
            <a:ext cx="1837944" cy="987552"/>
          </a:xfrm>
          <a:prstGeom prst="roundRect">
            <a:avLst>
              <a:gd name="adj" fmla="val 15741"/>
            </a:avLst>
          </a:prstGeom>
          <a:solidFill>
            <a:srgbClr val="E7F7F3"/>
          </a:solidFill>
          <a:ln w="12700">
            <a:solidFill>
              <a:srgbClr val="E7F7F3">
                <a:alpha val="0"/>
              </a:srgbClr>
            </a:solidFill>
            <a:prstDash val="solid"/>
          </a:ln>
        </p:spPr>
      </p:sp>
      <p:sp>
        <p:nvSpPr>
          <p:cNvPr id="18" name="Text 16"/>
          <p:cNvSpPr/>
          <p:nvPr/>
        </p:nvSpPr>
        <p:spPr>
          <a:xfrm>
            <a:off x="2825496"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119E94"/>
                </a:solidFill>
                <a:latin typeface="Inter" pitchFamily="34" charset="0"/>
                <a:ea typeface="Inter" pitchFamily="34" charset="-122"/>
                <a:cs typeface="Inter" pitchFamily="34" charset="-120"/>
              </a:rPr>
              <a:t>10 / 11</a:t>
            </a:r>
            <a:endParaRPr lang="en-US" sz="2500" dirty="0"/>
          </a:p>
        </p:txBody>
      </p:sp>
      <p:sp>
        <p:nvSpPr>
          <p:cNvPr id="19" name="Text 17"/>
          <p:cNvSpPr/>
          <p:nvPr/>
        </p:nvSpPr>
        <p:spPr>
          <a:xfrm>
            <a:off x="2825496"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CRITERIOS OK</a:t>
            </a:r>
            <a:endParaRPr lang="en-US" sz="1080" dirty="0"/>
          </a:p>
        </p:txBody>
      </p:sp>
      <p:sp>
        <p:nvSpPr>
          <p:cNvPr id="20" name="Shape 18"/>
          <p:cNvSpPr/>
          <p:nvPr/>
        </p:nvSpPr>
        <p:spPr>
          <a:xfrm>
            <a:off x="4626864" y="5257800"/>
            <a:ext cx="1837944" cy="987552"/>
          </a:xfrm>
          <a:prstGeom prst="roundRect">
            <a:avLst>
              <a:gd name="adj" fmla="val 15741"/>
            </a:avLst>
          </a:prstGeom>
          <a:solidFill>
            <a:srgbClr val="FFF0EF"/>
          </a:solidFill>
          <a:ln w="12700">
            <a:solidFill>
              <a:srgbClr val="FFF0EF">
                <a:alpha val="0"/>
              </a:srgbClr>
            </a:solidFill>
            <a:prstDash val="solid"/>
          </a:ln>
        </p:spPr>
      </p:sp>
      <p:sp>
        <p:nvSpPr>
          <p:cNvPr id="21" name="Text 19"/>
          <p:cNvSpPr/>
          <p:nvPr/>
        </p:nvSpPr>
        <p:spPr>
          <a:xfrm>
            <a:off x="4809744"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C95057"/>
                </a:solidFill>
                <a:latin typeface="Inter" pitchFamily="34" charset="0"/>
                <a:ea typeface="Inter" pitchFamily="34" charset="-122"/>
                <a:cs typeface="Inter" pitchFamily="34" charset="-120"/>
              </a:rPr>
              <a:t>1 NOK</a:t>
            </a:r>
            <a:endParaRPr lang="en-US" sz="2500" dirty="0"/>
          </a:p>
        </p:txBody>
      </p:sp>
      <p:sp>
        <p:nvSpPr>
          <p:cNvPr id="22" name="Text 20"/>
          <p:cNvSpPr/>
          <p:nvPr/>
        </p:nvSpPr>
        <p:spPr>
          <a:xfrm>
            <a:off x="4809744"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REALIZABLE</a:t>
            </a:r>
            <a:endParaRPr lang="en-US" sz="1080" dirty="0"/>
          </a:p>
        </p:txBody>
      </p:sp>
      <p:sp>
        <p:nvSpPr>
          <p:cNvPr id="23" name="Shape 21"/>
          <p:cNvSpPr/>
          <p:nvPr/>
        </p:nvSpPr>
        <p:spPr>
          <a:xfrm>
            <a:off x="7406640" y="1572768"/>
            <a:ext cx="3776472" cy="3794760"/>
          </a:xfrm>
          <a:prstGeom prst="roundRect">
            <a:avLst>
              <a:gd name="adj" fmla="val 4843"/>
            </a:avLst>
          </a:prstGeom>
          <a:solidFill>
            <a:srgbClr val="E7F7F3"/>
          </a:solidFill>
          <a:ln w="12700">
            <a:solidFill>
              <a:srgbClr val="E7F7F3">
                <a:alpha val="0"/>
              </a:srgbClr>
            </a:solidFill>
            <a:prstDash val="solid"/>
          </a:ln>
        </p:spPr>
      </p:sp>
      <p:sp>
        <p:nvSpPr>
          <p:cNvPr id="24" name="Shape 22"/>
          <p:cNvSpPr/>
          <p:nvPr/>
        </p:nvSpPr>
        <p:spPr>
          <a:xfrm>
            <a:off x="8385048" y="2304288"/>
            <a:ext cx="1984248" cy="1984248"/>
          </a:xfrm>
          <a:prstGeom prst="ellipse">
            <a:avLst/>
          </a:prstGeom>
          <a:solidFill>
            <a:srgbClr val="FFFFFF"/>
          </a:solidFill>
          <a:ln w="12700">
            <a:solidFill>
              <a:srgbClr val="FFFFFF">
                <a:alpha val="0"/>
              </a:srgbClr>
            </a:solidFill>
            <a:prstDash val="solid"/>
          </a:ln>
        </p:spPr>
      </p:sp>
      <p:sp>
        <p:nvSpPr>
          <p:cNvPr id="25" name="Shape 23"/>
          <p:cNvSpPr/>
          <p:nvPr/>
        </p:nvSpPr>
        <p:spPr>
          <a:xfrm>
            <a:off x="8695944" y="4233672"/>
            <a:ext cx="1371600" cy="0"/>
          </a:xfrm>
          <a:prstGeom prst="line">
            <a:avLst/>
          </a:prstGeom>
          <a:noFill/>
          <a:ln w="19050">
            <a:solidFill>
              <a:srgbClr val="E1EAF1"/>
            </a:solidFill>
            <a:prstDash val="solid"/>
            <a:headEnd type="none"/>
            <a:tailEnd type="none"/>
          </a:ln>
        </p:spPr>
      </p:sp>
      <p:sp>
        <p:nvSpPr>
          <p:cNvPr id="26" name="Shape 24"/>
          <p:cNvSpPr/>
          <p:nvPr/>
        </p:nvSpPr>
        <p:spPr>
          <a:xfrm>
            <a:off x="8796528" y="3145536"/>
            <a:ext cx="246888" cy="969264"/>
          </a:xfrm>
          <a:prstGeom prst="roundRect">
            <a:avLst>
              <a:gd name="adj" fmla="val 18519"/>
            </a:avLst>
          </a:prstGeom>
          <a:solidFill>
            <a:srgbClr val="119E94"/>
          </a:solidFill>
          <a:ln w="12700">
            <a:solidFill>
              <a:srgbClr val="119E94">
                <a:alpha val="0"/>
              </a:srgbClr>
            </a:solidFill>
            <a:prstDash val="solid"/>
          </a:ln>
        </p:spPr>
      </p:sp>
      <p:sp>
        <p:nvSpPr>
          <p:cNvPr id="27" name="Shape 25"/>
          <p:cNvSpPr/>
          <p:nvPr/>
        </p:nvSpPr>
        <p:spPr>
          <a:xfrm>
            <a:off x="9189720" y="2761488"/>
            <a:ext cx="246888" cy="1353312"/>
          </a:xfrm>
          <a:prstGeom prst="roundRect">
            <a:avLst>
              <a:gd name="adj" fmla="val 18519"/>
            </a:avLst>
          </a:prstGeom>
          <a:solidFill>
            <a:srgbClr val="119E94"/>
          </a:solidFill>
          <a:ln w="12700">
            <a:solidFill>
              <a:srgbClr val="119E94">
                <a:alpha val="0"/>
              </a:srgbClr>
            </a:solidFill>
            <a:prstDash val="solid"/>
          </a:ln>
        </p:spPr>
      </p:sp>
      <p:sp>
        <p:nvSpPr>
          <p:cNvPr id="28" name="Shape 26"/>
          <p:cNvSpPr/>
          <p:nvPr/>
        </p:nvSpPr>
        <p:spPr>
          <a:xfrm>
            <a:off x="9582912" y="2276856"/>
            <a:ext cx="246888" cy="1837944"/>
          </a:xfrm>
          <a:prstGeom prst="roundRect">
            <a:avLst>
              <a:gd name="adj" fmla="val 18519"/>
            </a:avLst>
          </a:prstGeom>
          <a:solidFill>
            <a:srgbClr val="119E94"/>
          </a:solidFill>
          <a:ln w="12700">
            <a:solidFill>
              <a:srgbClr val="119E94">
                <a:alpha val="0"/>
              </a:srgbClr>
            </a:solidFill>
            <a:prstDash val="solid"/>
          </a:ln>
        </p:spPr>
      </p:sp>
      <p:sp>
        <p:nvSpPr>
          <p:cNvPr id="29" name="Shape 27"/>
          <p:cNvSpPr/>
          <p:nvPr/>
        </p:nvSpPr>
        <p:spPr>
          <a:xfrm>
            <a:off x="8714232" y="3026664"/>
            <a:ext cx="1298448" cy="-393192"/>
          </a:xfrm>
          <a:prstGeom prst="line">
            <a:avLst/>
          </a:prstGeom>
          <a:noFill/>
          <a:ln w="27940">
            <a:solidFill>
              <a:srgbClr val="119E94"/>
            </a:solidFill>
            <a:prstDash val="solid"/>
            <a:headEnd type="none"/>
            <a:tailEnd type="none"/>
          </a:ln>
        </p:spPr>
      </p:sp>
      <p:sp>
        <p:nvSpPr>
          <p:cNvPr id="30" name="Shape 28"/>
          <p:cNvSpPr/>
          <p:nvPr/>
        </p:nvSpPr>
        <p:spPr>
          <a:xfrm>
            <a:off x="8138160" y="4809744"/>
            <a:ext cx="2286000" cy="329184"/>
          </a:xfrm>
          <a:prstGeom prst="roundRect">
            <a:avLst>
              <a:gd name="adj" fmla="val 41667"/>
            </a:avLst>
          </a:prstGeom>
          <a:solidFill>
            <a:srgbClr val="FFFFFF"/>
          </a:solidFill>
          <a:ln w="12700">
            <a:solidFill>
              <a:srgbClr val="FFFFFF">
                <a:alpha val="0"/>
              </a:srgbClr>
            </a:solidFill>
            <a:prstDash val="solid"/>
          </a:ln>
        </p:spPr>
      </p:sp>
      <p:sp>
        <p:nvSpPr>
          <p:cNvPr id="31" name="Text 29"/>
          <p:cNvSpPr/>
          <p:nvPr/>
        </p:nvSpPr>
        <p:spPr>
          <a:xfrm>
            <a:off x="8302752" y="4873752"/>
            <a:ext cx="1984248" cy="173736"/>
          </a:xfrm>
          <a:prstGeom prst="rect">
            <a:avLst/>
          </a:prstGeom>
          <a:noFill/>
          <a:ln/>
        </p:spPr>
        <p:txBody>
          <a:bodyPr wrap="square" lIns="0" tIns="0" rIns="0" bIns="0" rtlCol="0" anchor="ctr">
            <a:normAutofit/>
          </a:bodyPr>
          <a:lstStyle/>
          <a:p>
            <a:pPr algn="ctr" indent="0" marL="0">
              <a:buNone/>
            </a:pPr>
            <a:r>
              <a:rPr lang="en-US" sz="970" b="1" spc="70" kern="0" dirty="0">
                <a:solidFill>
                  <a:srgbClr val="119E94"/>
                </a:solidFill>
                <a:latin typeface="Inter" pitchFamily="34" charset="0"/>
                <a:ea typeface="Inter" pitchFamily="34" charset="-122"/>
                <a:cs typeface="Inter" pitchFamily="34" charset="-120"/>
              </a:rPr>
              <a:t>EVALUACIÓN INDIVIDUAL</a:t>
            </a:r>
            <a:endParaRPr lang="en-US" sz="9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119E94"/>
          </a:solidFill>
          <a:ln w="12700">
            <a:solidFill>
              <a:srgbClr val="119E94">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CU02</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119E94"/>
                </a:solidFill>
                <a:latin typeface="Inter" pitchFamily="34" charset="0"/>
                <a:ea typeface="Inter" pitchFamily="34" charset="-122"/>
                <a:cs typeface="Inter" pitchFamily="34" charset="-120"/>
              </a:rPr>
              <a:t>08</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119E94"/>
                </a:solidFill>
                <a:latin typeface="Inter" pitchFamily="34" charset="0"/>
                <a:ea typeface="Inter" pitchFamily="34" charset="-122"/>
                <a:cs typeface="Inter" pitchFamily="34" charset="-120"/>
              </a:rPr>
              <a:t>CU02   ·   LISTA DE COMPROBACIÓN</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Inter" pitchFamily="34" charset="0"/>
                <a:ea typeface="Inter" pitchFamily="34" charset="-122"/>
                <a:cs typeface="Inter" pitchFamily="34" charset="-120"/>
              </a:rPr>
              <a:t>La calidad alcanza 16 de 17 respuestas positivas</a:t>
            </a:r>
            <a:endParaRPr lang="en-US" sz="30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Tres áreas evaluadas por separado para este caso de uso.</a:t>
            </a:r>
            <a:endParaRPr lang="en-US" sz="1280" dirty="0"/>
          </a:p>
        </p:txBody>
      </p:sp>
      <p:sp>
        <p:nvSpPr>
          <p:cNvPr id="11" name="Shape 9"/>
          <p:cNvSpPr/>
          <p:nvPr/>
        </p:nvSpPr>
        <p:spPr>
          <a:xfrm>
            <a:off x="658368" y="2029968"/>
            <a:ext cx="3712464" cy="3557016"/>
          </a:xfrm>
          <a:prstGeom prst="roundRect">
            <a:avLst>
              <a:gd name="adj" fmla="val 5913"/>
            </a:avLst>
          </a:prstGeom>
          <a:solidFill>
            <a:srgbClr val="F7F9FC"/>
          </a:solidFill>
          <a:ln w="12700">
            <a:solidFill>
              <a:srgbClr val="F7F9FC">
                <a:alpha val="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8720" y="2276856"/>
            <a:ext cx="2724912" cy="2724912"/>
          </a:xfrm>
          <a:prstGeom prst="rect">
            <a:avLst/>
          </a:prstGeom>
        </p:spPr>
      </p:pic>
      <p:sp>
        <p:nvSpPr>
          <p:cNvPr id="13" name="Text 10"/>
          <p:cNvSpPr/>
          <p:nvPr/>
        </p:nvSpPr>
        <p:spPr>
          <a:xfrm>
            <a:off x="1920240" y="3072384"/>
            <a:ext cx="1316736" cy="512064"/>
          </a:xfrm>
          <a:prstGeom prst="rect">
            <a:avLst/>
          </a:prstGeom>
          <a:noFill/>
          <a:ln/>
        </p:spPr>
        <p:txBody>
          <a:bodyPr wrap="square" lIns="0" tIns="0" rIns="0" bIns="0" rtlCol="0" anchor="ctr">
            <a:normAutofit/>
          </a:bodyPr>
          <a:lstStyle/>
          <a:p>
            <a:pPr algn="ctr" indent="0" marL="0">
              <a:buNone/>
            </a:pPr>
            <a:r>
              <a:rPr lang="en-US" sz="3900" b="1" dirty="0">
                <a:solidFill>
                  <a:srgbClr val="102A43"/>
                </a:solidFill>
                <a:latin typeface="Inter" pitchFamily="34" charset="0"/>
                <a:ea typeface="Inter" pitchFamily="34" charset="-122"/>
                <a:cs typeface="Inter" pitchFamily="34" charset="-120"/>
              </a:rPr>
              <a:t>94%</a:t>
            </a:r>
            <a:endParaRPr lang="en-US" sz="3900" dirty="0"/>
          </a:p>
        </p:txBody>
      </p:sp>
      <p:sp>
        <p:nvSpPr>
          <p:cNvPr id="14" name="Text 11"/>
          <p:cNvSpPr/>
          <p:nvPr/>
        </p:nvSpPr>
        <p:spPr>
          <a:xfrm>
            <a:off x="1197864" y="5111496"/>
            <a:ext cx="2670048" cy="256032"/>
          </a:xfrm>
          <a:prstGeom prst="rect">
            <a:avLst/>
          </a:prstGeom>
          <a:noFill/>
          <a:ln/>
        </p:spPr>
        <p:txBody>
          <a:bodyPr wrap="square" lIns="0" tIns="0" rIns="0" bIns="0" rtlCol="0" anchor="ctr">
            <a:normAutofit/>
          </a:bodyPr>
          <a:lstStyle/>
          <a:p>
            <a:pPr algn="ctr" indent="0" marL="0">
              <a:buNone/>
            </a:pPr>
            <a:r>
              <a:rPr lang="en-US" sz="1350" dirty="0">
                <a:solidFill>
                  <a:srgbClr val="60748A"/>
                </a:solidFill>
                <a:latin typeface="Inter" pitchFamily="34" charset="0"/>
                <a:ea typeface="Inter" pitchFamily="34" charset="-122"/>
                <a:cs typeface="Inter" pitchFamily="34" charset="-120"/>
              </a:rPr>
              <a:t>16 respuestas «Sí»</a:t>
            </a:r>
            <a:endParaRPr lang="en-US" sz="1350" dirty="0"/>
          </a:p>
        </p:txBody>
      </p:sp>
      <p:sp>
        <p:nvSpPr>
          <p:cNvPr id="15" name="Shape 12"/>
          <p:cNvSpPr/>
          <p:nvPr/>
        </p:nvSpPr>
        <p:spPr>
          <a:xfrm>
            <a:off x="4608576" y="2029968"/>
            <a:ext cx="6922008" cy="3566160"/>
          </a:xfrm>
          <a:prstGeom prst="roundRect">
            <a:avLst>
              <a:gd name="adj" fmla="val 5897"/>
            </a:avLst>
          </a:prstGeom>
          <a:solidFill>
            <a:srgbClr val="FFFFFF"/>
          </a:solidFill>
          <a:ln w="10160">
            <a:solidFill>
              <a:srgbClr val="E1EAF1"/>
            </a:solidFill>
            <a:prstDash val="solid"/>
          </a:ln>
        </p:spPr>
      </p:sp>
      <p:sp>
        <p:nvSpPr>
          <p:cNvPr id="16" name="Text 13"/>
          <p:cNvSpPr/>
          <p:nvPr/>
        </p:nvSpPr>
        <p:spPr>
          <a:xfrm>
            <a:off x="4937760" y="2432304"/>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Contenido</a:t>
            </a:r>
            <a:endParaRPr lang="en-US" sz="1700" dirty="0"/>
          </a:p>
        </p:txBody>
      </p:sp>
      <p:sp>
        <p:nvSpPr>
          <p:cNvPr id="17" name="Text 14"/>
          <p:cNvSpPr/>
          <p:nvPr/>
        </p:nvSpPr>
        <p:spPr>
          <a:xfrm>
            <a:off x="4937760" y="2788920"/>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8 de 9 preguntas</a:t>
            </a:r>
            <a:endParaRPr lang="en-US" sz="1170" dirty="0"/>
          </a:p>
        </p:txBody>
      </p:sp>
      <p:sp>
        <p:nvSpPr>
          <p:cNvPr id="18" name="Shape 15"/>
          <p:cNvSpPr/>
          <p:nvPr/>
        </p:nvSpPr>
        <p:spPr>
          <a:xfrm>
            <a:off x="8005572" y="2542032"/>
            <a:ext cx="2147468" cy="182880"/>
          </a:xfrm>
          <a:prstGeom prst="roundRect">
            <a:avLst>
              <a:gd name="adj" fmla="val 50000"/>
            </a:avLst>
          </a:prstGeom>
          <a:solidFill>
            <a:srgbClr val="F2F6FB"/>
          </a:solidFill>
          <a:ln w="12700">
            <a:solidFill>
              <a:srgbClr val="F2F6FB">
                <a:alpha val="0"/>
              </a:srgbClr>
            </a:solidFill>
            <a:prstDash val="solid"/>
          </a:ln>
        </p:spPr>
      </p:sp>
      <p:sp>
        <p:nvSpPr>
          <p:cNvPr id="19" name="Shape 16"/>
          <p:cNvSpPr/>
          <p:nvPr/>
        </p:nvSpPr>
        <p:spPr>
          <a:xfrm>
            <a:off x="8005572" y="2542032"/>
            <a:ext cx="1908861" cy="182880"/>
          </a:xfrm>
          <a:prstGeom prst="roundRect">
            <a:avLst>
              <a:gd name="adj" fmla="val 50000"/>
            </a:avLst>
          </a:prstGeom>
          <a:solidFill>
            <a:srgbClr val="119E94"/>
          </a:solidFill>
          <a:ln w="12700">
            <a:solidFill>
              <a:srgbClr val="119E94">
                <a:alpha val="0"/>
              </a:srgbClr>
            </a:solidFill>
            <a:prstDash val="solid"/>
          </a:ln>
        </p:spPr>
      </p:sp>
      <p:sp>
        <p:nvSpPr>
          <p:cNvPr id="20" name="Text 17"/>
          <p:cNvSpPr/>
          <p:nvPr/>
        </p:nvSpPr>
        <p:spPr>
          <a:xfrm>
            <a:off x="10337109" y="2414016"/>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119E94"/>
                </a:solidFill>
                <a:latin typeface="Inter" pitchFamily="34" charset="0"/>
                <a:ea typeface="Inter" pitchFamily="34" charset="-122"/>
                <a:cs typeface="Inter" pitchFamily="34" charset="-120"/>
              </a:rPr>
              <a:t>89%</a:t>
            </a:r>
            <a:endParaRPr lang="en-US" sz="1900" dirty="0"/>
          </a:p>
        </p:txBody>
      </p:sp>
      <p:sp>
        <p:nvSpPr>
          <p:cNvPr id="21" name="Shape 18"/>
          <p:cNvSpPr/>
          <p:nvPr/>
        </p:nvSpPr>
        <p:spPr>
          <a:xfrm>
            <a:off x="4946904" y="3392424"/>
            <a:ext cx="6254496" cy="0"/>
          </a:xfrm>
          <a:prstGeom prst="line">
            <a:avLst/>
          </a:prstGeom>
          <a:noFill/>
          <a:ln w="8890">
            <a:solidFill>
              <a:srgbClr val="E1EAF1"/>
            </a:solidFill>
            <a:prstDash val="solid"/>
            <a:headEnd type="none"/>
            <a:tailEnd type="none"/>
          </a:ln>
        </p:spPr>
      </p:sp>
      <p:sp>
        <p:nvSpPr>
          <p:cNvPr id="22" name="Text 19"/>
          <p:cNvSpPr/>
          <p:nvPr/>
        </p:nvSpPr>
        <p:spPr>
          <a:xfrm>
            <a:off x="4937760" y="3593592"/>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Documentación</a:t>
            </a:r>
            <a:endParaRPr lang="en-US" sz="1700" dirty="0"/>
          </a:p>
        </p:txBody>
      </p:sp>
      <p:sp>
        <p:nvSpPr>
          <p:cNvPr id="23" name="Text 20"/>
          <p:cNvSpPr/>
          <p:nvPr/>
        </p:nvSpPr>
        <p:spPr>
          <a:xfrm>
            <a:off x="4937760" y="3950208"/>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5 de 5 preguntas</a:t>
            </a:r>
            <a:endParaRPr lang="en-US" sz="1170" dirty="0"/>
          </a:p>
        </p:txBody>
      </p:sp>
      <p:sp>
        <p:nvSpPr>
          <p:cNvPr id="24" name="Shape 21"/>
          <p:cNvSpPr/>
          <p:nvPr/>
        </p:nvSpPr>
        <p:spPr>
          <a:xfrm>
            <a:off x="8005572" y="3703320"/>
            <a:ext cx="2147468" cy="182880"/>
          </a:xfrm>
          <a:prstGeom prst="roundRect">
            <a:avLst>
              <a:gd name="adj" fmla="val 50000"/>
            </a:avLst>
          </a:prstGeom>
          <a:solidFill>
            <a:srgbClr val="F2F6FB"/>
          </a:solidFill>
          <a:ln w="12700">
            <a:solidFill>
              <a:srgbClr val="F2F6FB">
                <a:alpha val="0"/>
              </a:srgbClr>
            </a:solidFill>
            <a:prstDash val="solid"/>
          </a:ln>
        </p:spPr>
      </p:sp>
      <p:sp>
        <p:nvSpPr>
          <p:cNvPr id="25" name="Shape 22"/>
          <p:cNvSpPr/>
          <p:nvPr/>
        </p:nvSpPr>
        <p:spPr>
          <a:xfrm>
            <a:off x="8005572" y="3703320"/>
            <a:ext cx="2147468" cy="182880"/>
          </a:xfrm>
          <a:prstGeom prst="roundRect">
            <a:avLst>
              <a:gd name="adj" fmla="val 50000"/>
            </a:avLst>
          </a:prstGeom>
          <a:solidFill>
            <a:srgbClr val="119E94"/>
          </a:solidFill>
          <a:ln w="12700">
            <a:solidFill>
              <a:srgbClr val="119E94">
                <a:alpha val="0"/>
              </a:srgbClr>
            </a:solidFill>
            <a:prstDash val="solid"/>
          </a:ln>
        </p:spPr>
      </p:sp>
      <p:sp>
        <p:nvSpPr>
          <p:cNvPr id="26" name="Text 23"/>
          <p:cNvSpPr/>
          <p:nvPr/>
        </p:nvSpPr>
        <p:spPr>
          <a:xfrm>
            <a:off x="10337109" y="3575304"/>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119E94"/>
                </a:solidFill>
                <a:latin typeface="Inter" pitchFamily="34" charset="0"/>
                <a:ea typeface="Inter" pitchFamily="34" charset="-122"/>
                <a:cs typeface="Inter" pitchFamily="34" charset="-120"/>
              </a:rPr>
              <a:t>100%</a:t>
            </a:r>
            <a:endParaRPr lang="en-US" sz="1900" dirty="0"/>
          </a:p>
        </p:txBody>
      </p:sp>
      <p:sp>
        <p:nvSpPr>
          <p:cNvPr id="27" name="Shape 24"/>
          <p:cNvSpPr/>
          <p:nvPr/>
        </p:nvSpPr>
        <p:spPr>
          <a:xfrm>
            <a:off x="4946904" y="4544568"/>
            <a:ext cx="6254496" cy="0"/>
          </a:xfrm>
          <a:prstGeom prst="line">
            <a:avLst/>
          </a:prstGeom>
          <a:noFill/>
          <a:ln w="8890">
            <a:solidFill>
              <a:srgbClr val="E1EAF1"/>
            </a:solidFill>
            <a:prstDash val="solid"/>
            <a:headEnd type="none"/>
            <a:tailEnd type="none"/>
          </a:ln>
        </p:spPr>
      </p:sp>
      <p:sp>
        <p:nvSpPr>
          <p:cNvPr id="28" name="Text 25"/>
          <p:cNvSpPr/>
          <p:nvPr/>
        </p:nvSpPr>
        <p:spPr>
          <a:xfrm>
            <a:off x="4937760" y="4745736"/>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Nivel de acuerdo</a:t>
            </a:r>
            <a:endParaRPr lang="en-US" sz="1700" dirty="0"/>
          </a:p>
        </p:txBody>
      </p:sp>
      <p:sp>
        <p:nvSpPr>
          <p:cNvPr id="29" name="Text 26"/>
          <p:cNvSpPr/>
          <p:nvPr/>
        </p:nvSpPr>
        <p:spPr>
          <a:xfrm>
            <a:off x="4937760" y="5102352"/>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3 de 3 preguntas</a:t>
            </a:r>
            <a:endParaRPr lang="en-US" sz="1170" dirty="0"/>
          </a:p>
        </p:txBody>
      </p:sp>
      <p:sp>
        <p:nvSpPr>
          <p:cNvPr id="30" name="Shape 27"/>
          <p:cNvSpPr/>
          <p:nvPr/>
        </p:nvSpPr>
        <p:spPr>
          <a:xfrm>
            <a:off x="8005572" y="4855464"/>
            <a:ext cx="2147468" cy="182880"/>
          </a:xfrm>
          <a:prstGeom prst="roundRect">
            <a:avLst>
              <a:gd name="adj" fmla="val 50000"/>
            </a:avLst>
          </a:prstGeom>
          <a:solidFill>
            <a:srgbClr val="F2F6FB"/>
          </a:solidFill>
          <a:ln w="12700">
            <a:solidFill>
              <a:srgbClr val="F2F6FB">
                <a:alpha val="0"/>
              </a:srgbClr>
            </a:solidFill>
            <a:prstDash val="solid"/>
          </a:ln>
        </p:spPr>
      </p:sp>
      <p:sp>
        <p:nvSpPr>
          <p:cNvPr id="31" name="Shape 28"/>
          <p:cNvSpPr/>
          <p:nvPr/>
        </p:nvSpPr>
        <p:spPr>
          <a:xfrm>
            <a:off x="8005572" y="4855464"/>
            <a:ext cx="2147468" cy="182880"/>
          </a:xfrm>
          <a:prstGeom prst="roundRect">
            <a:avLst>
              <a:gd name="adj" fmla="val 50000"/>
            </a:avLst>
          </a:prstGeom>
          <a:solidFill>
            <a:srgbClr val="119E94"/>
          </a:solidFill>
          <a:ln w="12700">
            <a:solidFill>
              <a:srgbClr val="119E94">
                <a:alpha val="0"/>
              </a:srgbClr>
            </a:solidFill>
            <a:prstDash val="solid"/>
          </a:ln>
        </p:spPr>
      </p:sp>
      <p:sp>
        <p:nvSpPr>
          <p:cNvPr id="32" name="Text 29"/>
          <p:cNvSpPr/>
          <p:nvPr/>
        </p:nvSpPr>
        <p:spPr>
          <a:xfrm>
            <a:off x="10337109" y="4727448"/>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119E94"/>
                </a:solidFill>
                <a:latin typeface="Inter" pitchFamily="34" charset="0"/>
                <a:ea typeface="Inter" pitchFamily="34" charset="-122"/>
                <a:cs typeface="Inter" pitchFamily="34" charset="-120"/>
              </a:rPr>
              <a:t>100%</a:t>
            </a:r>
            <a:endParaRPr lang="en-US" sz="1900" dirty="0"/>
          </a:p>
        </p:txBody>
      </p:sp>
      <p:sp>
        <p:nvSpPr>
          <p:cNvPr id="33" name="Shape 30"/>
          <p:cNvSpPr/>
          <p:nvPr/>
        </p:nvSpPr>
        <p:spPr>
          <a:xfrm>
            <a:off x="685800" y="5815584"/>
            <a:ext cx="10817352" cy="402336"/>
          </a:xfrm>
          <a:prstGeom prst="roundRect">
            <a:avLst>
              <a:gd name="adj" fmla="val 27273"/>
            </a:avLst>
          </a:prstGeom>
          <a:solidFill>
            <a:srgbClr val="E7F7F3"/>
          </a:solidFill>
          <a:ln w="12700">
            <a:solidFill>
              <a:srgbClr val="E7F7F3">
                <a:alpha val="0"/>
              </a:srgbClr>
            </a:solidFill>
            <a:prstDash val="solid"/>
          </a:ln>
        </p:spPr>
      </p:sp>
      <p:sp>
        <p:nvSpPr>
          <p:cNvPr id="34" name="Text 31"/>
          <p:cNvSpPr/>
          <p:nvPr/>
        </p:nvSpPr>
        <p:spPr>
          <a:xfrm>
            <a:off x="950976" y="5888736"/>
            <a:ext cx="10168128" cy="192024"/>
          </a:xfrm>
          <a:prstGeom prst="rect">
            <a:avLst/>
          </a:prstGeom>
          <a:noFill/>
          <a:ln/>
        </p:spPr>
        <p:txBody>
          <a:bodyPr wrap="square" lIns="0" tIns="0" rIns="0" bIns="0" rtlCol="0" anchor="ctr">
            <a:normAutofit/>
          </a:bodyPr>
          <a:lstStyle/>
          <a:p>
            <a:pPr indent="0" marL="0">
              <a:buNone/>
            </a:pPr>
            <a:r>
              <a:rPr lang="en-US" sz="1310" b="1" dirty="0">
                <a:solidFill>
                  <a:srgbClr val="233A53"/>
                </a:solidFill>
                <a:latin typeface="Inter" pitchFamily="34" charset="0"/>
                <a:ea typeface="Inter" pitchFamily="34" charset="-122"/>
                <a:cs typeface="Inter" pitchFamily="34" charset="-120"/>
              </a:rPr>
              <a:t>Punto pendiente: proceso de verificación delimitado en tiempo y presupuesto.</a:t>
            </a:r>
            <a:endParaRPr lang="en-US" sz="13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119E94"/>
          </a:solidFill>
          <a:ln w="12700">
            <a:solidFill>
              <a:srgbClr val="119E94">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CU02</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119E94"/>
                </a:solidFill>
                <a:latin typeface="Inter" pitchFamily="34" charset="0"/>
                <a:ea typeface="Inter" pitchFamily="34" charset="-122"/>
                <a:cs typeface="Inter" pitchFamily="34" charset="-120"/>
              </a:rPr>
              <a:t>09</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119E94"/>
                </a:solidFill>
                <a:latin typeface="Inter" pitchFamily="34" charset="0"/>
                <a:ea typeface="Inter" pitchFamily="34" charset="-122"/>
                <a:cs typeface="Inter" pitchFamily="34" charset="-120"/>
              </a:rPr>
              <a:t>CU02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01–06: una base documental sólida</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La matriz identifica el estado y la evidencia de cada criterio.</a:t>
            </a:r>
            <a:endParaRPr lang="en-US" sz="1280" dirty="0"/>
          </a:p>
        </p:txBody>
      </p:sp>
      <p:sp>
        <p:nvSpPr>
          <p:cNvPr id="11" name="Shape 9"/>
          <p:cNvSpPr/>
          <p:nvPr/>
        </p:nvSpPr>
        <p:spPr>
          <a:xfrm>
            <a:off x="658368" y="2029968"/>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29968"/>
            <a:ext cx="44806" cy="1115568"/>
          </a:xfrm>
          <a:prstGeom prst="rect">
            <a:avLst/>
          </a:prstGeom>
          <a:solidFill>
            <a:srgbClr val="119E94"/>
          </a:solidFill>
          <a:ln w="12700">
            <a:solidFill>
              <a:srgbClr val="119E94">
                <a:alpha val="0"/>
              </a:srgbClr>
            </a:solidFill>
            <a:prstDash val="solid"/>
          </a:ln>
        </p:spPr>
      </p:sp>
      <p:sp>
        <p:nvSpPr>
          <p:cNvPr id="13" name="Text 11"/>
          <p:cNvSpPr/>
          <p:nvPr/>
        </p:nvSpPr>
        <p:spPr>
          <a:xfrm>
            <a:off x="822960"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01</a:t>
            </a:r>
            <a:endParaRPr lang="en-US" sz="920" dirty="0"/>
          </a:p>
        </p:txBody>
      </p:sp>
      <p:sp>
        <p:nvSpPr>
          <p:cNvPr id="14" name="Text 12"/>
          <p:cNvSpPr/>
          <p:nvPr/>
        </p:nvSpPr>
        <p:spPr>
          <a:xfrm>
            <a:off x="1252728"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Agreed</a:t>
            </a:r>
            <a:endParaRPr lang="en-US" sz="1600" dirty="0"/>
          </a:p>
        </p:txBody>
      </p:sp>
      <p:sp>
        <p:nvSpPr>
          <p:cNvPr id="15" name="Shape 13"/>
          <p:cNvSpPr/>
          <p:nvPr/>
        </p:nvSpPr>
        <p:spPr>
          <a:xfrm>
            <a:off x="5294376"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Entrevista, minuta y aceptación del prototipo no funcional.</a:t>
            </a:r>
            <a:endParaRPr lang="en-US" sz="1240" dirty="0"/>
          </a:p>
        </p:txBody>
      </p:sp>
      <p:sp>
        <p:nvSpPr>
          <p:cNvPr id="18" name="Shape 16"/>
          <p:cNvSpPr/>
          <p:nvPr/>
        </p:nvSpPr>
        <p:spPr>
          <a:xfrm>
            <a:off x="658368" y="3346704"/>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58368" y="3346704"/>
            <a:ext cx="44806" cy="1115568"/>
          </a:xfrm>
          <a:prstGeom prst="rect">
            <a:avLst/>
          </a:prstGeom>
          <a:solidFill>
            <a:srgbClr val="119E94"/>
          </a:solidFill>
          <a:ln w="12700">
            <a:solidFill>
              <a:srgbClr val="119E94">
                <a:alpha val="0"/>
              </a:srgbClr>
            </a:solidFill>
            <a:prstDash val="solid"/>
          </a:ln>
        </p:spPr>
      </p:sp>
      <p:sp>
        <p:nvSpPr>
          <p:cNvPr id="20" name="Text 18"/>
          <p:cNvSpPr/>
          <p:nvPr/>
        </p:nvSpPr>
        <p:spPr>
          <a:xfrm>
            <a:off x="822960"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02</a:t>
            </a:r>
            <a:endParaRPr lang="en-US" sz="920" dirty="0"/>
          </a:p>
        </p:txBody>
      </p:sp>
      <p:sp>
        <p:nvSpPr>
          <p:cNvPr id="21" name="Text 19"/>
          <p:cNvSpPr/>
          <p:nvPr/>
        </p:nvSpPr>
        <p:spPr>
          <a:xfrm>
            <a:off x="1252728"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Ranked</a:t>
            </a:r>
            <a:endParaRPr lang="en-US" sz="1600" dirty="0"/>
          </a:p>
        </p:txBody>
      </p:sp>
      <p:sp>
        <p:nvSpPr>
          <p:cNvPr id="22" name="Shape 20"/>
          <p:cNvSpPr/>
          <p:nvPr/>
        </p:nvSpPr>
        <p:spPr>
          <a:xfrm>
            <a:off x="5294376"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5367528"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841248"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Prioridad alta definida en la descripción del caso.</a:t>
            </a:r>
            <a:endParaRPr lang="en-US" sz="1240" dirty="0"/>
          </a:p>
        </p:txBody>
      </p:sp>
      <p:sp>
        <p:nvSpPr>
          <p:cNvPr id="25" name="Shape 23"/>
          <p:cNvSpPr/>
          <p:nvPr/>
        </p:nvSpPr>
        <p:spPr>
          <a:xfrm>
            <a:off x="658368" y="4663440"/>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4663440"/>
            <a:ext cx="44806" cy="1115568"/>
          </a:xfrm>
          <a:prstGeom prst="rect">
            <a:avLst/>
          </a:prstGeom>
          <a:solidFill>
            <a:srgbClr val="119E94"/>
          </a:solidFill>
          <a:ln w="12700">
            <a:solidFill>
              <a:srgbClr val="119E94">
                <a:alpha val="0"/>
              </a:srgbClr>
            </a:solidFill>
            <a:prstDash val="solid"/>
          </a:ln>
        </p:spPr>
      </p:sp>
      <p:sp>
        <p:nvSpPr>
          <p:cNvPr id="27" name="Text 25"/>
          <p:cNvSpPr/>
          <p:nvPr/>
        </p:nvSpPr>
        <p:spPr>
          <a:xfrm>
            <a:off x="822960"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03</a:t>
            </a:r>
            <a:endParaRPr lang="en-US" sz="920" dirty="0"/>
          </a:p>
        </p:txBody>
      </p:sp>
      <p:sp>
        <p:nvSpPr>
          <p:cNvPr id="28" name="Text 26"/>
          <p:cNvSpPr/>
          <p:nvPr/>
        </p:nvSpPr>
        <p:spPr>
          <a:xfrm>
            <a:off x="1252728"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Unambiguos</a:t>
            </a:r>
            <a:endParaRPr lang="en-US" sz="1600" dirty="0"/>
          </a:p>
        </p:txBody>
      </p:sp>
      <p:sp>
        <p:nvSpPr>
          <p:cNvPr id="29" name="Shape 27"/>
          <p:cNvSpPr/>
          <p:nvPr/>
        </p:nvSpPr>
        <p:spPr>
          <a:xfrm>
            <a:off x="5294376"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Lenguaje claro; tutor y equipo comparten interpretación.</a:t>
            </a:r>
            <a:endParaRPr lang="en-US" sz="1240" dirty="0"/>
          </a:p>
        </p:txBody>
      </p:sp>
      <p:sp>
        <p:nvSpPr>
          <p:cNvPr id="32" name="Shape 30"/>
          <p:cNvSpPr/>
          <p:nvPr/>
        </p:nvSpPr>
        <p:spPr>
          <a:xfrm>
            <a:off x="6217920" y="20299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17920" y="2029968"/>
            <a:ext cx="44806" cy="1115568"/>
          </a:xfrm>
          <a:prstGeom prst="rect">
            <a:avLst/>
          </a:prstGeom>
          <a:solidFill>
            <a:srgbClr val="119E94"/>
          </a:solidFill>
          <a:ln w="12700">
            <a:solidFill>
              <a:srgbClr val="119E94">
                <a:alpha val="0"/>
              </a:srgbClr>
            </a:solidFill>
            <a:prstDash val="solid"/>
          </a:ln>
        </p:spPr>
      </p:sp>
      <p:sp>
        <p:nvSpPr>
          <p:cNvPr id="34" name="Text 32"/>
          <p:cNvSpPr/>
          <p:nvPr/>
        </p:nvSpPr>
        <p:spPr>
          <a:xfrm>
            <a:off x="6382512"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04</a:t>
            </a:r>
            <a:endParaRPr lang="en-US" sz="920" dirty="0"/>
          </a:p>
        </p:txBody>
      </p:sp>
      <p:sp>
        <p:nvSpPr>
          <p:cNvPr id="35" name="Text 33"/>
          <p:cNvSpPr/>
          <p:nvPr/>
        </p:nvSpPr>
        <p:spPr>
          <a:xfrm>
            <a:off x="6812280"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Valid and up-to date</a:t>
            </a:r>
            <a:endParaRPr lang="en-US" sz="1600" dirty="0"/>
          </a:p>
        </p:txBody>
      </p:sp>
      <p:sp>
        <p:nvSpPr>
          <p:cNvPr id="36" name="Shape 34"/>
          <p:cNvSpPr/>
          <p:nvPr/>
        </p:nvSpPr>
        <p:spPr>
          <a:xfrm>
            <a:off x="10853928"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27080"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400800"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Marcado OK, pero el feedback del cliente sigue pendiente.</a:t>
            </a:r>
            <a:endParaRPr lang="en-US" sz="1240" dirty="0"/>
          </a:p>
        </p:txBody>
      </p:sp>
      <p:sp>
        <p:nvSpPr>
          <p:cNvPr id="39" name="Shape 37"/>
          <p:cNvSpPr/>
          <p:nvPr/>
        </p:nvSpPr>
        <p:spPr>
          <a:xfrm>
            <a:off x="6217920" y="3346704"/>
            <a:ext cx="5285232" cy="1115568"/>
          </a:xfrm>
          <a:prstGeom prst="roundRect">
            <a:avLst>
              <a:gd name="adj" fmla="val 9836"/>
            </a:avLst>
          </a:prstGeom>
          <a:solidFill>
            <a:srgbClr val="FFFFFF"/>
          </a:solidFill>
          <a:ln w="10160">
            <a:solidFill>
              <a:srgbClr val="E1EAF1"/>
            </a:solidFill>
            <a:prstDash val="solid"/>
          </a:ln>
        </p:spPr>
      </p:sp>
      <p:sp>
        <p:nvSpPr>
          <p:cNvPr id="40" name="Shape 38"/>
          <p:cNvSpPr/>
          <p:nvPr/>
        </p:nvSpPr>
        <p:spPr>
          <a:xfrm>
            <a:off x="6217920" y="3346704"/>
            <a:ext cx="44806" cy="1115568"/>
          </a:xfrm>
          <a:prstGeom prst="rect">
            <a:avLst/>
          </a:prstGeom>
          <a:solidFill>
            <a:srgbClr val="119E94"/>
          </a:solidFill>
          <a:ln w="12700">
            <a:solidFill>
              <a:srgbClr val="119E94">
                <a:alpha val="0"/>
              </a:srgbClr>
            </a:solidFill>
            <a:prstDash val="solid"/>
          </a:ln>
        </p:spPr>
      </p:sp>
      <p:sp>
        <p:nvSpPr>
          <p:cNvPr id="41" name="Text 39"/>
          <p:cNvSpPr/>
          <p:nvPr/>
        </p:nvSpPr>
        <p:spPr>
          <a:xfrm>
            <a:off x="6382512"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05</a:t>
            </a:r>
            <a:endParaRPr lang="en-US" sz="920" dirty="0"/>
          </a:p>
        </p:txBody>
      </p:sp>
      <p:sp>
        <p:nvSpPr>
          <p:cNvPr id="42" name="Text 40"/>
          <p:cNvSpPr/>
          <p:nvPr/>
        </p:nvSpPr>
        <p:spPr>
          <a:xfrm>
            <a:off x="6812280"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Correct</a:t>
            </a:r>
            <a:endParaRPr lang="en-US" sz="1600" dirty="0"/>
          </a:p>
        </p:txBody>
      </p:sp>
      <p:sp>
        <p:nvSpPr>
          <p:cNvPr id="43" name="Shape 41"/>
          <p:cNvSpPr/>
          <p:nvPr/>
        </p:nvSpPr>
        <p:spPr>
          <a:xfrm>
            <a:off x="10853928"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44" name="Text 42"/>
          <p:cNvSpPr/>
          <p:nvPr/>
        </p:nvSpPr>
        <p:spPr>
          <a:xfrm>
            <a:off x="10927080"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45" name="Text 43"/>
          <p:cNvSpPr/>
          <p:nvPr/>
        </p:nvSpPr>
        <p:spPr>
          <a:xfrm>
            <a:off x="6400800"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Alineación con los objetivos y necesidades del cliente.</a:t>
            </a:r>
            <a:endParaRPr lang="en-US" sz="1240" dirty="0"/>
          </a:p>
        </p:txBody>
      </p:sp>
      <p:sp>
        <p:nvSpPr>
          <p:cNvPr id="46" name="Shape 44"/>
          <p:cNvSpPr/>
          <p:nvPr/>
        </p:nvSpPr>
        <p:spPr>
          <a:xfrm>
            <a:off x="6217920" y="4663440"/>
            <a:ext cx="5285232" cy="1115568"/>
          </a:xfrm>
          <a:prstGeom prst="roundRect">
            <a:avLst>
              <a:gd name="adj" fmla="val 9836"/>
            </a:avLst>
          </a:prstGeom>
          <a:solidFill>
            <a:srgbClr val="FFFFFF"/>
          </a:solidFill>
          <a:ln w="10160">
            <a:solidFill>
              <a:srgbClr val="E1EAF1"/>
            </a:solidFill>
            <a:prstDash val="solid"/>
          </a:ln>
        </p:spPr>
      </p:sp>
      <p:sp>
        <p:nvSpPr>
          <p:cNvPr id="47" name="Shape 45"/>
          <p:cNvSpPr/>
          <p:nvPr/>
        </p:nvSpPr>
        <p:spPr>
          <a:xfrm>
            <a:off x="6217920" y="4663440"/>
            <a:ext cx="44806" cy="1115568"/>
          </a:xfrm>
          <a:prstGeom prst="rect">
            <a:avLst/>
          </a:prstGeom>
          <a:solidFill>
            <a:srgbClr val="119E94"/>
          </a:solidFill>
          <a:ln w="12700">
            <a:solidFill>
              <a:srgbClr val="119E94">
                <a:alpha val="0"/>
              </a:srgbClr>
            </a:solidFill>
            <a:prstDash val="solid"/>
          </a:ln>
        </p:spPr>
      </p:sp>
      <p:sp>
        <p:nvSpPr>
          <p:cNvPr id="48" name="Text 46"/>
          <p:cNvSpPr/>
          <p:nvPr/>
        </p:nvSpPr>
        <p:spPr>
          <a:xfrm>
            <a:off x="6382512"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06</a:t>
            </a:r>
            <a:endParaRPr lang="en-US" sz="920" dirty="0"/>
          </a:p>
        </p:txBody>
      </p:sp>
      <p:sp>
        <p:nvSpPr>
          <p:cNvPr id="49" name="Text 47"/>
          <p:cNvSpPr/>
          <p:nvPr/>
        </p:nvSpPr>
        <p:spPr>
          <a:xfrm>
            <a:off x="6812280"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Consisten</a:t>
            </a:r>
            <a:endParaRPr lang="en-US" sz="1600" dirty="0"/>
          </a:p>
        </p:txBody>
      </p:sp>
      <p:sp>
        <p:nvSpPr>
          <p:cNvPr id="50" name="Shape 48"/>
          <p:cNvSpPr/>
          <p:nvPr/>
        </p:nvSpPr>
        <p:spPr>
          <a:xfrm>
            <a:off x="10853928"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51" name="Text 49"/>
          <p:cNvSpPr/>
          <p:nvPr/>
        </p:nvSpPr>
        <p:spPr>
          <a:xfrm>
            <a:off x="10927080"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52" name="Text 50"/>
          <p:cNvSpPr/>
          <p:nvPr/>
        </p:nvSpPr>
        <p:spPr>
          <a:xfrm>
            <a:off x="6400800"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Modelo y términos definidos; hay palabras repetitivas.</a:t>
            </a:r>
            <a:endParaRPr lang="en-US" sz="1240" dirty="0"/>
          </a:p>
        </p:txBody>
      </p:sp>
      <p:sp>
        <p:nvSpPr>
          <p:cNvPr id="53" name="Shape 51"/>
          <p:cNvSpPr/>
          <p:nvPr/>
        </p:nvSpPr>
        <p:spPr>
          <a:xfrm>
            <a:off x="667512" y="6089904"/>
            <a:ext cx="10789920" cy="256032"/>
          </a:xfrm>
          <a:prstGeom prst="roundRect">
            <a:avLst>
              <a:gd name="adj" fmla="val 28571"/>
            </a:avLst>
          </a:prstGeom>
          <a:solidFill>
            <a:srgbClr val="E7F7F3"/>
          </a:solidFill>
          <a:ln w="12700">
            <a:solidFill>
              <a:srgbClr val="E7F7F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119E94"/>
          </a:solidFill>
          <a:ln w="12700">
            <a:solidFill>
              <a:srgbClr val="119E94">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CU02</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119E94"/>
                </a:solidFill>
                <a:latin typeface="Inter" pitchFamily="34" charset="0"/>
                <a:ea typeface="Inter" pitchFamily="34" charset="-122"/>
                <a:cs typeface="Inter" pitchFamily="34" charset="-120"/>
              </a:rPr>
              <a:t>10</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119E94"/>
                </a:solidFill>
                <a:latin typeface="Inter" pitchFamily="34" charset="0"/>
                <a:ea typeface="Inter" pitchFamily="34" charset="-122"/>
                <a:cs typeface="Inter" pitchFamily="34" charset="-120"/>
              </a:rPr>
              <a:t>CU02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07–11: la viabilidad queda pendiente</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Un criterio NOK y observaciones de seguimiento en otros criterios.</a:t>
            </a:r>
            <a:endParaRPr lang="en-US" sz="1280" dirty="0"/>
          </a:p>
        </p:txBody>
      </p:sp>
      <p:sp>
        <p:nvSpPr>
          <p:cNvPr id="11" name="Shape 9"/>
          <p:cNvSpPr/>
          <p:nvPr/>
        </p:nvSpPr>
        <p:spPr>
          <a:xfrm>
            <a:off x="658368" y="2057400"/>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57400"/>
            <a:ext cx="44806" cy="1115568"/>
          </a:xfrm>
          <a:prstGeom prst="rect">
            <a:avLst/>
          </a:prstGeom>
          <a:solidFill>
            <a:srgbClr val="119E94"/>
          </a:solidFill>
          <a:ln w="12700">
            <a:solidFill>
              <a:srgbClr val="119E94">
                <a:alpha val="0"/>
              </a:srgbClr>
            </a:solidFill>
            <a:prstDash val="solid"/>
          </a:ln>
        </p:spPr>
      </p:sp>
      <p:sp>
        <p:nvSpPr>
          <p:cNvPr id="13" name="Text 11"/>
          <p:cNvSpPr/>
          <p:nvPr/>
        </p:nvSpPr>
        <p:spPr>
          <a:xfrm>
            <a:off x="822960"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07</a:t>
            </a:r>
            <a:endParaRPr lang="en-US" sz="920" dirty="0"/>
          </a:p>
        </p:txBody>
      </p:sp>
      <p:sp>
        <p:nvSpPr>
          <p:cNvPr id="14" name="Text 12"/>
          <p:cNvSpPr/>
          <p:nvPr/>
        </p:nvSpPr>
        <p:spPr>
          <a:xfrm>
            <a:off x="1252728"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Verifiable</a:t>
            </a:r>
            <a:endParaRPr lang="en-US" sz="1600" dirty="0"/>
          </a:p>
        </p:txBody>
      </p:sp>
      <p:sp>
        <p:nvSpPr>
          <p:cNvPr id="15" name="Shape 13"/>
          <p:cNvSpPr/>
          <p:nvPr/>
        </p:nvSpPr>
        <p:spPr>
          <a:xfrm>
            <a:off x="5294376"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Requisito medible; faltan casos de prueba.</a:t>
            </a:r>
            <a:endParaRPr lang="en-US" sz="1240" dirty="0"/>
          </a:p>
        </p:txBody>
      </p:sp>
      <p:sp>
        <p:nvSpPr>
          <p:cNvPr id="18" name="Shape 16"/>
          <p:cNvSpPr/>
          <p:nvPr/>
        </p:nvSpPr>
        <p:spPr>
          <a:xfrm>
            <a:off x="6208776" y="2057400"/>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208776" y="2057400"/>
            <a:ext cx="44806" cy="1115568"/>
          </a:xfrm>
          <a:prstGeom prst="rect">
            <a:avLst/>
          </a:prstGeom>
          <a:solidFill>
            <a:srgbClr val="119E94"/>
          </a:solidFill>
          <a:ln w="12700">
            <a:solidFill>
              <a:srgbClr val="119E94">
                <a:alpha val="0"/>
              </a:srgbClr>
            </a:solidFill>
            <a:prstDash val="solid"/>
          </a:ln>
        </p:spPr>
      </p:sp>
      <p:sp>
        <p:nvSpPr>
          <p:cNvPr id="20" name="Text 18"/>
          <p:cNvSpPr/>
          <p:nvPr/>
        </p:nvSpPr>
        <p:spPr>
          <a:xfrm>
            <a:off x="6373368"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09</a:t>
            </a:r>
            <a:endParaRPr lang="en-US" sz="920" dirty="0"/>
          </a:p>
        </p:txBody>
      </p:sp>
      <p:sp>
        <p:nvSpPr>
          <p:cNvPr id="21" name="Text 19"/>
          <p:cNvSpPr/>
          <p:nvPr/>
        </p:nvSpPr>
        <p:spPr>
          <a:xfrm>
            <a:off x="6803136"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Traceable</a:t>
            </a:r>
            <a:endParaRPr lang="en-US" sz="1600" dirty="0"/>
          </a:p>
        </p:txBody>
      </p:sp>
      <p:sp>
        <p:nvSpPr>
          <p:cNvPr id="22" name="Shape 20"/>
          <p:cNvSpPr/>
          <p:nvPr/>
        </p:nvSpPr>
        <p:spPr>
          <a:xfrm>
            <a:off x="10844784"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10917936"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6391656"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Origen, matrices de trazabilidad e identificador único.</a:t>
            </a:r>
            <a:endParaRPr lang="en-US" sz="1240" dirty="0"/>
          </a:p>
        </p:txBody>
      </p:sp>
      <p:sp>
        <p:nvSpPr>
          <p:cNvPr id="25" name="Shape 23"/>
          <p:cNvSpPr/>
          <p:nvPr/>
        </p:nvSpPr>
        <p:spPr>
          <a:xfrm>
            <a:off x="658368" y="3401568"/>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3401568"/>
            <a:ext cx="44806" cy="1115568"/>
          </a:xfrm>
          <a:prstGeom prst="rect">
            <a:avLst/>
          </a:prstGeom>
          <a:solidFill>
            <a:srgbClr val="119E94"/>
          </a:solidFill>
          <a:ln w="12700">
            <a:solidFill>
              <a:srgbClr val="119E94">
                <a:alpha val="0"/>
              </a:srgbClr>
            </a:solidFill>
            <a:prstDash val="solid"/>
          </a:ln>
        </p:spPr>
      </p:sp>
      <p:sp>
        <p:nvSpPr>
          <p:cNvPr id="27" name="Text 25"/>
          <p:cNvSpPr/>
          <p:nvPr/>
        </p:nvSpPr>
        <p:spPr>
          <a:xfrm>
            <a:off x="822960"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10</a:t>
            </a:r>
            <a:endParaRPr lang="en-US" sz="920" dirty="0"/>
          </a:p>
        </p:txBody>
      </p:sp>
      <p:sp>
        <p:nvSpPr>
          <p:cNvPr id="28" name="Text 26"/>
          <p:cNvSpPr/>
          <p:nvPr/>
        </p:nvSpPr>
        <p:spPr>
          <a:xfrm>
            <a:off x="1252728"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Complete</a:t>
            </a:r>
            <a:endParaRPr lang="en-US" sz="1600" dirty="0"/>
          </a:p>
        </p:txBody>
      </p:sp>
      <p:sp>
        <p:nvSpPr>
          <p:cNvPr id="29" name="Shape 27"/>
          <p:cNvSpPr/>
          <p:nvPr/>
        </p:nvSpPr>
        <p:spPr>
          <a:xfrm>
            <a:off x="5294376"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Entradas, salidas, precondiciones y postcondiciones.</a:t>
            </a:r>
            <a:endParaRPr lang="en-US" sz="1240" dirty="0"/>
          </a:p>
        </p:txBody>
      </p:sp>
      <p:sp>
        <p:nvSpPr>
          <p:cNvPr id="32" name="Shape 30"/>
          <p:cNvSpPr/>
          <p:nvPr/>
        </p:nvSpPr>
        <p:spPr>
          <a:xfrm>
            <a:off x="6208776" y="34015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08776" y="3401568"/>
            <a:ext cx="44806" cy="1115568"/>
          </a:xfrm>
          <a:prstGeom prst="rect">
            <a:avLst/>
          </a:prstGeom>
          <a:solidFill>
            <a:srgbClr val="119E94"/>
          </a:solidFill>
          <a:ln w="12700">
            <a:solidFill>
              <a:srgbClr val="119E94">
                <a:alpha val="0"/>
              </a:srgbClr>
            </a:solidFill>
            <a:prstDash val="solid"/>
          </a:ln>
        </p:spPr>
      </p:sp>
      <p:sp>
        <p:nvSpPr>
          <p:cNvPr id="34" name="Text 32"/>
          <p:cNvSpPr/>
          <p:nvPr/>
        </p:nvSpPr>
        <p:spPr>
          <a:xfrm>
            <a:off x="6373368"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119E94"/>
                </a:solidFill>
                <a:latin typeface="Inter" pitchFamily="34" charset="0"/>
                <a:ea typeface="Inter" pitchFamily="34" charset="-122"/>
                <a:cs typeface="Inter" pitchFamily="34" charset="-120"/>
              </a:rPr>
              <a:t>11</a:t>
            </a:r>
            <a:endParaRPr lang="en-US" sz="920" dirty="0"/>
          </a:p>
        </p:txBody>
      </p:sp>
      <p:sp>
        <p:nvSpPr>
          <p:cNvPr id="35" name="Text 33"/>
          <p:cNvSpPr/>
          <p:nvPr/>
        </p:nvSpPr>
        <p:spPr>
          <a:xfrm>
            <a:off x="6803136"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Understandability</a:t>
            </a:r>
            <a:endParaRPr lang="en-US" sz="1600" dirty="0"/>
          </a:p>
        </p:txBody>
      </p:sp>
      <p:sp>
        <p:nvSpPr>
          <p:cNvPr id="36" name="Shape 34"/>
          <p:cNvSpPr/>
          <p:nvPr/>
        </p:nvSpPr>
        <p:spPr>
          <a:xfrm>
            <a:off x="10844784"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17936"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391656"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Cliente involucrado y términos respaldados por glosario.</a:t>
            </a:r>
            <a:endParaRPr lang="en-US" sz="1240" dirty="0"/>
          </a:p>
        </p:txBody>
      </p:sp>
      <p:sp>
        <p:nvSpPr>
          <p:cNvPr id="39" name="Shape 37"/>
          <p:cNvSpPr/>
          <p:nvPr/>
        </p:nvSpPr>
        <p:spPr>
          <a:xfrm>
            <a:off x="658368" y="4965192"/>
            <a:ext cx="10817352" cy="1280160"/>
          </a:xfrm>
          <a:prstGeom prst="roundRect">
            <a:avLst>
              <a:gd name="adj" fmla="val 12143"/>
            </a:avLst>
          </a:prstGeom>
          <a:solidFill>
            <a:srgbClr val="FFF0EF"/>
          </a:solidFill>
          <a:ln w="10160">
            <a:solidFill>
              <a:srgbClr val="F9D7D7"/>
            </a:solidFill>
            <a:prstDash val="solid"/>
          </a:ln>
        </p:spPr>
      </p:sp>
      <p:sp>
        <p:nvSpPr>
          <p:cNvPr id="40" name="Shape 38"/>
          <p:cNvSpPr/>
          <p:nvPr/>
        </p:nvSpPr>
        <p:spPr>
          <a:xfrm>
            <a:off x="941832" y="5285232"/>
            <a:ext cx="438912" cy="429768"/>
          </a:xfrm>
          <a:prstGeom prst="roundRect">
            <a:avLst>
              <a:gd name="adj" fmla="val 38298"/>
            </a:avLst>
          </a:prstGeom>
          <a:solidFill>
            <a:srgbClr val="FFFFFF"/>
          </a:solidFill>
          <a:ln w="12700">
            <a:solidFill>
              <a:srgbClr val="FFFFFF">
                <a:alpha val="0"/>
              </a:srgbClr>
            </a:solidFill>
            <a:prstDash val="solid"/>
          </a:ln>
        </p:spPr>
      </p:sp>
      <p:sp>
        <p:nvSpPr>
          <p:cNvPr id="41" name="Text 39"/>
          <p:cNvSpPr/>
          <p:nvPr/>
        </p:nvSpPr>
        <p:spPr>
          <a:xfrm>
            <a:off x="1065276" y="5394960"/>
            <a:ext cx="201168" cy="173736"/>
          </a:xfrm>
          <a:prstGeom prst="rect">
            <a:avLst/>
          </a:prstGeom>
          <a:noFill/>
          <a:ln/>
        </p:spPr>
        <p:txBody>
          <a:bodyPr wrap="square" lIns="0" tIns="0" rIns="0" bIns="0" rtlCol="0" anchor="ctr">
            <a:normAutofit/>
          </a:bodyPr>
          <a:lstStyle/>
          <a:p>
            <a:pPr algn="ctr" indent="0" marL="0">
              <a:buNone/>
            </a:pPr>
            <a:r>
              <a:rPr lang="en-US" sz="1500" b="1" dirty="0">
                <a:solidFill>
                  <a:srgbClr val="C95057"/>
                </a:solidFill>
                <a:latin typeface="Inter" pitchFamily="34" charset="0"/>
                <a:ea typeface="Inter" pitchFamily="34" charset="-122"/>
                <a:cs typeface="Inter" pitchFamily="34" charset="-120"/>
              </a:rPr>
              <a:t>!</a:t>
            </a:r>
            <a:endParaRPr lang="en-US" sz="1500" dirty="0"/>
          </a:p>
        </p:txBody>
      </p:sp>
      <p:sp>
        <p:nvSpPr>
          <p:cNvPr id="42" name="Text 40"/>
          <p:cNvSpPr/>
          <p:nvPr/>
        </p:nvSpPr>
        <p:spPr>
          <a:xfrm>
            <a:off x="1572768" y="5166360"/>
            <a:ext cx="6163056" cy="201168"/>
          </a:xfrm>
          <a:prstGeom prst="rect">
            <a:avLst/>
          </a:prstGeom>
          <a:noFill/>
          <a:ln/>
        </p:spPr>
        <p:txBody>
          <a:bodyPr wrap="square" lIns="0" tIns="0" rIns="0" bIns="0" rtlCol="0" anchor="ctr">
            <a:normAutofit/>
          </a:bodyPr>
          <a:lstStyle/>
          <a:p>
            <a:pPr indent="0" marL="0">
              <a:buNone/>
            </a:pPr>
            <a:r>
              <a:rPr lang="en-US" sz="1050" b="1" spc="140" kern="0" dirty="0">
                <a:solidFill>
                  <a:srgbClr val="C95057"/>
                </a:solidFill>
                <a:latin typeface="Inter" pitchFamily="34" charset="0"/>
                <a:ea typeface="Inter" pitchFamily="34" charset="-122"/>
                <a:cs typeface="Inter" pitchFamily="34" charset="-120"/>
              </a:rPr>
              <a:t>08  /  REALIZABLE</a:t>
            </a:r>
            <a:endParaRPr lang="en-US" sz="1050" dirty="0"/>
          </a:p>
        </p:txBody>
      </p:sp>
      <p:sp>
        <p:nvSpPr>
          <p:cNvPr id="43" name="Text 41"/>
          <p:cNvSpPr/>
          <p:nvPr/>
        </p:nvSpPr>
        <p:spPr>
          <a:xfrm>
            <a:off x="1572768" y="5458968"/>
            <a:ext cx="8796528" cy="402336"/>
          </a:xfrm>
          <a:prstGeom prst="rect">
            <a:avLst/>
          </a:prstGeom>
          <a:noFill/>
          <a:ln/>
        </p:spPr>
        <p:txBody>
          <a:bodyPr wrap="square" lIns="0" tIns="0" rIns="0" bIns="0" rtlCol="0" anchor="ctr">
            <a:normAutofit/>
          </a:bodyPr>
          <a:lstStyle/>
          <a:p>
            <a:pPr indent="0" marL="0">
              <a:buNone/>
            </a:pPr>
            <a:r>
              <a:rPr lang="en-US" sz="1980" b="1" dirty="0">
                <a:solidFill>
                  <a:srgbClr val="102A43"/>
                </a:solidFill>
                <a:latin typeface="Inter" pitchFamily="34" charset="0"/>
                <a:ea typeface="Inter" pitchFamily="34" charset="-122"/>
                <a:cs typeface="Inter" pitchFamily="34" charset="-120"/>
              </a:rPr>
              <a:t>NOK · Funcionalidad estimada, pero aún no desarrollada</a:t>
            </a:r>
            <a:endParaRPr lang="en-US" sz="1980" dirty="0"/>
          </a:p>
        </p:txBody>
      </p:sp>
      <p:sp>
        <p:nvSpPr>
          <p:cNvPr id="44" name="Shape 42"/>
          <p:cNvSpPr/>
          <p:nvPr/>
        </p:nvSpPr>
        <p:spPr>
          <a:xfrm>
            <a:off x="10241280" y="5340096"/>
            <a:ext cx="914400" cy="329184"/>
          </a:xfrm>
          <a:prstGeom prst="roundRect">
            <a:avLst>
              <a:gd name="adj" fmla="val 38889"/>
            </a:avLst>
          </a:prstGeom>
          <a:solidFill>
            <a:srgbClr val="FFFFFF"/>
          </a:solidFill>
          <a:ln w="12700">
            <a:solidFill>
              <a:srgbClr val="FFFFFF">
                <a:alpha val="0"/>
              </a:srgbClr>
            </a:solidFill>
            <a:prstDash val="solid"/>
          </a:ln>
        </p:spPr>
      </p:sp>
      <p:sp>
        <p:nvSpPr>
          <p:cNvPr id="45" name="Text 43"/>
          <p:cNvSpPr/>
          <p:nvPr/>
        </p:nvSpPr>
        <p:spPr>
          <a:xfrm>
            <a:off x="10314432" y="5390388"/>
            <a:ext cx="768096" cy="219456"/>
          </a:xfrm>
          <a:prstGeom prst="rect">
            <a:avLst/>
          </a:prstGeom>
          <a:noFill/>
          <a:ln/>
        </p:spPr>
        <p:txBody>
          <a:bodyPr wrap="square" lIns="0" tIns="0" rIns="0" bIns="0" rtlCol="0" anchor="ctr">
            <a:normAutofit/>
          </a:bodyPr>
          <a:lstStyle/>
          <a:p>
            <a:pPr algn="ctr" indent="0" marL="0">
              <a:buNone/>
            </a:pPr>
            <a:r>
              <a:rPr lang="en-US" sz="1000" b="1" dirty="0">
                <a:solidFill>
                  <a:srgbClr val="C95057"/>
                </a:solidFill>
                <a:latin typeface="Inter" pitchFamily="34" charset="0"/>
                <a:ea typeface="Inter" pitchFamily="34" charset="-122"/>
                <a:cs typeface="Inter" pitchFamily="34" charset="-120"/>
              </a:rPr>
              <a:t>1 NOK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F8633"/>
          </a:solidFill>
          <a:ln w="12700">
            <a:solidFill>
              <a:srgbClr val="DF8633">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CU03</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DF8633"/>
                </a:solidFill>
                <a:latin typeface="Inter" pitchFamily="34" charset="0"/>
                <a:ea typeface="Inter" pitchFamily="34" charset="-122"/>
                <a:cs typeface="Inter" pitchFamily="34" charset="-120"/>
              </a:rPr>
              <a:t>11</a:t>
            </a:r>
            <a:endParaRPr lang="en-US" sz="930" dirty="0"/>
          </a:p>
        </p:txBody>
      </p:sp>
      <p:sp>
        <p:nvSpPr>
          <p:cNvPr id="8" name="Text 6"/>
          <p:cNvSpPr/>
          <p:nvPr/>
        </p:nvSpPr>
        <p:spPr>
          <a:xfrm>
            <a:off x="640080" y="704088"/>
            <a:ext cx="6309360" cy="219456"/>
          </a:xfrm>
          <a:prstGeom prst="rect">
            <a:avLst/>
          </a:prstGeom>
          <a:noFill/>
          <a:ln/>
        </p:spPr>
        <p:txBody>
          <a:bodyPr wrap="square" lIns="0" tIns="0" rIns="0" bIns="0" rtlCol="0" anchor="ctr">
            <a:normAutofit/>
          </a:bodyPr>
          <a:lstStyle/>
          <a:p>
            <a:pPr indent="0" marL="0">
              <a:buNone/>
            </a:pPr>
            <a:r>
              <a:rPr lang="en-US" sz="1060" b="1" spc="140" kern="0" dirty="0">
                <a:solidFill>
                  <a:srgbClr val="DF8633"/>
                </a:solidFill>
                <a:latin typeface="Inter" pitchFamily="34" charset="0"/>
                <a:ea typeface="Inter" pitchFamily="34" charset="-122"/>
                <a:cs typeface="Inter" pitchFamily="34" charset="-120"/>
              </a:rPr>
              <a:t>EVALUACIÓN IREB   /   CU03</a:t>
            </a:r>
            <a:endParaRPr lang="en-US" sz="1060" dirty="0"/>
          </a:p>
        </p:txBody>
      </p:sp>
      <p:sp>
        <p:nvSpPr>
          <p:cNvPr id="9" name="Text 7"/>
          <p:cNvSpPr/>
          <p:nvPr/>
        </p:nvSpPr>
        <p:spPr>
          <a:xfrm>
            <a:off x="585216" y="1060704"/>
            <a:ext cx="4663440" cy="1097280"/>
          </a:xfrm>
          <a:prstGeom prst="rect">
            <a:avLst/>
          </a:prstGeom>
          <a:noFill/>
          <a:ln/>
        </p:spPr>
        <p:txBody>
          <a:bodyPr wrap="square" lIns="0" tIns="0" rIns="0" bIns="0" rtlCol="0" anchor="ctr">
            <a:normAutofit/>
          </a:bodyPr>
          <a:lstStyle/>
          <a:p>
            <a:pPr indent="0" marL="0">
              <a:buNone/>
            </a:pPr>
            <a:r>
              <a:rPr lang="en-US" sz="6800" b="1" dirty="0">
                <a:solidFill>
                  <a:srgbClr val="DF8633"/>
                </a:solidFill>
                <a:latin typeface="Inter" pitchFamily="34" charset="0"/>
                <a:ea typeface="Inter" pitchFamily="34" charset="-122"/>
                <a:cs typeface="Inter" pitchFamily="34" charset="-120"/>
              </a:rPr>
              <a:t>CU03</a:t>
            </a:r>
            <a:endParaRPr lang="en-US" sz="6800" dirty="0"/>
          </a:p>
        </p:txBody>
      </p:sp>
      <p:sp>
        <p:nvSpPr>
          <p:cNvPr id="10" name="Text 8"/>
          <p:cNvSpPr/>
          <p:nvPr/>
        </p:nvSpPr>
        <p:spPr>
          <a:xfrm>
            <a:off x="658368" y="2267712"/>
            <a:ext cx="6510528" cy="1179576"/>
          </a:xfrm>
          <a:prstGeom prst="rect">
            <a:avLst/>
          </a:prstGeom>
          <a:noFill/>
          <a:ln/>
        </p:spPr>
        <p:txBody>
          <a:bodyPr wrap="square" lIns="0" tIns="0" rIns="0" bIns="0" rtlCol="0" anchor="t">
            <a:normAutofit/>
          </a:bodyPr>
          <a:lstStyle/>
          <a:p>
            <a:pPr indent="0" marL="0">
              <a:buNone/>
            </a:pPr>
            <a:r>
              <a:rPr lang="en-US" sz="3100" b="1" dirty="0">
                <a:solidFill>
                  <a:srgbClr val="102A43"/>
                </a:solidFill>
                <a:latin typeface="Inter" pitchFamily="34" charset="0"/>
                <a:ea typeface="Inter" pitchFamily="34" charset="-122"/>
                <a:cs typeface="Inter" pitchFamily="34" charset="-120"/>
              </a:rPr>
              <a:t>Gestionar Códigos QR</a:t>
            </a:r>
            <a:endParaRPr lang="en-US" sz="3100" dirty="0"/>
          </a:p>
          <a:p>
            <a:pPr indent="0" marL="0">
              <a:buNone/>
            </a:pPr>
            <a:r>
              <a:rPr lang="en-US" sz="3100" b="1" dirty="0">
                <a:solidFill>
                  <a:srgbClr val="102A43"/>
                </a:solidFill>
                <a:latin typeface="Inter" pitchFamily="34" charset="0"/>
                <a:ea typeface="Inter" pitchFamily="34" charset="-122"/>
                <a:cs typeface="Inter" pitchFamily="34" charset="-120"/>
              </a:rPr>
              <a:t>del Personal</a:t>
            </a:r>
            <a:endParaRPr lang="en-US" sz="3100" dirty="0"/>
          </a:p>
        </p:txBody>
      </p:sp>
      <p:sp>
        <p:nvSpPr>
          <p:cNvPr id="11" name="Shape 9"/>
          <p:cNvSpPr/>
          <p:nvPr/>
        </p:nvSpPr>
        <p:spPr>
          <a:xfrm>
            <a:off x="694944" y="3758184"/>
            <a:ext cx="32004" cy="493776"/>
          </a:xfrm>
          <a:prstGeom prst="rect">
            <a:avLst/>
          </a:prstGeom>
          <a:solidFill>
            <a:srgbClr val="DF8633"/>
          </a:solidFill>
          <a:ln w="12700">
            <a:solidFill>
              <a:srgbClr val="DF8633">
                <a:alpha val="0"/>
              </a:srgbClr>
            </a:solidFill>
            <a:prstDash val="solid"/>
          </a:ln>
        </p:spPr>
      </p:sp>
      <p:sp>
        <p:nvSpPr>
          <p:cNvPr id="12" name="Text 10"/>
          <p:cNvSpPr/>
          <p:nvPr/>
        </p:nvSpPr>
        <p:spPr>
          <a:xfrm>
            <a:off x="886968" y="3758184"/>
            <a:ext cx="5330952" cy="448056"/>
          </a:xfrm>
          <a:prstGeom prst="rect">
            <a:avLst/>
          </a:prstGeom>
          <a:noFill/>
          <a:ln/>
        </p:spPr>
        <p:txBody>
          <a:bodyPr wrap="square" lIns="0" tIns="0" rIns="0" bIns="0" rtlCol="0" anchor="ctr">
            <a:normAutofit/>
          </a:bodyPr>
          <a:lstStyle/>
          <a:p>
            <a:pPr indent="0" marL="0">
              <a:buNone/>
            </a:pPr>
            <a:r>
              <a:rPr lang="en-US" sz="1700" b="1" dirty="0">
                <a:solidFill>
                  <a:srgbClr val="233A53"/>
                </a:solidFill>
                <a:latin typeface="Inter" pitchFamily="34" charset="0"/>
                <a:ea typeface="Inter" pitchFamily="34" charset="-122"/>
                <a:cs typeface="Inter" pitchFamily="34" charset="-120"/>
              </a:rPr>
              <a:t>Luciana Bolaños</a:t>
            </a:r>
            <a:endParaRPr lang="en-US" sz="1700" dirty="0"/>
          </a:p>
        </p:txBody>
      </p:sp>
      <p:sp>
        <p:nvSpPr>
          <p:cNvPr id="13" name="Text 11"/>
          <p:cNvSpPr/>
          <p:nvPr/>
        </p:nvSpPr>
        <p:spPr>
          <a:xfrm>
            <a:off x="685800" y="4407408"/>
            <a:ext cx="5623560" cy="347472"/>
          </a:xfrm>
          <a:prstGeom prst="rect">
            <a:avLst/>
          </a:prstGeom>
          <a:noFill/>
          <a:ln/>
        </p:spPr>
        <p:txBody>
          <a:bodyPr wrap="square" lIns="0" tIns="0" rIns="0" bIns="0" rtlCol="0" anchor="ctr">
            <a:normAutofit/>
          </a:bodyPr>
          <a:lstStyle/>
          <a:p>
            <a:pPr indent="0" marL="0">
              <a:buNone/>
            </a:pPr>
            <a:r>
              <a:rPr lang="en-US" sz="1400" dirty="0">
                <a:solidFill>
                  <a:srgbClr val="60748A"/>
                </a:solidFill>
                <a:latin typeface="Inter" pitchFamily="34" charset="0"/>
                <a:ea typeface="Inter" pitchFamily="34" charset="-122"/>
                <a:cs typeface="Inter" pitchFamily="34" charset="-120"/>
              </a:rPr>
              <a:t>Evaluación independiente del caso de uso</a:t>
            </a:r>
            <a:endParaRPr lang="en-US" sz="1400" dirty="0"/>
          </a:p>
        </p:txBody>
      </p:sp>
      <p:sp>
        <p:nvSpPr>
          <p:cNvPr id="14" name="Shape 12"/>
          <p:cNvSpPr/>
          <p:nvPr/>
        </p:nvSpPr>
        <p:spPr>
          <a:xfrm>
            <a:off x="658368" y="5257800"/>
            <a:ext cx="1837944" cy="987552"/>
          </a:xfrm>
          <a:prstGeom prst="roundRect">
            <a:avLst>
              <a:gd name="adj" fmla="val 15741"/>
            </a:avLst>
          </a:prstGeom>
          <a:solidFill>
            <a:srgbClr val="FFF1E4"/>
          </a:solidFill>
          <a:ln w="12700">
            <a:solidFill>
              <a:srgbClr val="FFF1E4">
                <a:alpha val="0"/>
              </a:srgbClr>
            </a:solidFill>
            <a:prstDash val="solid"/>
          </a:ln>
        </p:spPr>
      </p:sp>
      <p:sp>
        <p:nvSpPr>
          <p:cNvPr id="15" name="Text 13"/>
          <p:cNvSpPr/>
          <p:nvPr/>
        </p:nvSpPr>
        <p:spPr>
          <a:xfrm>
            <a:off x="841248"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DF8633"/>
                </a:solidFill>
                <a:latin typeface="Inter" pitchFamily="34" charset="0"/>
                <a:ea typeface="Inter" pitchFamily="34" charset="-122"/>
                <a:cs typeface="Inter" pitchFamily="34" charset="-120"/>
              </a:rPr>
              <a:t>16 / 17</a:t>
            </a:r>
            <a:endParaRPr lang="en-US" sz="2500" dirty="0"/>
          </a:p>
        </p:txBody>
      </p:sp>
      <p:sp>
        <p:nvSpPr>
          <p:cNvPr id="16" name="Text 14"/>
          <p:cNvSpPr/>
          <p:nvPr/>
        </p:nvSpPr>
        <p:spPr>
          <a:xfrm>
            <a:off x="841248"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CHECKLIST</a:t>
            </a:r>
            <a:endParaRPr lang="en-US" sz="1080" dirty="0"/>
          </a:p>
        </p:txBody>
      </p:sp>
      <p:sp>
        <p:nvSpPr>
          <p:cNvPr id="17" name="Shape 15"/>
          <p:cNvSpPr/>
          <p:nvPr/>
        </p:nvSpPr>
        <p:spPr>
          <a:xfrm>
            <a:off x="2642616" y="5257800"/>
            <a:ext cx="1837944" cy="987552"/>
          </a:xfrm>
          <a:prstGeom prst="roundRect">
            <a:avLst>
              <a:gd name="adj" fmla="val 15741"/>
            </a:avLst>
          </a:prstGeom>
          <a:solidFill>
            <a:srgbClr val="FFF1E4"/>
          </a:solidFill>
          <a:ln w="12700">
            <a:solidFill>
              <a:srgbClr val="FFF1E4">
                <a:alpha val="0"/>
              </a:srgbClr>
            </a:solidFill>
            <a:prstDash val="solid"/>
          </a:ln>
        </p:spPr>
      </p:sp>
      <p:sp>
        <p:nvSpPr>
          <p:cNvPr id="18" name="Text 16"/>
          <p:cNvSpPr/>
          <p:nvPr/>
        </p:nvSpPr>
        <p:spPr>
          <a:xfrm>
            <a:off x="2825496"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DF8633"/>
                </a:solidFill>
                <a:latin typeface="Inter" pitchFamily="34" charset="0"/>
                <a:ea typeface="Inter" pitchFamily="34" charset="-122"/>
                <a:cs typeface="Inter" pitchFamily="34" charset="-120"/>
              </a:rPr>
              <a:t>10 / 11</a:t>
            </a:r>
            <a:endParaRPr lang="en-US" sz="2500" dirty="0"/>
          </a:p>
        </p:txBody>
      </p:sp>
      <p:sp>
        <p:nvSpPr>
          <p:cNvPr id="19" name="Text 17"/>
          <p:cNvSpPr/>
          <p:nvPr/>
        </p:nvSpPr>
        <p:spPr>
          <a:xfrm>
            <a:off x="2825496"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CRITERIOS OK</a:t>
            </a:r>
            <a:endParaRPr lang="en-US" sz="1080" dirty="0"/>
          </a:p>
        </p:txBody>
      </p:sp>
      <p:sp>
        <p:nvSpPr>
          <p:cNvPr id="20" name="Shape 18"/>
          <p:cNvSpPr/>
          <p:nvPr/>
        </p:nvSpPr>
        <p:spPr>
          <a:xfrm>
            <a:off x="4626864" y="5257800"/>
            <a:ext cx="1837944" cy="987552"/>
          </a:xfrm>
          <a:prstGeom prst="roundRect">
            <a:avLst>
              <a:gd name="adj" fmla="val 15741"/>
            </a:avLst>
          </a:prstGeom>
          <a:solidFill>
            <a:srgbClr val="FFF0EF"/>
          </a:solidFill>
          <a:ln w="12700">
            <a:solidFill>
              <a:srgbClr val="FFF0EF">
                <a:alpha val="0"/>
              </a:srgbClr>
            </a:solidFill>
            <a:prstDash val="solid"/>
          </a:ln>
        </p:spPr>
      </p:sp>
      <p:sp>
        <p:nvSpPr>
          <p:cNvPr id="21" name="Text 19"/>
          <p:cNvSpPr/>
          <p:nvPr/>
        </p:nvSpPr>
        <p:spPr>
          <a:xfrm>
            <a:off x="4809744" y="5385816"/>
            <a:ext cx="1472184" cy="429768"/>
          </a:xfrm>
          <a:prstGeom prst="rect">
            <a:avLst/>
          </a:prstGeom>
          <a:noFill/>
          <a:ln/>
        </p:spPr>
        <p:txBody>
          <a:bodyPr wrap="square" lIns="0" tIns="0" rIns="0" bIns="0" rtlCol="0" anchor="ctr">
            <a:normAutofit/>
          </a:bodyPr>
          <a:lstStyle/>
          <a:p>
            <a:pPr indent="0" marL="0">
              <a:buNone/>
            </a:pPr>
            <a:r>
              <a:rPr lang="en-US" sz="2500" b="1" dirty="0">
                <a:solidFill>
                  <a:srgbClr val="C95057"/>
                </a:solidFill>
                <a:latin typeface="Inter" pitchFamily="34" charset="0"/>
                <a:ea typeface="Inter" pitchFamily="34" charset="-122"/>
                <a:cs typeface="Inter" pitchFamily="34" charset="-120"/>
              </a:rPr>
              <a:t>1 NOK</a:t>
            </a:r>
            <a:endParaRPr lang="en-US" sz="2500" dirty="0"/>
          </a:p>
        </p:txBody>
      </p:sp>
      <p:sp>
        <p:nvSpPr>
          <p:cNvPr id="22" name="Text 20"/>
          <p:cNvSpPr/>
          <p:nvPr/>
        </p:nvSpPr>
        <p:spPr>
          <a:xfrm>
            <a:off x="4809744" y="5888736"/>
            <a:ext cx="1472184" cy="201168"/>
          </a:xfrm>
          <a:prstGeom prst="rect">
            <a:avLst/>
          </a:prstGeom>
          <a:noFill/>
          <a:ln/>
        </p:spPr>
        <p:txBody>
          <a:bodyPr wrap="square" lIns="0" tIns="0" rIns="0" bIns="0" rtlCol="0" anchor="ctr">
            <a:normAutofit/>
          </a:bodyPr>
          <a:lstStyle/>
          <a:p>
            <a:pPr indent="0" marL="0">
              <a:buNone/>
            </a:pPr>
            <a:r>
              <a:rPr lang="en-US" sz="1080" b="1" dirty="0">
                <a:solidFill>
                  <a:srgbClr val="60748A"/>
                </a:solidFill>
                <a:latin typeface="Inter" pitchFamily="34" charset="0"/>
                <a:ea typeface="Inter" pitchFamily="34" charset="-122"/>
                <a:cs typeface="Inter" pitchFamily="34" charset="-120"/>
              </a:rPr>
              <a:t>REALIZABLE</a:t>
            </a:r>
            <a:endParaRPr lang="en-US" sz="1080" dirty="0"/>
          </a:p>
        </p:txBody>
      </p:sp>
      <p:sp>
        <p:nvSpPr>
          <p:cNvPr id="23" name="Shape 21"/>
          <p:cNvSpPr/>
          <p:nvPr/>
        </p:nvSpPr>
        <p:spPr>
          <a:xfrm>
            <a:off x="7406640" y="1572768"/>
            <a:ext cx="3776472" cy="3794760"/>
          </a:xfrm>
          <a:prstGeom prst="roundRect">
            <a:avLst>
              <a:gd name="adj" fmla="val 4843"/>
            </a:avLst>
          </a:prstGeom>
          <a:solidFill>
            <a:srgbClr val="FFF1E4"/>
          </a:solidFill>
          <a:ln w="12700">
            <a:solidFill>
              <a:srgbClr val="FFF1E4">
                <a:alpha val="0"/>
              </a:srgbClr>
            </a:solidFill>
            <a:prstDash val="solid"/>
          </a:ln>
        </p:spPr>
      </p:sp>
      <p:sp>
        <p:nvSpPr>
          <p:cNvPr id="24" name="Shape 22"/>
          <p:cNvSpPr/>
          <p:nvPr/>
        </p:nvSpPr>
        <p:spPr>
          <a:xfrm>
            <a:off x="8385048" y="2304288"/>
            <a:ext cx="1984248" cy="1984248"/>
          </a:xfrm>
          <a:prstGeom prst="ellipse">
            <a:avLst/>
          </a:prstGeom>
          <a:solidFill>
            <a:srgbClr val="FFFFFF"/>
          </a:solidFill>
          <a:ln w="12700">
            <a:solidFill>
              <a:srgbClr val="FFFFFF">
                <a:alpha val="0"/>
              </a:srgbClr>
            </a:solidFill>
            <a:prstDash val="solid"/>
          </a:ln>
        </p:spPr>
      </p:sp>
      <p:sp>
        <p:nvSpPr>
          <p:cNvPr id="25" name="Shape 23"/>
          <p:cNvSpPr/>
          <p:nvPr/>
        </p:nvSpPr>
        <p:spPr>
          <a:xfrm>
            <a:off x="8668512" y="3017520"/>
            <a:ext cx="201168" cy="201168"/>
          </a:xfrm>
          <a:prstGeom prst="rect">
            <a:avLst/>
          </a:prstGeom>
          <a:solidFill>
            <a:srgbClr val="DF8633"/>
          </a:solidFill>
          <a:ln w="12700">
            <a:solidFill>
              <a:srgbClr val="DF8633">
                <a:alpha val="0"/>
              </a:srgbClr>
            </a:solidFill>
            <a:prstDash val="solid"/>
          </a:ln>
        </p:spPr>
      </p:sp>
      <p:sp>
        <p:nvSpPr>
          <p:cNvPr id="26" name="Shape 24"/>
          <p:cNvSpPr/>
          <p:nvPr/>
        </p:nvSpPr>
        <p:spPr>
          <a:xfrm>
            <a:off x="8668512" y="3291840"/>
            <a:ext cx="201168" cy="201168"/>
          </a:xfrm>
          <a:prstGeom prst="rect">
            <a:avLst/>
          </a:prstGeom>
          <a:solidFill>
            <a:srgbClr val="DF8633"/>
          </a:solidFill>
          <a:ln w="12700">
            <a:solidFill>
              <a:srgbClr val="DF8633">
                <a:alpha val="0"/>
              </a:srgbClr>
            </a:solidFill>
            <a:prstDash val="solid"/>
          </a:ln>
        </p:spPr>
      </p:sp>
      <p:sp>
        <p:nvSpPr>
          <p:cNvPr id="27" name="Shape 25"/>
          <p:cNvSpPr/>
          <p:nvPr/>
        </p:nvSpPr>
        <p:spPr>
          <a:xfrm>
            <a:off x="8668512" y="3566160"/>
            <a:ext cx="201168" cy="201168"/>
          </a:xfrm>
          <a:prstGeom prst="rect">
            <a:avLst/>
          </a:prstGeom>
          <a:solidFill>
            <a:srgbClr val="DF8633"/>
          </a:solidFill>
          <a:ln w="12700">
            <a:solidFill>
              <a:srgbClr val="DF8633">
                <a:alpha val="0"/>
              </a:srgbClr>
            </a:solidFill>
            <a:prstDash val="solid"/>
          </a:ln>
        </p:spPr>
      </p:sp>
      <p:sp>
        <p:nvSpPr>
          <p:cNvPr id="28" name="Shape 26"/>
          <p:cNvSpPr/>
          <p:nvPr/>
        </p:nvSpPr>
        <p:spPr>
          <a:xfrm>
            <a:off x="8942832" y="2743200"/>
            <a:ext cx="201168" cy="201168"/>
          </a:xfrm>
          <a:prstGeom prst="rect">
            <a:avLst/>
          </a:prstGeom>
          <a:solidFill>
            <a:srgbClr val="DF8633"/>
          </a:solidFill>
          <a:ln w="12700">
            <a:solidFill>
              <a:srgbClr val="DF8633">
                <a:alpha val="0"/>
              </a:srgbClr>
            </a:solidFill>
            <a:prstDash val="solid"/>
          </a:ln>
        </p:spPr>
      </p:sp>
      <p:sp>
        <p:nvSpPr>
          <p:cNvPr id="29" name="Shape 27"/>
          <p:cNvSpPr/>
          <p:nvPr/>
        </p:nvSpPr>
        <p:spPr>
          <a:xfrm>
            <a:off x="8942832" y="3017520"/>
            <a:ext cx="201168" cy="201168"/>
          </a:xfrm>
          <a:prstGeom prst="rect">
            <a:avLst/>
          </a:prstGeom>
          <a:solidFill>
            <a:srgbClr val="DF8633"/>
          </a:solidFill>
          <a:ln w="12700">
            <a:solidFill>
              <a:srgbClr val="DF8633">
                <a:alpha val="0"/>
              </a:srgbClr>
            </a:solidFill>
            <a:prstDash val="solid"/>
          </a:ln>
        </p:spPr>
      </p:sp>
      <p:sp>
        <p:nvSpPr>
          <p:cNvPr id="30" name="Shape 28"/>
          <p:cNvSpPr/>
          <p:nvPr/>
        </p:nvSpPr>
        <p:spPr>
          <a:xfrm>
            <a:off x="8942832" y="3291840"/>
            <a:ext cx="201168" cy="201168"/>
          </a:xfrm>
          <a:prstGeom prst="rect">
            <a:avLst/>
          </a:prstGeom>
          <a:solidFill>
            <a:srgbClr val="DF8633"/>
          </a:solidFill>
          <a:ln w="12700">
            <a:solidFill>
              <a:srgbClr val="DF8633">
                <a:alpha val="0"/>
              </a:srgbClr>
            </a:solidFill>
            <a:prstDash val="solid"/>
          </a:ln>
        </p:spPr>
      </p:sp>
      <p:sp>
        <p:nvSpPr>
          <p:cNvPr id="31" name="Shape 29"/>
          <p:cNvSpPr/>
          <p:nvPr/>
        </p:nvSpPr>
        <p:spPr>
          <a:xfrm>
            <a:off x="8942832" y="3566160"/>
            <a:ext cx="201168" cy="201168"/>
          </a:xfrm>
          <a:prstGeom prst="rect">
            <a:avLst/>
          </a:prstGeom>
          <a:solidFill>
            <a:srgbClr val="DF8633"/>
          </a:solidFill>
          <a:ln w="12700">
            <a:solidFill>
              <a:srgbClr val="DF8633">
                <a:alpha val="0"/>
              </a:srgbClr>
            </a:solidFill>
            <a:prstDash val="solid"/>
          </a:ln>
        </p:spPr>
      </p:sp>
      <p:sp>
        <p:nvSpPr>
          <p:cNvPr id="32" name="Shape 30"/>
          <p:cNvSpPr/>
          <p:nvPr/>
        </p:nvSpPr>
        <p:spPr>
          <a:xfrm>
            <a:off x="8942832" y="3840480"/>
            <a:ext cx="201168" cy="201168"/>
          </a:xfrm>
          <a:prstGeom prst="rect">
            <a:avLst/>
          </a:prstGeom>
          <a:solidFill>
            <a:srgbClr val="DF8633"/>
          </a:solidFill>
          <a:ln w="12700">
            <a:solidFill>
              <a:srgbClr val="DF8633">
                <a:alpha val="0"/>
              </a:srgbClr>
            </a:solidFill>
            <a:prstDash val="solid"/>
          </a:ln>
        </p:spPr>
      </p:sp>
      <p:sp>
        <p:nvSpPr>
          <p:cNvPr id="33" name="Shape 31"/>
          <p:cNvSpPr/>
          <p:nvPr/>
        </p:nvSpPr>
        <p:spPr>
          <a:xfrm>
            <a:off x="9217152" y="2743200"/>
            <a:ext cx="201168" cy="201168"/>
          </a:xfrm>
          <a:prstGeom prst="rect">
            <a:avLst/>
          </a:prstGeom>
          <a:solidFill>
            <a:srgbClr val="DF8633"/>
          </a:solidFill>
          <a:ln w="12700">
            <a:solidFill>
              <a:srgbClr val="DF8633">
                <a:alpha val="0"/>
              </a:srgbClr>
            </a:solidFill>
            <a:prstDash val="solid"/>
          </a:ln>
        </p:spPr>
      </p:sp>
      <p:sp>
        <p:nvSpPr>
          <p:cNvPr id="34" name="Shape 32"/>
          <p:cNvSpPr/>
          <p:nvPr/>
        </p:nvSpPr>
        <p:spPr>
          <a:xfrm>
            <a:off x="9217152" y="3017520"/>
            <a:ext cx="201168" cy="201168"/>
          </a:xfrm>
          <a:prstGeom prst="rect">
            <a:avLst/>
          </a:prstGeom>
          <a:solidFill>
            <a:srgbClr val="DF8633"/>
          </a:solidFill>
          <a:ln w="12700">
            <a:solidFill>
              <a:srgbClr val="DF8633">
                <a:alpha val="0"/>
              </a:srgbClr>
            </a:solidFill>
            <a:prstDash val="solid"/>
          </a:ln>
        </p:spPr>
      </p:sp>
      <p:sp>
        <p:nvSpPr>
          <p:cNvPr id="35" name="Shape 33"/>
          <p:cNvSpPr/>
          <p:nvPr/>
        </p:nvSpPr>
        <p:spPr>
          <a:xfrm>
            <a:off x="9217152" y="3566160"/>
            <a:ext cx="201168" cy="201168"/>
          </a:xfrm>
          <a:prstGeom prst="rect">
            <a:avLst/>
          </a:prstGeom>
          <a:solidFill>
            <a:srgbClr val="DF8633"/>
          </a:solidFill>
          <a:ln w="12700">
            <a:solidFill>
              <a:srgbClr val="DF8633">
                <a:alpha val="0"/>
              </a:srgbClr>
            </a:solidFill>
            <a:prstDash val="solid"/>
          </a:ln>
        </p:spPr>
      </p:sp>
      <p:sp>
        <p:nvSpPr>
          <p:cNvPr id="36" name="Shape 34"/>
          <p:cNvSpPr/>
          <p:nvPr/>
        </p:nvSpPr>
        <p:spPr>
          <a:xfrm>
            <a:off x="9217152" y="3840480"/>
            <a:ext cx="201168" cy="201168"/>
          </a:xfrm>
          <a:prstGeom prst="rect">
            <a:avLst/>
          </a:prstGeom>
          <a:solidFill>
            <a:srgbClr val="DF8633"/>
          </a:solidFill>
          <a:ln w="12700">
            <a:solidFill>
              <a:srgbClr val="DF8633">
                <a:alpha val="0"/>
              </a:srgbClr>
            </a:solidFill>
            <a:prstDash val="solid"/>
          </a:ln>
        </p:spPr>
      </p:sp>
      <p:sp>
        <p:nvSpPr>
          <p:cNvPr id="37" name="Shape 35"/>
          <p:cNvSpPr/>
          <p:nvPr/>
        </p:nvSpPr>
        <p:spPr>
          <a:xfrm>
            <a:off x="9491472" y="2743200"/>
            <a:ext cx="201168" cy="201168"/>
          </a:xfrm>
          <a:prstGeom prst="rect">
            <a:avLst/>
          </a:prstGeom>
          <a:solidFill>
            <a:srgbClr val="DF8633"/>
          </a:solidFill>
          <a:ln w="12700">
            <a:solidFill>
              <a:srgbClr val="DF8633">
                <a:alpha val="0"/>
              </a:srgbClr>
            </a:solidFill>
            <a:prstDash val="solid"/>
          </a:ln>
        </p:spPr>
      </p:sp>
      <p:sp>
        <p:nvSpPr>
          <p:cNvPr id="38" name="Shape 36"/>
          <p:cNvSpPr/>
          <p:nvPr/>
        </p:nvSpPr>
        <p:spPr>
          <a:xfrm>
            <a:off x="9491472" y="3017520"/>
            <a:ext cx="201168" cy="201168"/>
          </a:xfrm>
          <a:prstGeom prst="rect">
            <a:avLst/>
          </a:prstGeom>
          <a:solidFill>
            <a:srgbClr val="DF8633"/>
          </a:solidFill>
          <a:ln w="12700">
            <a:solidFill>
              <a:srgbClr val="DF8633">
                <a:alpha val="0"/>
              </a:srgbClr>
            </a:solidFill>
            <a:prstDash val="solid"/>
          </a:ln>
        </p:spPr>
      </p:sp>
      <p:sp>
        <p:nvSpPr>
          <p:cNvPr id="39" name="Shape 37"/>
          <p:cNvSpPr/>
          <p:nvPr/>
        </p:nvSpPr>
        <p:spPr>
          <a:xfrm>
            <a:off x="9491472" y="3291840"/>
            <a:ext cx="201168" cy="201168"/>
          </a:xfrm>
          <a:prstGeom prst="rect">
            <a:avLst/>
          </a:prstGeom>
          <a:solidFill>
            <a:srgbClr val="DF8633"/>
          </a:solidFill>
          <a:ln w="12700">
            <a:solidFill>
              <a:srgbClr val="DF8633">
                <a:alpha val="0"/>
              </a:srgbClr>
            </a:solidFill>
            <a:prstDash val="solid"/>
          </a:ln>
        </p:spPr>
      </p:sp>
      <p:sp>
        <p:nvSpPr>
          <p:cNvPr id="40" name="Shape 38"/>
          <p:cNvSpPr/>
          <p:nvPr/>
        </p:nvSpPr>
        <p:spPr>
          <a:xfrm>
            <a:off x="9491472" y="3566160"/>
            <a:ext cx="201168" cy="201168"/>
          </a:xfrm>
          <a:prstGeom prst="rect">
            <a:avLst/>
          </a:prstGeom>
          <a:solidFill>
            <a:srgbClr val="DF8633"/>
          </a:solidFill>
          <a:ln w="12700">
            <a:solidFill>
              <a:srgbClr val="DF8633">
                <a:alpha val="0"/>
              </a:srgbClr>
            </a:solidFill>
            <a:prstDash val="solid"/>
          </a:ln>
        </p:spPr>
      </p:sp>
      <p:sp>
        <p:nvSpPr>
          <p:cNvPr id="41" name="Shape 39"/>
          <p:cNvSpPr/>
          <p:nvPr/>
        </p:nvSpPr>
        <p:spPr>
          <a:xfrm>
            <a:off x="9491472" y="3840480"/>
            <a:ext cx="201168" cy="201168"/>
          </a:xfrm>
          <a:prstGeom prst="rect">
            <a:avLst/>
          </a:prstGeom>
          <a:solidFill>
            <a:srgbClr val="DF8633"/>
          </a:solidFill>
          <a:ln w="12700">
            <a:solidFill>
              <a:srgbClr val="DF8633">
                <a:alpha val="0"/>
              </a:srgbClr>
            </a:solidFill>
            <a:prstDash val="solid"/>
          </a:ln>
        </p:spPr>
      </p:sp>
      <p:sp>
        <p:nvSpPr>
          <p:cNvPr id="42" name="Shape 40"/>
          <p:cNvSpPr/>
          <p:nvPr/>
        </p:nvSpPr>
        <p:spPr>
          <a:xfrm>
            <a:off x="9765792" y="3017520"/>
            <a:ext cx="201168" cy="201168"/>
          </a:xfrm>
          <a:prstGeom prst="rect">
            <a:avLst/>
          </a:prstGeom>
          <a:solidFill>
            <a:srgbClr val="DF8633"/>
          </a:solidFill>
          <a:ln w="12700">
            <a:solidFill>
              <a:srgbClr val="DF8633">
                <a:alpha val="0"/>
              </a:srgbClr>
            </a:solidFill>
            <a:prstDash val="solid"/>
          </a:ln>
        </p:spPr>
      </p:sp>
      <p:sp>
        <p:nvSpPr>
          <p:cNvPr id="43" name="Shape 41"/>
          <p:cNvSpPr/>
          <p:nvPr/>
        </p:nvSpPr>
        <p:spPr>
          <a:xfrm>
            <a:off x="9765792" y="3291840"/>
            <a:ext cx="201168" cy="201168"/>
          </a:xfrm>
          <a:prstGeom prst="rect">
            <a:avLst/>
          </a:prstGeom>
          <a:solidFill>
            <a:srgbClr val="DF8633"/>
          </a:solidFill>
          <a:ln w="12700">
            <a:solidFill>
              <a:srgbClr val="DF8633">
                <a:alpha val="0"/>
              </a:srgbClr>
            </a:solidFill>
            <a:prstDash val="solid"/>
          </a:ln>
        </p:spPr>
      </p:sp>
      <p:sp>
        <p:nvSpPr>
          <p:cNvPr id="44" name="Shape 42"/>
          <p:cNvSpPr/>
          <p:nvPr/>
        </p:nvSpPr>
        <p:spPr>
          <a:xfrm>
            <a:off x="9765792" y="3566160"/>
            <a:ext cx="201168" cy="201168"/>
          </a:xfrm>
          <a:prstGeom prst="rect">
            <a:avLst/>
          </a:prstGeom>
          <a:solidFill>
            <a:srgbClr val="DF8633"/>
          </a:solidFill>
          <a:ln w="12700">
            <a:solidFill>
              <a:srgbClr val="DF8633">
                <a:alpha val="0"/>
              </a:srgbClr>
            </a:solidFill>
            <a:prstDash val="solid"/>
          </a:ln>
        </p:spPr>
      </p:sp>
      <p:sp>
        <p:nvSpPr>
          <p:cNvPr id="45" name="Shape 43"/>
          <p:cNvSpPr/>
          <p:nvPr/>
        </p:nvSpPr>
        <p:spPr>
          <a:xfrm>
            <a:off x="8567928" y="2642616"/>
            <a:ext cx="713232" cy="713232"/>
          </a:xfrm>
          <a:prstGeom prst="rect">
            <a:avLst/>
          </a:prstGeom>
          <a:solidFill>
            <a:srgbClr val="FFFFFF"/>
          </a:solidFill>
          <a:ln w="25400">
            <a:solidFill>
              <a:srgbClr val="DF8633"/>
            </a:solidFill>
            <a:prstDash val="solid"/>
          </a:ln>
        </p:spPr>
      </p:sp>
      <p:sp>
        <p:nvSpPr>
          <p:cNvPr id="46" name="Shape 44"/>
          <p:cNvSpPr/>
          <p:nvPr/>
        </p:nvSpPr>
        <p:spPr>
          <a:xfrm>
            <a:off x="8741664" y="2816352"/>
            <a:ext cx="365760" cy="365760"/>
          </a:xfrm>
          <a:prstGeom prst="rect">
            <a:avLst/>
          </a:prstGeom>
          <a:solidFill>
            <a:srgbClr val="DF8633"/>
          </a:solidFill>
          <a:ln w="12700">
            <a:solidFill>
              <a:srgbClr val="DF8633">
                <a:alpha val="0"/>
              </a:srgbClr>
            </a:solidFill>
            <a:prstDash val="solid"/>
          </a:ln>
        </p:spPr>
      </p:sp>
      <p:sp>
        <p:nvSpPr>
          <p:cNvPr id="47" name="Shape 45"/>
          <p:cNvSpPr/>
          <p:nvPr/>
        </p:nvSpPr>
        <p:spPr>
          <a:xfrm>
            <a:off x="9628632" y="2642616"/>
            <a:ext cx="713232" cy="713232"/>
          </a:xfrm>
          <a:prstGeom prst="rect">
            <a:avLst/>
          </a:prstGeom>
          <a:solidFill>
            <a:srgbClr val="FFFFFF"/>
          </a:solidFill>
          <a:ln w="25400">
            <a:solidFill>
              <a:srgbClr val="DF8633"/>
            </a:solidFill>
            <a:prstDash val="solid"/>
          </a:ln>
        </p:spPr>
      </p:sp>
      <p:sp>
        <p:nvSpPr>
          <p:cNvPr id="48" name="Shape 46"/>
          <p:cNvSpPr/>
          <p:nvPr/>
        </p:nvSpPr>
        <p:spPr>
          <a:xfrm>
            <a:off x="9802368" y="2816352"/>
            <a:ext cx="365760" cy="365760"/>
          </a:xfrm>
          <a:prstGeom prst="rect">
            <a:avLst/>
          </a:prstGeom>
          <a:solidFill>
            <a:srgbClr val="DF8633"/>
          </a:solidFill>
          <a:ln w="12700">
            <a:solidFill>
              <a:srgbClr val="DF8633">
                <a:alpha val="0"/>
              </a:srgbClr>
            </a:solidFill>
            <a:prstDash val="solid"/>
          </a:ln>
        </p:spPr>
      </p:sp>
      <p:sp>
        <p:nvSpPr>
          <p:cNvPr id="49" name="Shape 47"/>
          <p:cNvSpPr/>
          <p:nvPr/>
        </p:nvSpPr>
        <p:spPr>
          <a:xfrm>
            <a:off x="8567928" y="3703320"/>
            <a:ext cx="713232" cy="713232"/>
          </a:xfrm>
          <a:prstGeom prst="rect">
            <a:avLst/>
          </a:prstGeom>
          <a:solidFill>
            <a:srgbClr val="FFFFFF"/>
          </a:solidFill>
          <a:ln w="25400">
            <a:solidFill>
              <a:srgbClr val="DF8633"/>
            </a:solidFill>
            <a:prstDash val="solid"/>
          </a:ln>
        </p:spPr>
      </p:sp>
      <p:sp>
        <p:nvSpPr>
          <p:cNvPr id="50" name="Shape 48"/>
          <p:cNvSpPr/>
          <p:nvPr/>
        </p:nvSpPr>
        <p:spPr>
          <a:xfrm>
            <a:off x="8741664" y="3877056"/>
            <a:ext cx="365760" cy="365760"/>
          </a:xfrm>
          <a:prstGeom prst="rect">
            <a:avLst/>
          </a:prstGeom>
          <a:solidFill>
            <a:srgbClr val="DF8633"/>
          </a:solidFill>
          <a:ln w="12700">
            <a:solidFill>
              <a:srgbClr val="DF8633">
                <a:alpha val="0"/>
              </a:srgbClr>
            </a:solidFill>
            <a:prstDash val="solid"/>
          </a:ln>
        </p:spPr>
      </p:sp>
      <p:sp>
        <p:nvSpPr>
          <p:cNvPr id="51" name="Shape 49"/>
          <p:cNvSpPr/>
          <p:nvPr/>
        </p:nvSpPr>
        <p:spPr>
          <a:xfrm>
            <a:off x="8138160" y="4809744"/>
            <a:ext cx="2286000" cy="329184"/>
          </a:xfrm>
          <a:prstGeom prst="roundRect">
            <a:avLst>
              <a:gd name="adj" fmla="val 41667"/>
            </a:avLst>
          </a:prstGeom>
          <a:solidFill>
            <a:srgbClr val="FFFFFF"/>
          </a:solidFill>
          <a:ln w="12700">
            <a:solidFill>
              <a:srgbClr val="FFFFFF">
                <a:alpha val="0"/>
              </a:srgbClr>
            </a:solidFill>
            <a:prstDash val="solid"/>
          </a:ln>
        </p:spPr>
      </p:sp>
      <p:sp>
        <p:nvSpPr>
          <p:cNvPr id="52" name="Text 50"/>
          <p:cNvSpPr/>
          <p:nvPr/>
        </p:nvSpPr>
        <p:spPr>
          <a:xfrm>
            <a:off x="8302752" y="4873752"/>
            <a:ext cx="1984248" cy="173736"/>
          </a:xfrm>
          <a:prstGeom prst="rect">
            <a:avLst/>
          </a:prstGeom>
          <a:noFill/>
          <a:ln/>
        </p:spPr>
        <p:txBody>
          <a:bodyPr wrap="square" lIns="0" tIns="0" rIns="0" bIns="0" rtlCol="0" anchor="ctr">
            <a:normAutofit/>
          </a:bodyPr>
          <a:lstStyle/>
          <a:p>
            <a:pPr algn="ctr" indent="0" marL="0">
              <a:buNone/>
            </a:pPr>
            <a:r>
              <a:rPr lang="en-US" sz="970" b="1" spc="70" kern="0" dirty="0">
                <a:solidFill>
                  <a:srgbClr val="DF8633"/>
                </a:solidFill>
                <a:latin typeface="Inter" pitchFamily="34" charset="0"/>
                <a:ea typeface="Inter" pitchFamily="34" charset="-122"/>
                <a:cs typeface="Inter" pitchFamily="34" charset="-120"/>
              </a:rPr>
              <a:t>EVALUACIÓN INDIVIDUAL</a:t>
            </a:r>
            <a:endParaRPr lang="en-US" sz="9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F8633"/>
          </a:solidFill>
          <a:ln w="12700">
            <a:solidFill>
              <a:srgbClr val="DF8633">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CU03</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DF8633"/>
                </a:solidFill>
                <a:latin typeface="Inter" pitchFamily="34" charset="0"/>
                <a:ea typeface="Inter" pitchFamily="34" charset="-122"/>
                <a:cs typeface="Inter" pitchFamily="34" charset="-120"/>
              </a:rPr>
              <a:t>12</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DF8633"/>
                </a:solidFill>
                <a:latin typeface="Inter" pitchFamily="34" charset="0"/>
                <a:ea typeface="Inter" pitchFamily="34" charset="-122"/>
                <a:cs typeface="Inter" pitchFamily="34" charset="-120"/>
              </a:rPr>
              <a:t>CU03   ·   LISTA DE COMPROBACIÓN</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3000" b="1" dirty="0">
                <a:solidFill>
                  <a:srgbClr val="102A43"/>
                </a:solidFill>
                <a:latin typeface="Inter" pitchFamily="34" charset="0"/>
                <a:ea typeface="Inter" pitchFamily="34" charset="-122"/>
                <a:cs typeface="Inter" pitchFamily="34" charset="-120"/>
              </a:rPr>
              <a:t>La calidad alcanza 16 de 17 respuestas positivas</a:t>
            </a:r>
            <a:endParaRPr lang="en-US" sz="30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Tres áreas evaluadas por separado para este caso de uso.</a:t>
            </a:r>
            <a:endParaRPr lang="en-US" sz="1280" dirty="0"/>
          </a:p>
        </p:txBody>
      </p:sp>
      <p:sp>
        <p:nvSpPr>
          <p:cNvPr id="11" name="Shape 9"/>
          <p:cNvSpPr/>
          <p:nvPr/>
        </p:nvSpPr>
        <p:spPr>
          <a:xfrm>
            <a:off x="658368" y="2029968"/>
            <a:ext cx="3712464" cy="3557016"/>
          </a:xfrm>
          <a:prstGeom prst="roundRect">
            <a:avLst>
              <a:gd name="adj" fmla="val 5913"/>
            </a:avLst>
          </a:prstGeom>
          <a:solidFill>
            <a:srgbClr val="F7F9FC"/>
          </a:solidFill>
          <a:ln w="12700">
            <a:solidFill>
              <a:srgbClr val="F7F9FC">
                <a:alpha val="0"/>
              </a:srgbClr>
            </a:solidFill>
            <a:prstDash val="solid"/>
          </a:ln>
        </p:spPr>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8720" y="2276856"/>
            <a:ext cx="2724912" cy="2724912"/>
          </a:xfrm>
          <a:prstGeom prst="rect">
            <a:avLst/>
          </a:prstGeom>
        </p:spPr>
      </p:pic>
      <p:sp>
        <p:nvSpPr>
          <p:cNvPr id="13" name="Text 10"/>
          <p:cNvSpPr/>
          <p:nvPr/>
        </p:nvSpPr>
        <p:spPr>
          <a:xfrm>
            <a:off x="1920240" y="3072384"/>
            <a:ext cx="1316736" cy="512064"/>
          </a:xfrm>
          <a:prstGeom prst="rect">
            <a:avLst/>
          </a:prstGeom>
          <a:noFill/>
          <a:ln/>
        </p:spPr>
        <p:txBody>
          <a:bodyPr wrap="square" lIns="0" tIns="0" rIns="0" bIns="0" rtlCol="0" anchor="ctr">
            <a:normAutofit/>
          </a:bodyPr>
          <a:lstStyle/>
          <a:p>
            <a:pPr algn="ctr" indent="0" marL="0">
              <a:buNone/>
            </a:pPr>
            <a:r>
              <a:rPr lang="en-US" sz="3900" b="1" dirty="0">
                <a:solidFill>
                  <a:srgbClr val="102A43"/>
                </a:solidFill>
                <a:latin typeface="Inter" pitchFamily="34" charset="0"/>
                <a:ea typeface="Inter" pitchFamily="34" charset="-122"/>
                <a:cs typeface="Inter" pitchFamily="34" charset="-120"/>
              </a:rPr>
              <a:t>94%</a:t>
            </a:r>
            <a:endParaRPr lang="en-US" sz="3900" dirty="0"/>
          </a:p>
        </p:txBody>
      </p:sp>
      <p:sp>
        <p:nvSpPr>
          <p:cNvPr id="14" name="Text 11"/>
          <p:cNvSpPr/>
          <p:nvPr/>
        </p:nvSpPr>
        <p:spPr>
          <a:xfrm>
            <a:off x="1197864" y="5111496"/>
            <a:ext cx="2670048" cy="256032"/>
          </a:xfrm>
          <a:prstGeom prst="rect">
            <a:avLst/>
          </a:prstGeom>
          <a:noFill/>
          <a:ln/>
        </p:spPr>
        <p:txBody>
          <a:bodyPr wrap="square" lIns="0" tIns="0" rIns="0" bIns="0" rtlCol="0" anchor="ctr">
            <a:normAutofit/>
          </a:bodyPr>
          <a:lstStyle/>
          <a:p>
            <a:pPr algn="ctr" indent="0" marL="0">
              <a:buNone/>
            </a:pPr>
            <a:r>
              <a:rPr lang="en-US" sz="1350" dirty="0">
                <a:solidFill>
                  <a:srgbClr val="60748A"/>
                </a:solidFill>
                <a:latin typeface="Inter" pitchFamily="34" charset="0"/>
                <a:ea typeface="Inter" pitchFamily="34" charset="-122"/>
                <a:cs typeface="Inter" pitchFamily="34" charset="-120"/>
              </a:rPr>
              <a:t>16 respuestas «Sí»</a:t>
            </a:r>
            <a:endParaRPr lang="en-US" sz="1350" dirty="0"/>
          </a:p>
        </p:txBody>
      </p:sp>
      <p:sp>
        <p:nvSpPr>
          <p:cNvPr id="15" name="Shape 12"/>
          <p:cNvSpPr/>
          <p:nvPr/>
        </p:nvSpPr>
        <p:spPr>
          <a:xfrm>
            <a:off x="4608576" y="2029968"/>
            <a:ext cx="6922008" cy="3566160"/>
          </a:xfrm>
          <a:prstGeom prst="roundRect">
            <a:avLst>
              <a:gd name="adj" fmla="val 5897"/>
            </a:avLst>
          </a:prstGeom>
          <a:solidFill>
            <a:srgbClr val="FFFFFF"/>
          </a:solidFill>
          <a:ln w="10160">
            <a:solidFill>
              <a:srgbClr val="E1EAF1"/>
            </a:solidFill>
            <a:prstDash val="solid"/>
          </a:ln>
        </p:spPr>
      </p:sp>
      <p:sp>
        <p:nvSpPr>
          <p:cNvPr id="16" name="Text 13"/>
          <p:cNvSpPr/>
          <p:nvPr/>
        </p:nvSpPr>
        <p:spPr>
          <a:xfrm>
            <a:off x="4937760" y="2432304"/>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Contenido</a:t>
            </a:r>
            <a:endParaRPr lang="en-US" sz="1700" dirty="0"/>
          </a:p>
        </p:txBody>
      </p:sp>
      <p:sp>
        <p:nvSpPr>
          <p:cNvPr id="17" name="Text 14"/>
          <p:cNvSpPr/>
          <p:nvPr/>
        </p:nvSpPr>
        <p:spPr>
          <a:xfrm>
            <a:off x="4937760" y="2788920"/>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8 de 9 preguntas</a:t>
            </a:r>
            <a:endParaRPr lang="en-US" sz="1170" dirty="0"/>
          </a:p>
        </p:txBody>
      </p:sp>
      <p:sp>
        <p:nvSpPr>
          <p:cNvPr id="18" name="Shape 15"/>
          <p:cNvSpPr/>
          <p:nvPr/>
        </p:nvSpPr>
        <p:spPr>
          <a:xfrm>
            <a:off x="8005572" y="2542032"/>
            <a:ext cx="2147468" cy="182880"/>
          </a:xfrm>
          <a:prstGeom prst="roundRect">
            <a:avLst>
              <a:gd name="adj" fmla="val 50000"/>
            </a:avLst>
          </a:prstGeom>
          <a:solidFill>
            <a:srgbClr val="F2F6FB"/>
          </a:solidFill>
          <a:ln w="12700">
            <a:solidFill>
              <a:srgbClr val="F2F6FB">
                <a:alpha val="0"/>
              </a:srgbClr>
            </a:solidFill>
            <a:prstDash val="solid"/>
          </a:ln>
        </p:spPr>
      </p:sp>
      <p:sp>
        <p:nvSpPr>
          <p:cNvPr id="19" name="Shape 16"/>
          <p:cNvSpPr/>
          <p:nvPr/>
        </p:nvSpPr>
        <p:spPr>
          <a:xfrm>
            <a:off x="8005572" y="2542032"/>
            <a:ext cx="1908861" cy="182880"/>
          </a:xfrm>
          <a:prstGeom prst="roundRect">
            <a:avLst>
              <a:gd name="adj" fmla="val 50000"/>
            </a:avLst>
          </a:prstGeom>
          <a:solidFill>
            <a:srgbClr val="DF8633"/>
          </a:solidFill>
          <a:ln w="12700">
            <a:solidFill>
              <a:srgbClr val="DF8633">
                <a:alpha val="0"/>
              </a:srgbClr>
            </a:solidFill>
            <a:prstDash val="solid"/>
          </a:ln>
        </p:spPr>
      </p:sp>
      <p:sp>
        <p:nvSpPr>
          <p:cNvPr id="20" name="Text 17"/>
          <p:cNvSpPr/>
          <p:nvPr/>
        </p:nvSpPr>
        <p:spPr>
          <a:xfrm>
            <a:off x="10337109" y="2414016"/>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DF8633"/>
                </a:solidFill>
                <a:latin typeface="Inter" pitchFamily="34" charset="0"/>
                <a:ea typeface="Inter" pitchFamily="34" charset="-122"/>
                <a:cs typeface="Inter" pitchFamily="34" charset="-120"/>
              </a:rPr>
              <a:t>89%</a:t>
            </a:r>
            <a:endParaRPr lang="en-US" sz="1900" dirty="0"/>
          </a:p>
        </p:txBody>
      </p:sp>
      <p:sp>
        <p:nvSpPr>
          <p:cNvPr id="21" name="Shape 18"/>
          <p:cNvSpPr/>
          <p:nvPr/>
        </p:nvSpPr>
        <p:spPr>
          <a:xfrm>
            <a:off x="4946904" y="3392424"/>
            <a:ext cx="6254496" cy="0"/>
          </a:xfrm>
          <a:prstGeom prst="line">
            <a:avLst/>
          </a:prstGeom>
          <a:noFill/>
          <a:ln w="8890">
            <a:solidFill>
              <a:srgbClr val="E1EAF1"/>
            </a:solidFill>
            <a:prstDash val="solid"/>
            <a:headEnd type="none"/>
            <a:tailEnd type="none"/>
          </a:ln>
        </p:spPr>
      </p:sp>
      <p:sp>
        <p:nvSpPr>
          <p:cNvPr id="22" name="Text 19"/>
          <p:cNvSpPr/>
          <p:nvPr/>
        </p:nvSpPr>
        <p:spPr>
          <a:xfrm>
            <a:off x="4937760" y="3593592"/>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Documentación</a:t>
            </a:r>
            <a:endParaRPr lang="en-US" sz="1700" dirty="0"/>
          </a:p>
        </p:txBody>
      </p:sp>
      <p:sp>
        <p:nvSpPr>
          <p:cNvPr id="23" name="Text 20"/>
          <p:cNvSpPr/>
          <p:nvPr/>
        </p:nvSpPr>
        <p:spPr>
          <a:xfrm>
            <a:off x="4937760" y="3950208"/>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5 de 5 preguntas</a:t>
            </a:r>
            <a:endParaRPr lang="en-US" sz="1170" dirty="0"/>
          </a:p>
        </p:txBody>
      </p:sp>
      <p:sp>
        <p:nvSpPr>
          <p:cNvPr id="24" name="Shape 21"/>
          <p:cNvSpPr/>
          <p:nvPr/>
        </p:nvSpPr>
        <p:spPr>
          <a:xfrm>
            <a:off x="8005572" y="3703320"/>
            <a:ext cx="2147468" cy="182880"/>
          </a:xfrm>
          <a:prstGeom prst="roundRect">
            <a:avLst>
              <a:gd name="adj" fmla="val 50000"/>
            </a:avLst>
          </a:prstGeom>
          <a:solidFill>
            <a:srgbClr val="F2F6FB"/>
          </a:solidFill>
          <a:ln w="12700">
            <a:solidFill>
              <a:srgbClr val="F2F6FB">
                <a:alpha val="0"/>
              </a:srgbClr>
            </a:solidFill>
            <a:prstDash val="solid"/>
          </a:ln>
        </p:spPr>
      </p:sp>
      <p:sp>
        <p:nvSpPr>
          <p:cNvPr id="25" name="Shape 22"/>
          <p:cNvSpPr/>
          <p:nvPr/>
        </p:nvSpPr>
        <p:spPr>
          <a:xfrm>
            <a:off x="8005572" y="3703320"/>
            <a:ext cx="2147468" cy="182880"/>
          </a:xfrm>
          <a:prstGeom prst="roundRect">
            <a:avLst>
              <a:gd name="adj" fmla="val 50000"/>
            </a:avLst>
          </a:prstGeom>
          <a:solidFill>
            <a:srgbClr val="DF8633"/>
          </a:solidFill>
          <a:ln w="12700">
            <a:solidFill>
              <a:srgbClr val="DF8633">
                <a:alpha val="0"/>
              </a:srgbClr>
            </a:solidFill>
            <a:prstDash val="solid"/>
          </a:ln>
        </p:spPr>
      </p:sp>
      <p:sp>
        <p:nvSpPr>
          <p:cNvPr id="26" name="Text 23"/>
          <p:cNvSpPr/>
          <p:nvPr/>
        </p:nvSpPr>
        <p:spPr>
          <a:xfrm>
            <a:off x="10337109" y="3575304"/>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DF8633"/>
                </a:solidFill>
                <a:latin typeface="Inter" pitchFamily="34" charset="0"/>
                <a:ea typeface="Inter" pitchFamily="34" charset="-122"/>
                <a:cs typeface="Inter" pitchFamily="34" charset="-120"/>
              </a:rPr>
              <a:t>100%</a:t>
            </a:r>
            <a:endParaRPr lang="en-US" sz="1900" dirty="0"/>
          </a:p>
        </p:txBody>
      </p:sp>
      <p:sp>
        <p:nvSpPr>
          <p:cNvPr id="27" name="Shape 24"/>
          <p:cNvSpPr/>
          <p:nvPr/>
        </p:nvSpPr>
        <p:spPr>
          <a:xfrm>
            <a:off x="4946904" y="4544568"/>
            <a:ext cx="6254496" cy="0"/>
          </a:xfrm>
          <a:prstGeom prst="line">
            <a:avLst/>
          </a:prstGeom>
          <a:noFill/>
          <a:ln w="8890">
            <a:solidFill>
              <a:srgbClr val="E1EAF1"/>
            </a:solidFill>
            <a:prstDash val="solid"/>
            <a:headEnd type="none"/>
            <a:tailEnd type="none"/>
          </a:ln>
        </p:spPr>
      </p:sp>
      <p:sp>
        <p:nvSpPr>
          <p:cNvPr id="28" name="Text 25"/>
          <p:cNvSpPr/>
          <p:nvPr/>
        </p:nvSpPr>
        <p:spPr>
          <a:xfrm>
            <a:off x="4937760" y="4745736"/>
            <a:ext cx="3067812" cy="274320"/>
          </a:xfrm>
          <a:prstGeom prst="rect">
            <a:avLst/>
          </a:prstGeom>
          <a:noFill/>
          <a:ln/>
        </p:spPr>
        <p:txBody>
          <a:bodyPr wrap="square" lIns="0" tIns="0" rIns="0" bIns="0" rtlCol="0" anchor="ctr">
            <a:normAutofit/>
          </a:bodyPr>
          <a:lstStyle/>
          <a:p>
            <a:pPr indent="0" marL="0">
              <a:buNone/>
            </a:pPr>
            <a:r>
              <a:rPr lang="en-US" sz="1700" b="1" dirty="0">
                <a:solidFill>
                  <a:srgbClr val="102A43"/>
                </a:solidFill>
                <a:latin typeface="Inter" pitchFamily="34" charset="0"/>
                <a:ea typeface="Inter" pitchFamily="34" charset="-122"/>
                <a:cs typeface="Inter" pitchFamily="34" charset="-120"/>
              </a:rPr>
              <a:t>Nivel de acuerdo</a:t>
            </a:r>
            <a:endParaRPr lang="en-US" sz="1700" dirty="0"/>
          </a:p>
        </p:txBody>
      </p:sp>
      <p:sp>
        <p:nvSpPr>
          <p:cNvPr id="29" name="Text 26"/>
          <p:cNvSpPr/>
          <p:nvPr/>
        </p:nvSpPr>
        <p:spPr>
          <a:xfrm>
            <a:off x="4937760" y="5102352"/>
            <a:ext cx="2883743" cy="210312"/>
          </a:xfrm>
          <a:prstGeom prst="rect">
            <a:avLst/>
          </a:prstGeom>
          <a:noFill/>
          <a:ln/>
        </p:spPr>
        <p:txBody>
          <a:bodyPr wrap="square" lIns="0" tIns="0" rIns="0" bIns="0" rtlCol="0" anchor="ctr">
            <a:normAutofit/>
          </a:bodyPr>
          <a:lstStyle/>
          <a:p>
            <a:pPr indent="0" marL="0">
              <a:buNone/>
            </a:pPr>
            <a:r>
              <a:rPr lang="en-US" sz="1170" dirty="0">
                <a:solidFill>
                  <a:srgbClr val="60748A"/>
                </a:solidFill>
                <a:latin typeface="Inter" pitchFamily="34" charset="0"/>
                <a:ea typeface="Inter" pitchFamily="34" charset="-122"/>
                <a:cs typeface="Inter" pitchFamily="34" charset="-120"/>
              </a:rPr>
              <a:t>3 de 3 preguntas</a:t>
            </a:r>
            <a:endParaRPr lang="en-US" sz="1170" dirty="0"/>
          </a:p>
        </p:txBody>
      </p:sp>
      <p:sp>
        <p:nvSpPr>
          <p:cNvPr id="30" name="Shape 27"/>
          <p:cNvSpPr/>
          <p:nvPr/>
        </p:nvSpPr>
        <p:spPr>
          <a:xfrm>
            <a:off x="8005572" y="4855464"/>
            <a:ext cx="2147468" cy="182880"/>
          </a:xfrm>
          <a:prstGeom prst="roundRect">
            <a:avLst>
              <a:gd name="adj" fmla="val 50000"/>
            </a:avLst>
          </a:prstGeom>
          <a:solidFill>
            <a:srgbClr val="F2F6FB"/>
          </a:solidFill>
          <a:ln w="12700">
            <a:solidFill>
              <a:srgbClr val="F2F6FB">
                <a:alpha val="0"/>
              </a:srgbClr>
            </a:solidFill>
            <a:prstDash val="solid"/>
          </a:ln>
        </p:spPr>
      </p:sp>
      <p:sp>
        <p:nvSpPr>
          <p:cNvPr id="31" name="Shape 28"/>
          <p:cNvSpPr/>
          <p:nvPr/>
        </p:nvSpPr>
        <p:spPr>
          <a:xfrm>
            <a:off x="8005572" y="4855464"/>
            <a:ext cx="2147468" cy="182880"/>
          </a:xfrm>
          <a:prstGeom prst="roundRect">
            <a:avLst>
              <a:gd name="adj" fmla="val 50000"/>
            </a:avLst>
          </a:prstGeom>
          <a:solidFill>
            <a:srgbClr val="DF8633"/>
          </a:solidFill>
          <a:ln w="12700">
            <a:solidFill>
              <a:srgbClr val="DF8633">
                <a:alpha val="0"/>
              </a:srgbClr>
            </a:solidFill>
            <a:prstDash val="solid"/>
          </a:ln>
        </p:spPr>
      </p:sp>
      <p:sp>
        <p:nvSpPr>
          <p:cNvPr id="32" name="Text 29"/>
          <p:cNvSpPr/>
          <p:nvPr/>
        </p:nvSpPr>
        <p:spPr>
          <a:xfrm>
            <a:off x="10337109" y="4727448"/>
            <a:ext cx="736275" cy="347472"/>
          </a:xfrm>
          <a:prstGeom prst="rect">
            <a:avLst/>
          </a:prstGeom>
          <a:noFill/>
          <a:ln/>
        </p:spPr>
        <p:txBody>
          <a:bodyPr wrap="square" lIns="0" tIns="0" rIns="0" bIns="0" rtlCol="0" anchor="ctr">
            <a:normAutofit/>
          </a:bodyPr>
          <a:lstStyle/>
          <a:p>
            <a:pPr algn="r" indent="0" marL="0">
              <a:buNone/>
            </a:pPr>
            <a:r>
              <a:rPr lang="en-US" sz="1900" b="1" dirty="0">
                <a:solidFill>
                  <a:srgbClr val="DF8633"/>
                </a:solidFill>
                <a:latin typeface="Inter" pitchFamily="34" charset="0"/>
                <a:ea typeface="Inter" pitchFamily="34" charset="-122"/>
                <a:cs typeface="Inter" pitchFamily="34" charset="-120"/>
              </a:rPr>
              <a:t>100%</a:t>
            </a:r>
            <a:endParaRPr lang="en-US" sz="1900" dirty="0"/>
          </a:p>
        </p:txBody>
      </p:sp>
      <p:sp>
        <p:nvSpPr>
          <p:cNvPr id="33" name="Shape 30"/>
          <p:cNvSpPr/>
          <p:nvPr/>
        </p:nvSpPr>
        <p:spPr>
          <a:xfrm>
            <a:off x="685800" y="5815584"/>
            <a:ext cx="10817352" cy="402336"/>
          </a:xfrm>
          <a:prstGeom prst="roundRect">
            <a:avLst>
              <a:gd name="adj" fmla="val 27273"/>
            </a:avLst>
          </a:prstGeom>
          <a:solidFill>
            <a:srgbClr val="FFF1E4"/>
          </a:solidFill>
          <a:ln w="12700">
            <a:solidFill>
              <a:srgbClr val="FFF1E4">
                <a:alpha val="0"/>
              </a:srgbClr>
            </a:solidFill>
            <a:prstDash val="solid"/>
          </a:ln>
        </p:spPr>
      </p:sp>
      <p:sp>
        <p:nvSpPr>
          <p:cNvPr id="34" name="Text 31"/>
          <p:cNvSpPr/>
          <p:nvPr/>
        </p:nvSpPr>
        <p:spPr>
          <a:xfrm>
            <a:off x="950976" y="5888736"/>
            <a:ext cx="10168128" cy="192024"/>
          </a:xfrm>
          <a:prstGeom prst="rect">
            <a:avLst/>
          </a:prstGeom>
          <a:noFill/>
          <a:ln/>
        </p:spPr>
        <p:txBody>
          <a:bodyPr wrap="square" lIns="0" tIns="0" rIns="0" bIns="0" rtlCol="0" anchor="ctr">
            <a:normAutofit/>
          </a:bodyPr>
          <a:lstStyle/>
          <a:p>
            <a:pPr indent="0" marL="0">
              <a:buNone/>
            </a:pPr>
            <a:r>
              <a:rPr lang="en-US" sz="1310" b="1" dirty="0">
                <a:solidFill>
                  <a:srgbClr val="233A53"/>
                </a:solidFill>
                <a:latin typeface="Inter" pitchFamily="34" charset="0"/>
                <a:ea typeface="Inter" pitchFamily="34" charset="-122"/>
                <a:cs typeface="Inter" pitchFamily="34" charset="-120"/>
              </a:rPr>
              <a:t>Punto pendiente: proceso de verificación delimitado en tiempo y presupuesto.</a:t>
            </a:r>
            <a:endParaRPr lang="en-US" sz="131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F8633"/>
          </a:solidFill>
          <a:ln w="12700">
            <a:solidFill>
              <a:srgbClr val="DF8633">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CU03</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DF8633"/>
                </a:solidFill>
                <a:latin typeface="Inter" pitchFamily="34" charset="0"/>
                <a:ea typeface="Inter" pitchFamily="34" charset="-122"/>
                <a:cs typeface="Inter" pitchFamily="34" charset="-120"/>
              </a:rPr>
              <a:t>13</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DF8633"/>
                </a:solidFill>
                <a:latin typeface="Inter" pitchFamily="34" charset="0"/>
                <a:ea typeface="Inter" pitchFamily="34" charset="-122"/>
                <a:cs typeface="Inter" pitchFamily="34" charset="-120"/>
              </a:rPr>
              <a:t>CU03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01–06: una base documental sólida</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La matriz identifica el estado y la evidencia de cada criterio.</a:t>
            </a:r>
            <a:endParaRPr lang="en-US" sz="1280" dirty="0"/>
          </a:p>
        </p:txBody>
      </p:sp>
      <p:sp>
        <p:nvSpPr>
          <p:cNvPr id="11" name="Shape 9"/>
          <p:cNvSpPr/>
          <p:nvPr/>
        </p:nvSpPr>
        <p:spPr>
          <a:xfrm>
            <a:off x="658368" y="2029968"/>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29968"/>
            <a:ext cx="44806" cy="1115568"/>
          </a:xfrm>
          <a:prstGeom prst="rect">
            <a:avLst/>
          </a:prstGeom>
          <a:solidFill>
            <a:srgbClr val="DF8633"/>
          </a:solidFill>
          <a:ln w="12700">
            <a:solidFill>
              <a:srgbClr val="DF8633">
                <a:alpha val="0"/>
              </a:srgbClr>
            </a:solidFill>
            <a:prstDash val="solid"/>
          </a:ln>
        </p:spPr>
      </p:sp>
      <p:sp>
        <p:nvSpPr>
          <p:cNvPr id="13" name="Text 11"/>
          <p:cNvSpPr/>
          <p:nvPr/>
        </p:nvSpPr>
        <p:spPr>
          <a:xfrm>
            <a:off x="822960"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01</a:t>
            </a:r>
            <a:endParaRPr lang="en-US" sz="920" dirty="0"/>
          </a:p>
        </p:txBody>
      </p:sp>
      <p:sp>
        <p:nvSpPr>
          <p:cNvPr id="14" name="Text 12"/>
          <p:cNvSpPr/>
          <p:nvPr/>
        </p:nvSpPr>
        <p:spPr>
          <a:xfrm>
            <a:off x="1252728"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Agreed</a:t>
            </a:r>
            <a:endParaRPr lang="en-US" sz="1600" dirty="0"/>
          </a:p>
        </p:txBody>
      </p:sp>
      <p:sp>
        <p:nvSpPr>
          <p:cNvPr id="15" name="Shape 13"/>
          <p:cNvSpPr/>
          <p:nvPr/>
        </p:nvSpPr>
        <p:spPr>
          <a:xfrm>
            <a:off x="5294376"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Entrevista, minuta y aceptación del prototipo no funcional.</a:t>
            </a:r>
            <a:endParaRPr lang="en-US" sz="1240" dirty="0"/>
          </a:p>
        </p:txBody>
      </p:sp>
      <p:sp>
        <p:nvSpPr>
          <p:cNvPr id="18" name="Shape 16"/>
          <p:cNvSpPr/>
          <p:nvPr/>
        </p:nvSpPr>
        <p:spPr>
          <a:xfrm>
            <a:off x="658368" y="3346704"/>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58368" y="3346704"/>
            <a:ext cx="44806" cy="1115568"/>
          </a:xfrm>
          <a:prstGeom prst="rect">
            <a:avLst/>
          </a:prstGeom>
          <a:solidFill>
            <a:srgbClr val="DF8633"/>
          </a:solidFill>
          <a:ln w="12700">
            <a:solidFill>
              <a:srgbClr val="DF8633">
                <a:alpha val="0"/>
              </a:srgbClr>
            </a:solidFill>
            <a:prstDash val="solid"/>
          </a:ln>
        </p:spPr>
      </p:sp>
      <p:sp>
        <p:nvSpPr>
          <p:cNvPr id="20" name="Text 18"/>
          <p:cNvSpPr/>
          <p:nvPr/>
        </p:nvSpPr>
        <p:spPr>
          <a:xfrm>
            <a:off x="822960"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02</a:t>
            </a:r>
            <a:endParaRPr lang="en-US" sz="920" dirty="0"/>
          </a:p>
        </p:txBody>
      </p:sp>
      <p:sp>
        <p:nvSpPr>
          <p:cNvPr id="21" name="Text 19"/>
          <p:cNvSpPr/>
          <p:nvPr/>
        </p:nvSpPr>
        <p:spPr>
          <a:xfrm>
            <a:off x="1252728"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Ranked</a:t>
            </a:r>
            <a:endParaRPr lang="en-US" sz="1600" dirty="0"/>
          </a:p>
        </p:txBody>
      </p:sp>
      <p:sp>
        <p:nvSpPr>
          <p:cNvPr id="22" name="Shape 20"/>
          <p:cNvSpPr/>
          <p:nvPr/>
        </p:nvSpPr>
        <p:spPr>
          <a:xfrm>
            <a:off x="5294376"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5367528"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841248"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Prioridad alta definida en la descripción del caso.</a:t>
            </a:r>
            <a:endParaRPr lang="en-US" sz="1240" dirty="0"/>
          </a:p>
        </p:txBody>
      </p:sp>
      <p:sp>
        <p:nvSpPr>
          <p:cNvPr id="25" name="Shape 23"/>
          <p:cNvSpPr/>
          <p:nvPr/>
        </p:nvSpPr>
        <p:spPr>
          <a:xfrm>
            <a:off x="658368" y="4663440"/>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4663440"/>
            <a:ext cx="44806" cy="1115568"/>
          </a:xfrm>
          <a:prstGeom prst="rect">
            <a:avLst/>
          </a:prstGeom>
          <a:solidFill>
            <a:srgbClr val="DF8633"/>
          </a:solidFill>
          <a:ln w="12700">
            <a:solidFill>
              <a:srgbClr val="DF8633">
                <a:alpha val="0"/>
              </a:srgbClr>
            </a:solidFill>
            <a:prstDash val="solid"/>
          </a:ln>
        </p:spPr>
      </p:sp>
      <p:sp>
        <p:nvSpPr>
          <p:cNvPr id="27" name="Text 25"/>
          <p:cNvSpPr/>
          <p:nvPr/>
        </p:nvSpPr>
        <p:spPr>
          <a:xfrm>
            <a:off x="822960"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03</a:t>
            </a:r>
            <a:endParaRPr lang="en-US" sz="920" dirty="0"/>
          </a:p>
        </p:txBody>
      </p:sp>
      <p:sp>
        <p:nvSpPr>
          <p:cNvPr id="28" name="Text 26"/>
          <p:cNvSpPr/>
          <p:nvPr/>
        </p:nvSpPr>
        <p:spPr>
          <a:xfrm>
            <a:off x="1252728"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Unambiguos</a:t>
            </a:r>
            <a:endParaRPr lang="en-US" sz="1600" dirty="0"/>
          </a:p>
        </p:txBody>
      </p:sp>
      <p:sp>
        <p:nvSpPr>
          <p:cNvPr id="29" name="Shape 27"/>
          <p:cNvSpPr/>
          <p:nvPr/>
        </p:nvSpPr>
        <p:spPr>
          <a:xfrm>
            <a:off x="5294376"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Lenguaje claro; tutor y equipo comparten interpretación.</a:t>
            </a:r>
            <a:endParaRPr lang="en-US" sz="1240" dirty="0"/>
          </a:p>
        </p:txBody>
      </p:sp>
      <p:sp>
        <p:nvSpPr>
          <p:cNvPr id="32" name="Shape 30"/>
          <p:cNvSpPr/>
          <p:nvPr/>
        </p:nvSpPr>
        <p:spPr>
          <a:xfrm>
            <a:off x="6217920" y="20299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17920" y="2029968"/>
            <a:ext cx="44806" cy="1115568"/>
          </a:xfrm>
          <a:prstGeom prst="rect">
            <a:avLst/>
          </a:prstGeom>
          <a:solidFill>
            <a:srgbClr val="DF8633"/>
          </a:solidFill>
          <a:ln w="12700">
            <a:solidFill>
              <a:srgbClr val="DF8633">
                <a:alpha val="0"/>
              </a:srgbClr>
            </a:solidFill>
            <a:prstDash val="solid"/>
          </a:ln>
        </p:spPr>
      </p:sp>
      <p:sp>
        <p:nvSpPr>
          <p:cNvPr id="34" name="Text 32"/>
          <p:cNvSpPr/>
          <p:nvPr/>
        </p:nvSpPr>
        <p:spPr>
          <a:xfrm>
            <a:off x="6382512" y="21854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04</a:t>
            </a:r>
            <a:endParaRPr lang="en-US" sz="920" dirty="0"/>
          </a:p>
        </p:txBody>
      </p:sp>
      <p:sp>
        <p:nvSpPr>
          <p:cNvPr id="35" name="Text 33"/>
          <p:cNvSpPr/>
          <p:nvPr/>
        </p:nvSpPr>
        <p:spPr>
          <a:xfrm>
            <a:off x="6812280" y="21396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Valid and up-to date</a:t>
            </a:r>
            <a:endParaRPr lang="en-US" sz="1600" dirty="0"/>
          </a:p>
        </p:txBody>
      </p:sp>
      <p:sp>
        <p:nvSpPr>
          <p:cNvPr id="36" name="Shape 34"/>
          <p:cNvSpPr/>
          <p:nvPr/>
        </p:nvSpPr>
        <p:spPr>
          <a:xfrm>
            <a:off x="10853928" y="21671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27080" y="22174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400800" y="25877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Feedback del cliente incorporado a la especificación.</a:t>
            </a:r>
            <a:endParaRPr lang="en-US" sz="1240" dirty="0"/>
          </a:p>
        </p:txBody>
      </p:sp>
      <p:sp>
        <p:nvSpPr>
          <p:cNvPr id="39" name="Shape 37"/>
          <p:cNvSpPr/>
          <p:nvPr/>
        </p:nvSpPr>
        <p:spPr>
          <a:xfrm>
            <a:off x="6217920" y="3346704"/>
            <a:ext cx="5285232" cy="1115568"/>
          </a:xfrm>
          <a:prstGeom prst="roundRect">
            <a:avLst>
              <a:gd name="adj" fmla="val 9836"/>
            </a:avLst>
          </a:prstGeom>
          <a:solidFill>
            <a:srgbClr val="FFFFFF"/>
          </a:solidFill>
          <a:ln w="10160">
            <a:solidFill>
              <a:srgbClr val="E1EAF1"/>
            </a:solidFill>
            <a:prstDash val="solid"/>
          </a:ln>
        </p:spPr>
      </p:sp>
      <p:sp>
        <p:nvSpPr>
          <p:cNvPr id="40" name="Shape 38"/>
          <p:cNvSpPr/>
          <p:nvPr/>
        </p:nvSpPr>
        <p:spPr>
          <a:xfrm>
            <a:off x="6217920" y="3346704"/>
            <a:ext cx="44806" cy="1115568"/>
          </a:xfrm>
          <a:prstGeom prst="rect">
            <a:avLst/>
          </a:prstGeom>
          <a:solidFill>
            <a:srgbClr val="DF8633"/>
          </a:solidFill>
          <a:ln w="12700">
            <a:solidFill>
              <a:srgbClr val="DF8633">
                <a:alpha val="0"/>
              </a:srgbClr>
            </a:solidFill>
            <a:prstDash val="solid"/>
          </a:ln>
        </p:spPr>
      </p:sp>
      <p:sp>
        <p:nvSpPr>
          <p:cNvPr id="41" name="Text 39"/>
          <p:cNvSpPr/>
          <p:nvPr/>
        </p:nvSpPr>
        <p:spPr>
          <a:xfrm>
            <a:off x="6382512" y="3502152"/>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05</a:t>
            </a:r>
            <a:endParaRPr lang="en-US" sz="920" dirty="0"/>
          </a:p>
        </p:txBody>
      </p:sp>
      <p:sp>
        <p:nvSpPr>
          <p:cNvPr id="42" name="Text 40"/>
          <p:cNvSpPr/>
          <p:nvPr/>
        </p:nvSpPr>
        <p:spPr>
          <a:xfrm>
            <a:off x="6812280" y="3456432"/>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Correct</a:t>
            </a:r>
            <a:endParaRPr lang="en-US" sz="1600" dirty="0"/>
          </a:p>
        </p:txBody>
      </p:sp>
      <p:sp>
        <p:nvSpPr>
          <p:cNvPr id="43" name="Shape 41"/>
          <p:cNvSpPr/>
          <p:nvPr/>
        </p:nvSpPr>
        <p:spPr>
          <a:xfrm>
            <a:off x="10853928" y="3483864"/>
            <a:ext cx="475488" cy="329184"/>
          </a:xfrm>
          <a:prstGeom prst="roundRect">
            <a:avLst>
              <a:gd name="adj" fmla="val 38889"/>
            </a:avLst>
          </a:prstGeom>
          <a:solidFill>
            <a:srgbClr val="E8F5EF"/>
          </a:solidFill>
          <a:ln w="12700">
            <a:solidFill>
              <a:srgbClr val="E8F5EF">
                <a:alpha val="0"/>
              </a:srgbClr>
            </a:solidFill>
            <a:prstDash val="solid"/>
          </a:ln>
        </p:spPr>
      </p:sp>
      <p:sp>
        <p:nvSpPr>
          <p:cNvPr id="44" name="Text 42"/>
          <p:cNvSpPr/>
          <p:nvPr/>
        </p:nvSpPr>
        <p:spPr>
          <a:xfrm>
            <a:off x="10927080" y="3534156"/>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45" name="Text 43"/>
          <p:cNvSpPr/>
          <p:nvPr/>
        </p:nvSpPr>
        <p:spPr>
          <a:xfrm>
            <a:off x="6400800" y="3904488"/>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Alineación con los objetivos y necesidades del cliente.</a:t>
            </a:r>
            <a:endParaRPr lang="en-US" sz="1240" dirty="0"/>
          </a:p>
        </p:txBody>
      </p:sp>
      <p:sp>
        <p:nvSpPr>
          <p:cNvPr id="46" name="Shape 44"/>
          <p:cNvSpPr/>
          <p:nvPr/>
        </p:nvSpPr>
        <p:spPr>
          <a:xfrm>
            <a:off x="6217920" y="4663440"/>
            <a:ext cx="5285232" cy="1115568"/>
          </a:xfrm>
          <a:prstGeom prst="roundRect">
            <a:avLst>
              <a:gd name="adj" fmla="val 9836"/>
            </a:avLst>
          </a:prstGeom>
          <a:solidFill>
            <a:srgbClr val="FFFFFF"/>
          </a:solidFill>
          <a:ln w="10160">
            <a:solidFill>
              <a:srgbClr val="E1EAF1"/>
            </a:solidFill>
            <a:prstDash val="solid"/>
          </a:ln>
        </p:spPr>
      </p:sp>
      <p:sp>
        <p:nvSpPr>
          <p:cNvPr id="47" name="Shape 45"/>
          <p:cNvSpPr/>
          <p:nvPr/>
        </p:nvSpPr>
        <p:spPr>
          <a:xfrm>
            <a:off x="6217920" y="4663440"/>
            <a:ext cx="44806" cy="1115568"/>
          </a:xfrm>
          <a:prstGeom prst="rect">
            <a:avLst/>
          </a:prstGeom>
          <a:solidFill>
            <a:srgbClr val="DF8633"/>
          </a:solidFill>
          <a:ln w="12700">
            <a:solidFill>
              <a:srgbClr val="DF8633">
                <a:alpha val="0"/>
              </a:srgbClr>
            </a:solidFill>
            <a:prstDash val="solid"/>
          </a:ln>
        </p:spPr>
      </p:sp>
      <p:sp>
        <p:nvSpPr>
          <p:cNvPr id="48" name="Text 46"/>
          <p:cNvSpPr/>
          <p:nvPr/>
        </p:nvSpPr>
        <p:spPr>
          <a:xfrm>
            <a:off x="6382512" y="481888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06</a:t>
            </a:r>
            <a:endParaRPr lang="en-US" sz="920" dirty="0"/>
          </a:p>
        </p:txBody>
      </p:sp>
      <p:sp>
        <p:nvSpPr>
          <p:cNvPr id="49" name="Text 47"/>
          <p:cNvSpPr/>
          <p:nvPr/>
        </p:nvSpPr>
        <p:spPr>
          <a:xfrm>
            <a:off x="6812280" y="477316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Consisten</a:t>
            </a:r>
            <a:endParaRPr lang="en-US" sz="1600" dirty="0"/>
          </a:p>
        </p:txBody>
      </p:sp>
      <p:sp>
        <p:nvSpPr>
          <p:cNvPr id="50" name="Shape 48"/>
          <p:cNvSpPr/>
          <p:nvPr/>
        </p:nvSpPr>
        <p:spPr>
          <a:xfrm>
            <a:off x="10853928" y="4800600"/>
            <a:ext cx="475488" cy="329184"/>
          </a:xfrm>
          <a:prstGeom prst="roundRect">
            <a:avLst>
              <a:gd name="adj" fmla="val 38889"/>
            </a:avLst>
          </a:prstGeom>
          <a:solidFill>
            <a:srgbClr val="E8F5EF"/>
          </a:solidFill>
          <a:ln w="12700">
            <a:solidFill>
              <a:srgbClr val="E8F5EF">
                <a:alpha val="0"/>
              </a:srgbClr>
            </a:solidFill>
            <a:prstDash val="solid"/>
          </a:ln>
        </p:spPr>
      </p:sp>
      <p:sp>
        <p:nvSpPr>
          <p:cNvPr id="51" name="Text 49"/>
          <p:cNvSpPr/>
          <p:nvPr/>
        </p:nvSpPr>
        <p:spPr>
          <a:xfrm>
            <a:off x="10927080" y="485089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52" name="Text 50"/>
          <p:cNvSpPr/>
          <p:nvPr/>
        </p:nvSpPr>
        <p:spPr>
          <a:xfrm>
            <a:off x="6400800" y="522122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Modelo y términos definidos; hay palabras repetitivas.</a:t>
            </a:r>
            <a:endParaRPr lang="en-US" sz="1240" dirty="0"/>
          </a:p>
        </p:txBody>
      </p:sp>
      <p:sp>
        <p:nvSpPr>
          <p:cNvPr id="53" name="Shape 51"/>
          <p:cNvSpPr/>
          <p:nvPr/>
        </p:nvSpPr>
        <p:spPr>
          <a:xfrm>
            <a:off x="667512" y="6089904"/>
            <a:ext cx="10789920" cy="256032"/>
          </a:xfrm>
          <a:prstGeom prst="roundRect">
            <a:avLst>
              <a:gd name="adj" fmla="val 28571"/>
            </a:avLst>
          </a:prstGeom>
          <a:solidFill>
            <a:srgbClr val="FFF1E4"/>
          </a:solidFill>
          <a:ln w="12700">
            <a:solidFill>
              <a:srgbClr val="FFF1E4">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DF8633"/>
          </a:solidFill>
          <a:ln w="12700">
            <a:solidFill>
              <a:srgbClr val="DF8633">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CU03</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DF8633"/>
                </a:solidFill>
                <a:latin typeface="Inter" pitchFamily="34" charset="0"/>
                <a:ea typeface="Inter" pitchFamily="34" charset="-122"/>
                <a:cs typeface="Inter" pitchFamily="34" charset="-120"/>
              </a:rPr>
              <a:t>14</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DF8633"/>
                </a:solidFill>
                <a:latin typeface="Inter" pitchFamily="34" charset="0"/>
                <a:ea typeface="Inter" pitchFamily="34" charset="-122"/>
                <a:cs typeface="Inter" pitchFamily="34" charset="-120"/>
              </a:rPr>
              <a:t>CU03   ·   MATRIZ DE 11 CRITERIOS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00" b="1" dirty="0">
                <a:solidFill>
                  <a:srgbClr val="102A43"/>
                </a:solidFill>
                <a:latin typeface="Inter" pitchFamily="34" charset="0"/>
                <a:ea typeface="Inter" pitchFamily="34" charset="-122"/>
                <a:cs typeface="Inter" pitchFamily="34" charset="-120"/>
              </a:rPr>
              <a:t>Criterios 07–11: la viabilidad queda pendiente</a:t>
            </a:r>
            <a:endParaRPr lang="en-US" sz="280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Un criterio NOK y observaciones de seguimiento en otros criterios.</a:t>
            </a:r>
            <a:endParaRPr lang="en-US" sz="1280" dirty="0"/>
          </a:p>
        </p:txBody>
      </p:sp>
      <p:sp>
        <p:nvSpPr>
          <p:cNvPr id="11" name="Shape 9"/>
          <p:cNvSpPr/>
          <p:nvPr/>
        </p:nvSpPr>
        <p:spPr>
          <a:xfrm>
            <a:off x="658368" y="2057400"/>
            <a:ext cx="5285232" cy="1115568"/>
          </a:xfrm>
          <a:prstGeom prst="roundRect">
            <a:avLst>
              <a:gd name="adj" fmla="val 9836"/>
            </a:avLst>
          </a:prstGeom>
          <a:solidFill>
            <a:srgbClr val="FFFFFF"/>
          </a:solidFill>
          <a:ln w="10160">
            <a:solidFill>
              <a:srgbClr val="E1EAF1"/>
            </a:solidFill>
            <a:prstDash val="solid"/>
          </a:ln>
        </p:spPr>
      </p:sp>
      <p:sp>
        <p:nvSpPr>
          <p:cNvPr id="12" name="Shape 10"/>
          <p:cNvSpPr/>
          <p:nvPr/>
        </p:nvSpPr>
        <p:spPr>
          <a:xfrm>
            <a:off x="658368" y="2057400"/>
            <a:ext cx="44806" cy="1115568"/>
          </a:xfrm>
          <a:prstGeom prst="rect">
            <a:avLst/>
          </a:prstGeom>
          <a:solidFill>
            <a:srgbClr val="DF8633"/>
          </a:solidFill>
          <a:ln w="12700">
            <a:solidFill>
              <a:srgbClr val="DF8633">
                <a:alpha val="0"/>
              </a:srgbClr>
            </a:solidFill>
            <a:prstDash val="solid"/>
          </a:ln>
        </p:spPr>
      </p:sp>
      <p:sp>
        <p:nvSpPr>
          <p:cNvPr id="13" name="Text 11"/>
          <p:cNvSpPr/>
          <p:nvPr/>
        </p:nvSpPr>
        <p:spPr>
          <a:xfrm>
            <a:off x="822960"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07</a:t>
            </a:r>
            <a:endParaRPr lang="en-US" sz="920" dirty="0"/>
          </a:p>
        </p:txBody>
      </p:sp>
      <p:sp>
        <p:nvSpPr>
          <p:cNvPr id="14" name="Text 12"/>
          <p:cNvSpPr/>
          <p:nvPr/>
        </p:nvSpPr>
        <p:spPr>
          <a:xfrm>
            <a:off x="1252728"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Verifiable</a:t>
            </a:r>
            <a:endParaRPr lang="en-US" sz="1600" dirty="0"/>
          </a:p>
        </p:txBody>
      </p:sp>
      <p:sp>
        <p:nvSpPr>
          <p:cNvPr id="15" name="Shape 13"/>
          <p:cNvSpPr/>
          <p:nvPr/>
        </p:nvSpPr>
        <p:spPr>
          <a:xfrm>
            <a:off x="5294376"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16" name="Text 14"/>
          <p:cNvSpPr/>
          <p:nvPr/>
        </p:nvSpPr>
        <p:spPr>
          <a:xfrm>
            <a:off x="5367528"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17" name="Text 15"/>
          <p:cNvSpPr/>
          <p:nvPr/>
        </p:nvSpPr>
        <p:spPr>
          <a:xfrm>
            <a:off x="841248"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Requisito medible; faltan casos de prueba.</a:t>
            </a:r>
            <a:endParaRPr lang="en-US" sz="1240" dirty="0"/>
          </a:p>
        </p:txBody>
      </p:sp>
      <p:sp>
        <p:nvSpPr>
          <p:cNvPr id="18" name="Shape 16"/>
          <p:cNvSpPr/>
          <p:nvPr/>
        </p:nvSpPr>
        <p:spPr>
          <a:xfrm>
            <a:off x="6208776" y="2057400"/>
            <a:ext cx="5285232" cy="1115568"/>
          </a:xfrm>
          <a:prstGeom prst="roundRect">
            <a:avLst>
              <a:gd name="adj" fmla="val 9836"/>
            </a:avLst>
          </a:prstGeom>
          <a:solidFill>
            <a:srgbClr val="FFFFFF"/>
          </a:solidFill>
          <a:ln w="10160">
            <a:solidFill>
              <a:srgbClr val="E1EAF1"/>
            </a:solidFill>
            <a:prstDash val="solid"/>
          </a:ln>
        </p:spPr>
      </p:sp>
      <p:sp>
        <p:nvSpPr>
          <p:cNvPr id="19" name="Shape 17"/>
          <p:cNvSpPr/>
          <p:nvPr/>
        </p:nvSpPr>
        <p:spPr>
          <a:xfrm>
            <a:off x="6208776" y="2057400"/>
            <a:ext cx="44806" cy="1115568"/>
          </a:xfrm>
          <a:prstGeom prst="rect">
            <a:avLst/>
          </a:prstGeom>
          <a:solidFill>
            <a:srgbClr val="DF8633"/>
          </a:solidFill>
          <a:ln w="12700">
            <a:solidFill>
              <a:srgbClr val="DF8633">
                <a:alpha val="0"/>
              </a:srgbClr>
            </a:solidFill>
            <a:prstDash val="solid"/>
          </a:ln>
        </p:spPr>
      </p:sp>
      <p:sp>
        <p:nvSpPr>
          <p:cNvPr id="20" name="Text 18"/>
          <p:cNvSpPr/>
          <p:nvPr/>
        </p:nvSpPr>
        <p:spPr>
          <a:xfrm>
            <a:off x="6373368" y="2212848"/>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09</a:t>
            </a:r>
            <a:endParaRPr lang="en-US" sz="920" dirty="0"/>
          </a:p>
        </p:txBody>
      </p:sp>
      <p:sp>
        <p:nvSpPr>
          <p:cNvPr id="21" name="Text 19"/>
          <p:cNvSpPr/>
          <p:nvPr/>
        </p:nvSpPr>
        <p:spPr>
          <a:xfrm>
            <a:off x="6803136" y="2167128"/>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Traceable</a:t>
            </a:r>
            <a:endParaRPr lang="en-US" sz="1600" dirty="0"/>
          </a:p>
        </p:txBody>
      </p:sp>
      <p:sp>
        <p:nvSpPr>
          <p:cNvPr id="22" name="Shape 20"/>
          <p:cNvSpPr/>
          <p:nvPr/>
        </p:nvSpPr>
        <p:spPr>
          <a:xfrm>
            <a:off x="10844784" y="2194560"/>
            <a:ext cx="475488" cy="329184"/>
          </a:xfrm>
          <a:prstGeom prst="roundRect">
            <a:avLst>
              <a:gd name="adj" fmla="val 38889"/>
            </a:avLst>
          </a:prstGeom>
          <a:solidFill>
            <a:srgbClr val="E8F5EF"/>
          </a:solidFill>
          <a:ln w="12700">
            <a:solidFill>
              <a:srgbClr val="E8F5EF">
                <a:alpha val="0"/>
              </a:srgbClr>
            </a:solidFill>
            <a:prstDash val="solid"/>
          </a:ln>
        </p:spPr>
      </p:sp>
      <p:sp>
        <p:nvSpPr>
          <p:cNvPr id="23" name="Text 21"/>
          <p:cNvSpPr/>
          <p:nvPr/>
        </p:nvSpPr>
        <p:spPr>
          <a:xfrm>
            <a:off x="10917936" y="2244852"/>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24" name="Text 22"/>
          <p:cNvSpPr/>
          <p:nvPr/>
        </p:nvSpPr>
        <p:spPr>
          <a:xfrm>
            <a:off x="6391656" y="2615184"/>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Origen, matrices de trazabilidad e identificador único.</a:t>
            </a:r>
            <a:endParaRPr lang="en-US" sz="1240" dirty="0"/>
          </a:p>
        </p:txBody>
      </p:sp>
      <p:sp>
        <p:nvSpPr>
          <p:cNvPr id="25" name="Shape 23"/>
          <p:cNvSpPr/>
          <p:nvPr/>
        </p:nvSpPr>
        <p:spPr>
          <a:xfrm>
            <a:off x="658368" y="3401568"/>
            <a:ext cx="5285232" cy="1115568"/>
          </a:xfrm>
          <a:prstGeom prst="roundRect">
            <a:avLst>
              <a:gd name="adj" fmla="val 9836"/>
            </a:avLst>
          </a:prstGeom>
          <a:solidFill>
            <a:srgbClr val="FFFFFF"/>
          </a:solidFill>
          <a:ln w="10160">
            <a:solidFill>
              <a:srgbClr val="E1EAF1"/>
            </a:solidFill>
            <a:prstDash val="solid"/>
          </a:ln>
        </p:spPr>
      </p:sp>
      <p:sp>
        <p:nvSpPr>
          <p:cNvPr id="26" name="Shape 24"/>
          <p:cNvSpPr/>
          <p:nvPr/>
        </p:nvSpPr>
        <p:spPr>
          <a:xfrm>
            <a:off x="658368" y="3401568"/>
            <a:ext cx="44806" cy="1115568"/>
          </a:xfrm>
          <a:prstGeom prst="rect">
            <a:avLst/>
          </a:prstGeom>
          <a:solidFill>
            <a:srgbClr val="DF8633"/>
          </a:solidFill>
          <a:ln w="12700">
            <a:solidFill>
              <a:srgbClr val="DF8633">
                <a:alpha val="0"/>
              </a:srgbClr>
            </a:solidFill>
            <a:prstDash val="solid"/>
          </a:ln>
        </p:spPr>
      </p:sp>
      <p:sp>
        <p:nvSpPr>
          <p:cNvPr id="27" name="Text 25"/>
          <p:cNvSpPr/>
          <p:nvPr/>
        </p:nvSpPr>
        <p:spPr>
          <a:xfrm>
            <a:off x="822960"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10</a:t>
            </a:r>
            <a:endParaRPr lang="en-US" sz="920" dirty="0"/>
          </a:p>
        </p:txBody>
      </p:sp>
      <p:sp>
        <p:nvSpPr>
          <p:cNvPr id="28" name="Text 26"/>
          <p:cNvSpPr/>
          <p:nvPr/>
        </p:nvSpPr>
        <p:spPr>
          <a:xfrm>
            <a:off x="1252728"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Complete</a:t>
            </a:r>
            <a:endParaRPr lang="en-US" sz="1600" dirty="0"/>
          </a:p>
        </p:txBody>
      </p:sp>
      <p:sp>
        <p:nvSpPr>
          <p:cNvPr id="29" name="Shape 27"/>
          <p:cNvSpPr/>
          <p:nvPr/>
        </p:nvSpPr>
        <p:spPr>
          <a:xfrm>
            <a:off x="5294376"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0" name="Text 28"/>
          <p:cNvSpPr/>
          <p:nvPr/>
        </p:nvSpPr>
        <p:spPr>
          <a:xfrm>
            <a:off x="5367528"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1" name="Text 29"/>
          <p:cNvSpPr/>
          <p:nvPr/>
        </p:nvSpPr>
        <p:spPr>
          <a:xfrm>
            <a:off x="841248"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Entradas, salidas, precondiciones y postcondiciones.</a:t>
            </a:r>
            <a:endParaRPr lang="en-US" sz="1240" dirty="0"/>
          </a:p>
        </p:txBody>
      </p:sp>
      <p:sp>
        <p:nvSpPr>
          <p:cNvPr id="32" name="Shape 30"/>
          <p:cNvSpPr/>
          <p:nvPr/>
        </p:nvSpPr>
        <p:spPr>
          <a:xfrm>
            <a:off x="6208776" y="3401568"/>
            <a:ext cx="5285232" cy="1115568"/>
          </a:xfrm>
          <a:prstGeom prst="roundRect">
            <a:avLst>
              <a:gd name="adj" fmla="val 9836"/>
            </a:avLst>
          </a:prstGeom>
          <a:solidFill>
            <a:srgbClr val="FFFFFF"/>
          </a:solidFill>
          <a:ln w="10160">
            <a:solidFill>
              <a:srgbClr val="E1EAF1"/>
            </a:solidFill>
            <a:prstDash val="solid"/>
          </a:ln>
        </p:spPr>
      </p:sp>
      <p:sp>
        <p:nvSpPr>
          <p:cNvPr id="33" name="Shape 31"/>
          <p:cNvSpPr/>
          <p:nvPr/>
        </p:nvSpPr>
        <p:spPr>
          <a:xfrm>
            <a:off x="6208776" y="3401568"/>
            <a:ext cx="44806" cy="1115568"/>
          </a:xfrm>
          <a:prstGeom prst="rect">
            <a:avLst/>
          </a:prstGeom>
          <a:solidFill>
            <a:srgbClr val="DF8633"/>
          </a:solidFill>
          <a:ln w="12700">
            <a:solidFill>
              <a:srgbClr val="DF8633">
                <a:alpha val="0"/>
              </a:srgbClr>
            </a:solidFill>
            <a:prstDash val="solid"/>
          </a:ln>
        </p:spPr>
      </p:sp>
      <p:sp>
        <p:nvSpPr>
          <p:cNvPr id="34" name="Text 32"/>
          <p:cNvSpPr/>
          <p:nvPr/>
        </p:nvSpPr>
        <p:spPr>
          <a:xfrm>
            <a:off x="6373368" y="3557016"/>
            <a:ext cx="365760" cy="201168"/>
          </a:xfrm>
          <a:prstGeom prst="rect">
            <a:avLst/>
          </a:prstGeom>
          <a:noFill/>
          <a:ln/>
        </p:spPr>
        <p:txBody>
          <a:bodyPr wrap="square" lIns="0" tIns="0" rIns="0" bIns="0" rtlCol="0" anchor="ctr">
            <a:normAutofit/>
          </a:bodyPr>
          <a:lstStyle/>
          <a:p>
            <a:pPr indent="0" marL="0">
              <a:buNone/>
            </a:pPr>
            <a:r>
              <a:rPr lang="en-US" sz="920" b="1" spc="140" kern="0" dirty="0">
                <a:solidFill>
                  <a:srgbClr val="DF8633"/>
                </a:solidFill>
                <a:latin typeface="Inter" pitchFamily="34" charset="0"/>
                <a:ea typeface="Inter" pitchFamily="34" charset="-122"/>
                <a:cs typeface="Inter" pitchFamily="34" charset="-120"/>
              </a:rPr>
              <a:t>11</a:t>
            </a:r>
            <a:endParaRPr lang="en-US" sz="920" dirty="0"/>
          </a:p>
        </p:txBody>
      </p:sp>
      <p:sp>
        <p:nvSpPr>
          <p:cNvPr id="35" name="Text 33"/>
          <p:cNvSpPr/>
          <p:nvPr/>
        </p:nvSpPr>
        <p:spPr>
          <a:xfrm>
            <a:off x="6803136" y="3511296"/>
            <a:ext cx="3959352" cy="320040"/>
          </a:xfrm>
          <a:prstGeom prst="rect">
            <a:avLst/>
          </a:prstGeom>
          <a:noFill/>
          <a:ln/>
        </p:spPr>
        <p:txBody>
          <a:bodyPr wrap="square" lIns="0" tIns="0" rIns="0" bIns="0" rtlCol="0" anchor="ctr">
            <a:normAutofit/>
          </a:bodyPr>
          <a:lstStyle/>
          <a:p>
            <a:pPr indent="0" marL="0">
              <a:buNone/>
            </a:pPr>
            <a:r>
              <a:rPr lang="en-US" sz="1600" b="1" dirty="0">
                <a:solidFill>
                  <a:srgbClr val="102A43"/>
                </a:solidFill>
                <a:latin typeface="Inter" pitchFamily="34" charset="0"/>
                <a:ea typeface="Inter" pitchFamily="34" charset="-122"/>
                <a:cs typeface="Inter" pitchFamily="34" charset="-120"/>
              </a:rPr>
              <a:t>Understandability</a:t>
            </a:r>
            <a:endParaRPr lang="en-US" sz="1600" dirty="0"/>
          </a:p>
        </p:txBody>
      </p:sp>
      <p:sp>
        <p:nvSpPr>
          <p:cNvPr id="36" name="Shape 34"/>
          <p:cNvSpPr/>
          <p:nvPr/>
        </p:nvSpPr>
        <p:spPr>
          <a:xfrm>
            <a:off x="10844784" y="3538728"/>
            <a:ext cx="475488" cy="329184"/>
          </a:xfrm>
          <a:prstGeom prst="roundRect">
            <a:avLst>
              <a:gd name="adj" fmla="val 38889"/>
            </a:avLst>
          </a:prstGeom>
          <a:solidFill>
            <a:srgbClr val="E8F5EF"/>
          </a:solidFill>
          <a:ln w="12700">
            <a:solidFill>
              <a:srgbClr val="E8F5EF">
                <a:alpha val="0"/>
              </a:srgbClr>
            </a:solidFill>
            <a:prstDash val="solid"/>
          </a:ln>
        </p:spPr>
      </p:sp>
      <p:sp>
        <p:nvSpPr>
          <p:cNvPr id="37" name="Text 35"/>
          <p:cNvSpPr/>
          <p:nvPr/>
        </p:nvSpPr>
        <p:spPr>
          <a:xfrm>
            <a:off x="10917936" y="3589020"/>
            <a:ext cx="329184" cy="219456"/>
          </a:xfrm>
          <a:prstGeom prst="rect">
            <a:avLst/>
          </a:prstGeom>
          <a:noFill/>
          <a:ln/>
        </p:spPr>
        <p:txBody>
          <a:bodyPr wrap="square" lIns="0" tIns="0" rIns="0" bIns="0" rtlCol="0" anchor="ctr">
            <a:normAutofit/>
          </a:bodyPr>
          <a:lstStyle/>
          <a:p>
            <a:pPr algn="ctr" indent="0" marL="0">
              <a:buNone/>
            </a:pPr>
            <a:r>
              <a:rPr lang="en-US" sz="1000" b="1" dirty="0">
                <a:solidFill>
                  <a:srgbClr val="207D60"/>
                </a:solidFill>
                <a:latin typeface="Inter" pitchFamily="34" charset="0"/>
                <a:ea typeface="Inter" pitchFamily="34" charset="-122"/>
                <a:cs typeface="Inter" pitchFamily="34" charset="-120"/>
              </a:rPr>
              <a:t>OK</a:t>
            </a:r>
            <a:endParaRPr lang="en-US" sz="1000" dirty="0"/>
          </a:p>
        </p:txBody>
      </p:sp>
      <p:sp>
        <p:nvSpPr>
          <p:cNvPr id="38" name="Text 36"/>
          <p:cNvSpPr/>
          <p:nvPr/>
        </p:nvSpPr>
        <p:spPr>
          <a:xfrm>
            <a:off x="6391656" y="3959352"/>
            <a:ext cx="4873752" cy="466344"/>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Cliente involucrado y términos respaldados por glosario.</a:t>
            </a:r>
            <a:endParaRPr lang="en-US" sz="1240" dirty="0"/>
          </a:p>
        </p:txBody>
      </p:sp>
      <p:sp>
        <p:nvSpPr>
          <p:cNvPr id="39" name="Shape 37"/>
          <p:cNvSpPr/>
          <p:nvPr/>
        </p:nvSpPr>
        <p:spPr>
          <a:xfrm>
            <a:off x="658368" y="4965192"/>
            <a:ext cx="10817352" cy="1280160"/>
          </a:xfrm>
          <a:prstGeom prst="roundRect">
            <a:avLst>
              <a:gd name="adj" fmla="val 12143"/>
            </a:avLst>
          </a:prstGeom>
          <a:solidFill>
            <a:srgbClr val="FFF0EF"/>
          </a:solidFill>
          <a:ln w="10160">
            <a:solidFill>
              <a:srgbClr val="F9D7D7"/>
            </a:solidFill>
            <a:prstDash val="solid"/>
          </a:ln>
        </p:spPr>
      </p:sp>
      <p:sp>
        <p:nvSpPr>
          <p:cNvPr id="40" name="Shape 38"/>
          <p:cNvSpPr/>
          <p:nvPr/>
        </p:nvSpPr>
        <p:spPr>
          <a:xfrm>
            <a:off x="941832" y="5285232"/>
            <a:ext cx="438912" cy="429768"/>
          </a:xfrm>
          <a:prstGeom prst="roundRect">
            <a:avLst>
              <a:gd name="adj" fmla="val 38298"/>
            </a:avLst>
          </a:prstGeom>
          <a:solidFill>
            <a:srgbClr val="FFFFFF"/>
          </a:solidFill>
          <a:ln w="12700">
            <a:solidFill>
              <a:srgbClr val="FFFFFF">
                <a:alpha val="0"/>
              </a:srgbClr>
            </a:solidFill>
            <a:prstDash val="solid"/>
          </a:ln>
        </p:spPr>
      </p:sp>
      <p:sp>
        <p:nvSpPr>
          <p:cNvPr id="41" name="Text 39"/>
          <p:cNvSpPr/>
          <p:nvPr/>
        </p:nvSpPr>
        <p:spPr>
          <a:xfrm>
            <a:off x="1065276" y="5394960"/>
            <a:ext cx="201168" cy="173736"/>
          </a:xfrm>
          <a:prstGeom prst="rect">
            <a:avLst/>
          </a:prstGeom>
          <a:noFill/>
          <a:ln/>
        </p:spPr>
        <p:txBody>
          <a:bodyPr wrap="square" lIns="0" tIns="0" rIns="0" bIns="0" rtlCol="0" anchor="ctr">
            <a:normAutofit/>
          </a:bodyPr>
          <a:lstStyle/>
          <a:p>
            <a:pPr algn="ctr" indent="0" marL="0">
              <a:buNone/>
            </a:pPr>
            <a:r>
              <a:rPr lang="en-US" sz="1500" b="1" dirty="0">
                <a:solidFill>
                  <a:srgbClr val="C95057"/>
                </a:solidFill>
                <a:latin typeface="Inter" pitchFamily="34" charset="0"/>
                <a:ea typeface="Inter" pitchFamily="34" charset="-122"/>
                <a:cs typeface="Inter" pitchFamily="34" charset="-120"/>
              </a:rPr>
              <a:t>!</a:t>
            </a:r>
            <a:endParaRPr lang="en-US" sz="1500" dirty="0"/>
          </a:p>
        </p:txBody>
      </p:sp>
      <p:sp>
        <p:nvSpPr>
          <p:cNvPr id="42" name="Text 40"/>
          <p:cNvSpPr/>
          <p:nvPr/>
        </p:nvSpPr>
        <p:spPr>
          <a:xfrm>
            <a:off x="1572768" y="5166360"/>
            <a:ext cx="6163056" cy="201168"/>
          </a:xfrm>
          <a:prstGeom prst="rect">
            <a:avLst/>
          </a:prstGeom>
          <a:noFill/>
          <a:ln/>
        </p:spPr>
        <p:txBody>
          <a:bodyPr wrap="square" lIns="0" tIns="0" rIns="0" bIns="0" rtlCol="0" anchor="ctr">
            <a:normAutofit/>
          </a:bodyPr>
          <a:lstStyle/>
          <a:p>
            <a:pPr indent="0" marL="0">
              <a:buNone/>
            </a:pPr>
            <a:r>
              <a:rPr lang="en-US" sz="1050" b="1" spc="140" kern="0" dirty="0">
                <a:solidFill>
                  <a:srgbClr val="C95057"/>
                </a:solidFill>
                <a:latin typeface="Inter" pitchFamily="34" charset="0"/>
                <a:ea typeface="Inter" pitchFamily="34" charset="-122"/>
                <a:cs typeface="Inter" pitchFamily="34" charset="-120"/>
              </a:rPr>
              <a:t>08  /  REALIZABLE</a:t>
            </a:r>
            <a:endParaRPr lang="en-US" sz="1050" dirty="0"/>
          </a:p>
        </p:txBody>
      </p:sp>
      <p:sp>
        <p:nvSpPr>
          <p:cNvPr id="43" name="Text 41"/>
          <p:cNvSpPr/>
          <p:nvPr/>
        </p:nvSpPr>
        <p:spPr>
          <a:xfrm>
            <a:off x="1572768" y="5458968"/>
            <a:ext cx="8796528" cy="402336"/>
          </a:xfrm>
          <a:prstGeom prst="rect">
            <a:avLst/>
          </a:prstGeom>
          <a:noFill/>
          <a:ln/>
        </p:spPr>
        <p:txBody>
          <a:bodyPr wrap="square" lIns="0" tIns="0" rIns="0" bIns="0" rtlCol="0" anchor="ctr">
            <a:normAutofit/>
          </a:bodyPr>
          <a:lstStyle/>
          <a:p>
            <a:pPr indent="0" marL="0">
              <a:buNone/>
            </a:pPr>
            <a:r>
              <a:rPr lang="en-US" sz="1980" b="1" dirty="0">
                <a:solidFill>
                  <a:srgbClr val="102A43"/>
                </a:solidFill>
                <a:latin typeface="Inter" pitchFamily="34" charset="0"/>
                <a:ea typeface="Inter" pitchFamily="34" charset="-122"/>
                <a:cs typeface="Inter" pitchFamily="34" charset="-120"/>
              </a:rPr>
              <a:t>NOK · Funcionalidad estimada, pero aún no desarrollada</a:t>
            </a:r>
            <a:endParaRPr lang="en-US" sz="1980" dirty="0"/>
          </a:p>
        </p:txBody>
      </p:sp>
      <p:sp>
        <p:nvSpPr>
          <p:cNvPr id="44" name="Shape 42"/>
          <p:cNvSpPr/>
          <p:nvPr/>
        </p:nvSpPr>
        <p:spPr>
          <a:xfrm>
            <a:off x="10241280" y="5340096"/>
            <a:ext cx="914400" cy="329184"/>
          </a:xfrm>
          <a:prstGeom prst="roundRect">
            <a:avLst>
              <a:gd name="adj" fmla="val 38889"/>
            </a:avLst>
          </a:prstGeom>
          <a:solidFill>
            <a:srgbClr val="FFFFFF"/>
          </a:solidFill>
          <a:ln w="12700">
            <a:solidFill>
              <a:srgbClr val="FFFFFF">
                <a:alpha val="0"/>
              </a:srgbClr>
            </a:solidFill>
            <a:prstDash val="solid"/>
          </a:ln>
        </p:spPr>
      </p:sp>
      <p:sp>
        <p:nvSpPr>
          <p:cNvPr id="45" name="Text 43"/>
          <p:cNvSpPr/>
          <p:nvPr/>
        </p:nvSpPr>
        <p:spPr>
          <a:xfrm>
            <a:off x="10314432" y="5390388"/>
            <a:ext cx="768096" cy="219456"/>
          </a:xfrm>
          <a:prstGeom prst="rect">
            <a:avLst/>
          </a:prstGeom>
          <a:noFill/>
          <a:ln/>
        </p:spPr>
        <p:txBody>
          <a:bodyPr wrap="square" lIns="0" tIns="0" rIns="0" bIns="0" rtlCol="0" anchor="ctr">
            <a:normAutofit/>
          </a:bodyPr>
          <a:lstStyle/>
          <a:p>
            <a:pPr algn="ctr" indent="0" marL="0">
              <a:buNone/>
            </a:pPr>
            <a:r>
              <a:rPr lang="en-US" sz="1000" b="1" dirty="0">
                <a:solidFill>
                  <a:srgbClr val="C95057"/>
                </a:solidFill>
                <a:latin typeface="Inter" pitchFamily="34" charset="0"/>
                <a:ea typeface="Inter" pitchFamily="34" charset="-122"/>
                <a:cs typeface="Inter" pitchFamily="34" charset="-120"/>
              </a:rPr>
              <a:t>1 NOK</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COMPARACIÓN</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15</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LECTURA COMPARATIVA</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720" b="1" dirty="0">
                <a:solidFill>
                  <a:srgbClr val="102A43"/>
                </a:solidFill>
                <a:latin typeface="Inter" pitchFamily="34" charset="0"/>
                <a:ea typeface="Inter" pitchFamily="34" charset="-122"/>
                <a:cs typeface="Inter" pitchFamily="34" charset="-120"/>
              </a:rPr>
              <a:t>Tres evaluaciones individuales con el mismo patrón</a:t>
            </a:r>
            <a:endParaRPr lang="en-US" sz="272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Los resultados coinciden, pero cada caso conserva sus propias evidencias.</a:t>
            </a:r>
            <a:endParaRPr lang="en-US" sz="1280" dirty="0"/>
          </a:p>
        </p:txBody>
      </p:sp>
      <p:sp>
        <p:nvSpPr>
          <p:cNvPr id="11" name="Shape 9"/>
          <p:cNvSpPr/>
          <p:nvPr/>
        </p:nvSpPr>
        <p:spPr>
          <a:xfrm>
            <a:off x="676656" y="2103120"/>
            <a:ext cx="3529584" cy="3474720"/>
          </a:xfrm>
          <a:prstGeom prst="roundRect">
            <a:avLst>
              <a:gd name="adj" fmla="val 4737"/>
            </a:avLst>
          </a:prstGeom>
          <a:solidFill>
            <a:srgbClr val="FFFFFF"/>
          </a:solidFill>
          <a:ln w="10160">
            <a:solidFill>
              <a:srgbClr val="E1EAF1"/>
            </a:solidFill>
            <a:prstDash val="solid"/>
          </a:ln>
        </p:spPr>
      </p:sp>
      <p:sp>
        <p:nvSpPr>
          <p:cNvPr id="12" name="Shape 10"/>
          <p:cNvSpPr/>
          <p:nvPr/>
        </p:nvSpPr>
        <p:spPr>
          <a:xfrm>
            <a:off x="676656" y="2103120"/>
            <a:ext cx="3529584" cy="86868"/>
          </a:xfrm>
          <a:prstGeom prst="rect">
            <a:avLst/>
          </a:prstGeom>
          <a:solidFill>
            <a:srgbClr val="2776D2"/>
          </a:solidFill>
          <a:ln w="12700">
            <a:solidFill>
              <a:srgbClr val="2776D2">
                <a:alpha val="0"/>
              </a:srgbClr>
            </a:solidFill>
            <a:prstDash val="solid"/>
          </a:ln>
        </p:spPr>
      </p:sp>
      <p:sp>
        <p:nvSpPr>
          <p:cNvPr id="13" name="Text 11"/>
          <p:cNvSpPr/>
          <p:nvPr/>
        </p:nvSpPr>
        <p:spPr>
          <a:xfrm>
            <a:off x="896112" y="2340864"/>
            <a:ext cx="2999232" cy="384048"/>
          </a:xfrm>
          <a:prstGeom prst="rect">
            <a:avLst/>
          </a:prstGeom>
          <a:noFill/>
          <a:ln/>
        </p:spPr>
        <p:txBody>
          <a:bodyPr wrap="square" lIns="0" tIns="0" rIns="0" bIns="0" rtlCol="0" anchor="ctr">
            <a:normAutofit/>
          </a:bodyPr>
          <a:lstStyle/>
          <a:p>
            <a:pPr indent="0" marL="0">
              <a:buNone/>
            </a:pPr>
            <a:r>
              <a:rPr lang="en-US" sz="2300" b="1" dirty="0">
                <a:solidFill>
                  <a:srgbClr val="2776D2"/>
                </a:solidFill>
                <a:latin typeface="Inter" pitchFamily="34" charset="0"/>
                <a:ea typeface="Inter" pitchFamily="34" charset="-122"/>
                <a:cs typeface="Inter" pitchFamily="34" charset="-120"/>
              </a:rPr>
              <a:t>CU01</a:t>
            </a:r>
            <a:endParaRPr lang="en-US" sz="2300" dirty="0"/>
          </a:p>
        </p:txBody>
      </p:sp>
      <p:sp>
        <p:nvSpPr>
          <p:cNvPr id="14" name="Text 12"/>
          <p:cNvSpPr/>
          <p:nvPr/>
        </p:nvSpPr>
        <p:spPr>
          <a:xfrm>
            <a:off x="886968" y="2761488"/>
            <a:ext cx="3017520" cy="685800"/>
          </a:xfrm>
          <a:prstGeom prst="rect">
            <a:avLst/>
          </a:prstGeom>
          <a:noFill/>
          <a:ln/>
        </p:spPr>
        <p:txBody>
          <a:bodyPr wrap="square" lIns="0" tIns="0" rIns="0" bIns="0" rtlCol="0" anchor="ctr">
            <a:normAutofit/>
          </a:bodyPr>
          <a:lstStyle/>
          <a:p>
            <a:pPr indent="0" marL="0">
              <a:buNone/>
            </a:pPr>
            <a:r>
              <a:rPr lang="en-US" sz="4800" b="1" dirty="0">
                <a:solidFill>
                  <a:srgbClr val="102A43"/>
                </a:solidFill>
                <a:latin typeface="Inter" pitchFamily="34" charset="0"/>
                <a:ea typeface="Inter" pitchFamily="34" charset="-122"/>
                <a:cs typeface="Inter" pitchFamily="34" charset="-120"/>
              </a:rPr>
              <a:t>94%</a:t>
            </a:r>
            <a:endParaRPr lang="en-US" sz="4800" dirty="0"/>
          </a:p>
        </p:txBody>
      </p:sp>
      <p:sp>
        <p:nvSpPr>
          <p:cNvPr id="15" name="Text 13"/>
          <p:cNvSpPr/>
          <p:nvPr/>
        </p:nvSpPr>
        <p:spPr>
          <a:xfrm>
            <a:off x="914400" y="3502152"/>
            <a:ext cx="2962656" cy="237744"/>
          </a:xfrm>
          <a:prstGeom prst="rect">
            <a:avLst/>
          </a:prstGeom>
          <a:noFill/>
          <a:ln/>
        </p:spPr>
        <p:txBody>
          <a:bodyPr wrap="square" lIns="0" tIns="0" rIns="0" bIns="0" rtlCol="0" anchor="ctr">
            <a:normAutofit/>
          </a:bodyPr>
          <a:lstStyle/>
          <a:p>
            <a:pPr indent="0" marL="0">
              <a:buNone/>
            </a:pPr>
            <a:r>
              <a:rPr lang="en-US" sz="1260" dirty="0">
                <a:solidFill>
                  <a:srgbClr val="60748A"/>
                </a:solidFill>
                <a:latin typeface="Inter" pitchFamily="34" charset="0"/>
                <a:ea typeface="Inter" pitchFamily="34" charset="-122"/>
                <a:cs typeface="Inter" pitchFamily="34" charset="-120"/>
              </a:rPr>
              <a:t>16 de 17 respuestas Sí</a:t>
            </a:r>
            <a:endParaRPr lang="en-US" sz="1260" dirty="0"/>
          </a:p>
        </p:txBody>
      </p:sp>
      <p:sp>
        <p:nvSpPr>
          <p:cNvPr id="16" name="Shape 14"/>
          <p:cNvSpPr/>
          <p:nvPr/>
        </p:nvSpPr>
        <p:spPr>
          <a:xfrm>
            <a:off x="914400" y="3959352"/>
            <a:ext cx="3054096" cy="0"/>
          </a:xfrm>
          <a:prstGeom prst="line">
            <a:avLst/>
          </a:prstGeom>
          <a:noFill/>
          <a:ln w="12700">
            <a:solidFill>
              <a:srgbClr val="E1EAF1"/>
            </a:solidFill>
            <a:prstDash val="solid"/>
            <a:headEnd type="none"/>
            <a:tailEnd type="none"/>
          </a:ln>
        </p:spPr>
      </p:sp>
      <p:sp>
        <p:nvSpPr>
          <p:cNvPr id="17" name="Text 15"/>
          <p:cNvSpPr/>
          <p:nvPr/>
        </p:nvSpPr>
        <p:spPr>
          <a:xfrm>
            <a:off x="941832" y="4288536"/>
            <a:ext cx="667512" cy="448056"/>
          </a:xfrm>
          <a:prstGeom prst="rect">
            <a:avLst/>
          </a:prstGeom>
          <a:noFill/>
          <a:ln/>
        </p:spPr>
        <p:txBody>
          <a:bodyPr wrap="square" lIns="0" tIns="0" rIns="0" bIns="0" rtlCol="0" anchor="ctr">
            <a:normAutofit/>
          </a:bodyPr>
          <a:lstStyle/>
          <a:p>
            <a:pPr indent="0" marL="0">
              <a:buNone/>
            </a:pPr>
            <a:r>
              <a:rPr lang="en-US" sz="2600" b="1" dirty="0">
                <a:solidFill>
                  <a:srgbClr val="207D60"/>
                </a:solidFill>
                <a:latin typeface="Inter" pitchFamily="34" charset="0"/>
                <a:ea typeface="Inter" pitchFamily="34" charset="-122"/>
                <a:cs typeface="Inter" pitchFamily="34" charset="-120"/>
              </a:rPr>
              <a:t>10</a:t>
            </a:r>
            <a:endParaRPr lang="en-US" sz="2600" dirty="0"/>
          </a:p>
        </p:txBody>
      </p:sp>
      <p:sp>
        <p:nvSpPr>
          <p:cNvPr id="18" name="Text 16"/>
          <p:cNvSpPr/>
          <p:nvPr/>
        </p:nvSpPr>
        <p:spPr>
          <a:xfrm>
            <a:off x="1627632" y="4434840"/>
            <a:ext cx="640080"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OK</a:t>
            </a:r>
            <a:endParaRPr lang="en-US" sz="1150" dirty="0"/>
          </a:p>
        </p:txBody>
      </p:sp>
      <p:sp>
        <p:nvSpPr>
          <p:cNvPr id="19" name="Text 17"/>
          <p:cNvSpPr/>
          <p:nvPr/>
        </p:nvSpPr>
        <p:spPr>
          <a:xfrm>
            <a:off x="2660904" y="4288536"/>
            <a:ext cx="484632" cy="448056"/>
          </a:xfrm>
          <a:prstGeom prst="rect">
            <a:avLst/>
          </a:prstGeom>
          <a:noFill/>
          <a:ln/>
        </p:spPr>
        <p:txBody>
          <a:bodyPr wrap="square" lIns="0" tIns="0" rIns="0" bIns="0" rtlCol="0" anchor="ctr">
            <a:normAutofit/>
          </a:bodyPr>
          <a:lstStyle/>
          <a:p>
            <a:pPr indent="0" marL="0">
              <a:buNone/>
            </a:pPr>
            <a:r>
              <a:rPr lang="en-US" sz="2600" b="1" dirty="0">
                <a:solidFill>
                  <a:srgbClr val="C95057"/>
                </a:solidFill>
                <a:latin typeface="Inter" pitchFamily="34" charset="0"/>
                <a:ea typeface="Inter" pitchFamily="34" charset="-122"/>
                <a:cs typeface="Inter" pitchFamily="34" charset="-120"/>
              </a:rPr>
              <a:t>1</a:t>
            </a:r>
            <a:endParaRPr lang="en-US" sz="2600" dirty="0"/>
          </a:p>
        </p:txBody>
      </p:sp>
      <p:sp>
        <p:nvSpPr>
          <p:cNvPr id="20" name="Text 18"/>
          <p:cNvSpPr/>
          <p:nvPr/>
        </p:nvSpPr>
        <p:spPr>
          <a:xfrm>
            <a:off x="3145536" y="4434840"/>
            <a:ext cx="694944"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NOK</a:t>
            </a:r>
            <a:endParaRPr lang="en-US" sz="1150" dirty="0"/>
          </a:p>
        </p:txBody>
      </p:sp>
      <p:sp>
        <p:nvSpPr>
          <p:cNvPr id="21" name="Shape 19"/>
          <p:cNvSpPr/>
          <p:nvPr/>
        </p:nvSpPr>
        <p:spPr>
          <a:xfrm>
            <a:off x="914400" y="5010912"/>
            <a:ext cx="3035808" cy="329184"/>
          </a:xfrm>
          <a:prstGeom prst="roundRect">
            <a:avLst>
              <a:gd name="adj" fmla="val 33333"/>
            </a:avLst>
          </a:prstGeom>
          <a:solidFill>
            <a:srgbClr val="ECF5FF"/>
          </a:solidFill>
          <a:ln w="12700">
            <a:solidFill>
              <a:srgbClr val="ECF5FF">
                <a:alpha val="0"/>
              </a:srgbClr>
            </a:solidFill>
            <a:prstDash val="solid"/>
          </a:ln>
        </p:spPr>
      </p:sp>
      <p:sp>
        <p:nvSpPr>
          <p:cNvPr id="22" name="Text 20"/>
          <p:cNvSpPr/>
          <p:nvPr/>
        </p:nvSpPr>
        <p:spPr>
          <a:xfrm>
            <a:off x="1024128" y="5093208"/>
            <a:ext cx="2770632" cy="155448"/>
          </a:xfrm>
          <a:prstGeom prst="rect">
            <a:avLst/>
          </a:prstGeom>
          <a:noFill/>
          <a:ln/>
        </p:spPr>
        <p:txBody>
          <a:bodyPr wrap="square" lIns="0" tIns="0" rIns="0" bIns="0" rtlCol="0" anchor="ctr">
            <a:normAutofit/>
          </a:bodyPr>
          <a:lstStyle/>
          <a:p>
            <a:pPr algn="ctr" indent="0" marL="0">
              <a:buNone/>
            </a:pPr>
            <a:r>
              <a:rPr lang="en-US" sz="1120" b="1" dirty="0">
                <a:solidFill>
                  <a:srgbClr val="2776D2"/>
                </a:solidFill>
                <a:latin typeface="Inter" pitchFamily="34" charset="0"/>
                <a:ea typeface="Inter" pitchFamily="34" charset="-122"/>
                <a:cs typeface="Inter" pitchFamily="34" charset="-120"/>
              </a:rPr>
              <a:t>Realizable · NOK</a:t>
            </a:r>
            <a:endParaRPr lang="en-US" sz="1120" dirty="0"/>
          </a:p>
        </p:txBody>
      </p:sp>
      <p:sp>
        <p:nvSpPr>
          <p:cNvPr id="23" name="Shape 21"/>
          <p:cNvSpPr/>
          <p:nvPr/>
        </p:nvSpPr>
        <p:spPr>
          <a:xfrm>
            <a:off x="4453128" y="2103120"/>
            <a:ext cx="3529584" cy="3474720"/>
          </a:xfrm>
          <a:prstGeom prst="roundRect">
            <a:avLst>
              <a:gd name="adj" fmla="val 4737"/>
            </a:avLst>
          </a:prstGeom>
          <a:solidFill>
            <a:srgbClr val="FFFFFF"/>
          </a:solidFill>
          <a:ln w="10160">
            <a:solidFill>
              <a:srgbClr val="E1EAF1"/>
            </a:solidFill>
            <a:prstDash val="solid"/>
          </a:ln>
        </p:spPr>
      </p:sp>
      <p:sp>
        <p:nvSpPr>
          <p:cNvPr id="24" name="Shape 22"/>
          <p:cNvSpPr/>
          <p:nvPr/>
        </p:nvSpPr>
        <p:spPr>
          <a:xfrm>
            <a:off x="4453128" y="2103120"/>
            <a:ext cx="3529584" cy="86868"/>
          </a:xfrm>
          <a:prstGeom prst="rect">
            <a:avLst/>
          </a:prstGeom>
          <a:solidFill>
            <a:srgbClr val="119E94"/>
          </a:solidFill>
          <a:ln w="12700">
            <a:solidFill>
              <a:srgbClr val="119E94">
                <a:alpha val="0"/>
              </a:srgbClr>
            </a:solidFill>
            <a:prstDash val="solid"/>
          </a:ln>
        </p:spPr>
      </p:sp>
      <p:sp>
        <p:nvSpPr>
          <p:cNvPr id="25" name="Text 23"/>
          <p:cNvSpPr/>
          <p:nvPr/>
        </p:nvSpPr>
        <p:spPr>
          <a:xfrm>
            <a:off x="4672584" y="2340864"/>
            <a:ext cx="2999232" cy="384048"/>
          </a:xfrm>
          <a:prstGeom prst="rect">
            <a:avLst/>
          </a:prstGeom>
          <a:noFill/>
          <a:ln/>
        </p:spPr>
        <p:txBody>
          <a:bodyPr wrap="square" lIns="0" tIns="0" rIns="0" bIns="0" rtlCol="0" anchor="ctr">
            <a:normAutofit/>
          </a:bodyPr>
          <a:lstStyle/>
          <a:p>
            <a:pPr indent="0" marL="0">
              <a:buNone/>
            </a:pPr>
            <a:r>
              <a:rPr lang="en-US" sz="2300" b="1" dirty="0">
                <a:solidFill>
                  <a:srgbClr val="119E94"/>
                </a:solidFill>
                <a:latin typeface="Inter" pitchFamily="34" charset="0"/>
                <a:ea typeface="Inter" pitchFamily="34" charset="-122"/>
                <a:cs typeface="Inter" pitchFamily="34" charset="-120"/>
              </a:rPr>
              <a:t>CU02</a:t>
            </a:r>
            <a:endParaRPr lang="en-US" sz="2300" dirty="0"/>
          </a:p>
        </p:txBody>
      </p:sp>
      <p:sp>
        <p:nvSpPr>
          <p:cNvPr id="26" name="Text 24"/>
          <p:cNvSpPr/>
          <p:nvPr/>
        </p:nvSpPr>
        <p:spPr>
          <a:xfrm>
            <a:off x="4663440" y="2761488"/>
            <a:ext cx="3017520" cy="685800"/>
          </a:xfrm>
          <a:prstGeom prst="rect">
            <a:avLst/>
          </a:prstGeom>
          <a:noFill/>
          <a:ln/>
        </p:spPr>
        <p:txBody>
          <a:bodyPr wrap="square" lIns="0" tIns="0" rIns="0" bIns="0" rtlCol="0" anchor="ctr">
            <a:normAutofit/>
          </a:bodyPr>
          <a:lstStyle/>
          <a:p>
            <a:pPr indent="0" marL="0">
              <a:buNone/>
            </a:pPr>
            <a:r>
              <a:rPr lang="en-US" sz="4800" b="1" dirty="0">
                <a:solidFill>
                  <a:srgbClr val="102A43"/>
                </a:solidFill>
                <a:latin typeface="Inter" pitchFamily="34" charset="0"/>
                <a:ea typeface="Inter" pitchFamily="34" charset="-122"/>
                <a:cs typeface="Inter" pitchFamily="34" charset="-120"/>
              </a:rPr>
              <a:t>94%</a:t>
            </a:r>
            <a:endParaRPr lang="en-US" sz="4800" dirty="0"/>
          </a:p>
        </p:txBody>
      </p:sp>
      <p:sp>
        <p:nvSpPr>
          <p:cNvPr id="27" name="Text 25"/>
          <p:cNvSpPr/>
          <p:nvPr/>
        </p:nvSpPr>
        <p:spPr>
          <a:xfrm>
            <a:off x="4690872" y="3502152"/>
            <a:ext cx="2962656" cy="237744"/>
          </a:xfrm>
          <a:prstGeom prst="rect">
            <a:avLst/>
          </a:prstGeom>
          <a:noFill/>
          <a:ln/>
        </p:spPr>
        <p:txBody>
          <a:bodyPr wrap="square" lIns="0" tIns="0" rIns="0" bIns="0" rtlCol="0" anchor="ctr">
            <a:normAutofit/>
          </a:bodyPr>
          <a:lstStyle/>
          <a:p>
            <a:pPr indent="0" marL="0">
              <a:buNone/>
            </a:pPr>
            <a:r>
              <a:rPr lang="en-US" sz="1260" dirty="0">
                <a:solidFill>
                  <a:srgbClr val="60748A"/>
                </a:solidFill>
                <a:latin typeface="Inter" pitchFamily="34" charset="0"/>
                <a:ea typeface="Inter" pitchFamily="34" charset="-122"/>
                <a:cs typeface="Inter" pitchFamily="34" charset="-120"/>
              </a:rPr>
              <a:t>16 de 17 respuestas Sí</a:t>
            </a:r>
            <a:endParaRPr lang="en-US" sz="1260" dirty="0"/>
          </a:p>
        </p:txBody>
      </p:sp>
      <p:sp>
        <p:nvSpPr>
          <p:cNvPr id="28" name="Shape 26"/>
          <p:cNvSpPr/>
          <p:nvPr/>
        </p:nvSpPr>
        <p:spPr>
          <a:xfrm>
            <a:off x="4690872" y="3959352"/>
            <a:ext cx="3054096" cy="0"/>
          </a:xfrm>
          <a:prstGeom prst="line">
            <a:avLst/>
          </a:prstGeom>
          <a:noFill/>
          <a:ln w="12700">
            <a:solidFill>
              <a:srgbClr val="E1EAF1"/>
            </a:solidFill>
            <a:prstDash val="solid"/>
            <a:headEnd type="none"/>
            <a:tailEnd type="none"/>
          </a:ln>
        </p:spPr>
      </p:sp>
      <p:sp>
        <p:nvSpPr>
          <p:cNvPr id="29" name="Text 27"/>
          <p:cNvSpPr/>
          <p:nvPr/>
        </p:nvSpPr>
        <p:spPr>
          <a:xfrm>
            <a:off x="4718304" y="4288536"/>
            <a:ext cx="667512" cy="448056"/>
          </a:xfrm>
          <a:prstGeom prst="rect">
            <a:avLst/>
          </a:prstGeom>
          <a:noFill/>
          <a:ln/>
        </p:spPr>
        <p:txBody>
          <a:bodyPr wrap="square" lIns="0" tIns="0" rIns="0" bIns="0" rtlCol="0" anchor="ctr">
            <a:normAutofit/>
          </a:bodyPr>
          <a:lstStyle/>
          <a:p>
            <a:pPr indent="0" marL="0">
              <a:buNone/>
            </a:pPr>
            <a:r>
              <a:rPr lang="en-US" sz="2600" b="1" dirty="0">
                <a:solidFill>
                  <a:srgbClr val="207D60"/>
                </a:solidFill>
                <a:latin typeface="Inter" pitchFamily="34" charset="0"/>
                <a:ea typeface="Inter" pitchFamily="34" charset="-122"/>
                <a:cs typeface="Inter" pitchFamily="34" charset="-120"/>
              </a:rPr>
              <a:t>10</a:t>
            </a:r>
            <a:endParaRPr lang="en-US" sz="2600" dirty="0"/>
          </a:p>
        </p:txBody>
      </p:sp>
      <p:sp>
        <p:nvSpPr>
          <p:cNvPr id="30" name="Text 28"/>
          <p:cNvSpPr/>
          <p:nvPr/>
        </p:nvSpPr>
        <p:spPr>
          <a:xfrm>
            <a:off x="5404104" y="4434840"/>
            <a:ext cx="640080"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OK</a:t>
            </a:r>
            <a:endParaRPr lang="en-US" sz="1150" dirty="0"/>
          </a:p>
        </p:txBody>
      </p:sp>
      <p:sp>
        <p:nvSpPr>
          <p:cNvPr id="31" name="Text 29"/>
          <p:cNvSpPr/>
          <p:nvPr/>
        </p:nvSpPr>
        <p:spPr>
          <a:xfrm>
            <a:off x="6437376" y="4288536"/>
            <a:ext cx="484632" cy="448056"/>
          </a:xfrm>
          <a:prstGeom prst="rect">
            <a:avLst/>
          </a:prstGeom>
          <a:noFill/>
          <a:ln/>
        </p:spPr>
        <p:txBody>
          <a:bodyPr wrap="square" lIns="0" tIns="0" rIns="0" bIns="0" rtlCol="0" anchor="ctr">
            <a:normAutofit/>
          </a:bodyPr>
          <a:lstStyle/>
          <a:p>
            <a:pPr indent="0" marL="0">
              <a:buNone/>
            </a:pPr>
            <a:r>
              <a:rPr lang="en-US" sz="2600" b="1" dirty="0">
                <a:solidFill>
                  <a:srgbClr val="C95057"/>
                </a:solidFill>
                <a:latin typeface="Inter" pitchFamily="34" charset="0"/>
                <a:ea typeface="Inter" pitchFamily="34" charset="-122"/>
                <a:cs typeface="Inter" pitchFamily="34" charset="-120"/>
              </a:rPr>
              <a:t>1</a:t>
            </a:r>
            <a:endParaRPr lang="en-US" sz="2600" dirty="0"/>
          </a:p>
        </p:txBody>
      </p:sp>
      <p:sp>
        <p:nvSpPr>
          <p:cNvPr id="32" name="Text 30"/>
          <p:cNvSpPr/>
          <p:nvPr/>
        </p:nvSpPr>
        <p:spPr>
          <a:xfrm>
            <a:off x="6922008" y="4434840"/>
            <a:ext cx="694944"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NOK</a:t>
            </a:r>
            <a:endParaRPr lang="en-US" sz="1150" dirty="0"/>
          </a:p>
        </p:txBody>
      </p:sp>
      <p:sp>
        <p:nvSpPr>
          <p:cNvPr id="33" name="Shape 31"/>
          <p:cNvSpPr/>
          <p:nvPr/>
        </p:nvSpPr>
        <p:spPr>
          <a:xfrm>
            <a:off x="4690872" y="5010912"/>
            <a:ext cx="3035808" cy="329184"/>
          </a:xfrm>
          <a:prstGeom prst="roundRect">
            <a:avLst>
              <a:gd name="adj" fmla="val 33333"/>
            </a:avLst>
          </a:prstGeom>
          <a:solidFill>
            <a:srgbClr val="E7F7F3"/>
          </a:solidFill>
          <a:ln w="12700">
            <a:solidFill>
              <a:srgbClr val="E7F7F3">
                <a:alpha val="0"/>
              </a:srgbClr>
            </a:solidFill>
            <a:prstDash val="solid"/>
          </a:ln>
        </p:spPr>
      </p:sp>
      <p:sp>
        <p:nvSpPr>
          <p:cNvPr id="34" name="Text 32"/>
          <p:cNvSpPr/>
          <p:nvPr/>
        </p:nvSpPr>
        <p:spPr>
          <a:xfrm>
            <a:off x="4800600" y="5093208"/>
            <a:ext cx="2770632" cy="155448"/>
          </a:xfrm>
          <a:prstGeom prst="rect">
            <a:avLst/>
          </a:prstGeom>
          <a:noFill/>
          <a:ln/>
        </p:spPr>
        <p:txBody>
          <a:bodyPr wrap="square" lIns="0" tIns="0" rIns="0" bIns="0" rtlCol="0" anchor="ctr">
            <a:normAutofit/>
          </a:bodyPr>
          <a:lstStyle/>
          <a:p>
            <a:pPr algn="ctr" indent="0" marL="0">
              <a:buNone/>
            </a:pPr>
            <a:r>
              <a:rPr lang="en-US" sz="1120" b="1" dirty="0">
                <a:solidFill>
                  <a:srgbClr val="119E94"/>
                </a:solidFill>
                <a:latin typeface="Inter" pitchFamily="34" charset="0"/>
                <a:ea typeface="Inter" pitchFamily="34" charset="-122"/>
                <a:cs typeface="Inter" pitchFamily="34" charset="-120"/>
              </a:rPr>
              <a:t>Realizable · NOK</a:t>
            </a:r>
            <a:endParaRPr lang="en-US" sz="1120" dirty="0"/>
          </a:p>
        </p:txBody>
      </p:sp>
      <p:sp>
        <p:nvSpPr>
          <p:cNvPr id="35" name="Shape 33"/>
          <p:cNvSpPr/>
          <p:nvPr/>
        </p:nvSpPr>
        <p:spPr>
          <a:xfrm>
            <a:off x="8229600" y="2103120"/>
            <a:ext cx="3529584" cy="3474720"/>
          </a:xfrm>
          <a:prstGeom prst="roundRect">
            <a:avLst>
              <a:gd name="adj" fmla="val 4737"/>
            </a:avLst>
          </a:prstGeom>
          <a:solidFill>
            <a:srgbClr val="FFFFFF"/>
          </a:solidFill>
          <a:ln w="10160">
            <a:solidFill>
              <a:srgbClr val="E1EAF1"/>
            </a:solidFill>
            <a:prstDash val="solid"/>
          </a:ln>
        </p:spPr>
      </p:sp>
      <p:sp>
        <p:nvSpPr>
          <p:cNvPr id="36" name="Shape 34"/>
          <p:cNvSpPr/>
          <p:nvPr/>
        </p:nvSpPr>
        <p:spPr>
          <a:xfrm>
            <a:off x="8229600" y="2103120"/>
            <a:ext cx="3529584" cy="86868"/>
          </a:xfrm>
          <a:prstGeom prst="rect">
            <a:avLst/>
          </a:prstGeom>
          <a:solidFill>
            <a:srgbClr val="DF8633"/>
          </a:solidFill>
          <a:ln w="12700">
            <a:solidFill>
              <a:srgbClr val="DF8633">
                <a:alpha val="0"/>
              </a:srgbClr>
            </a:solidFill>
            <a:prstDash val="solid"/>
          </a:ln>
        </p:spPr>
      </p:sp>
      <p:sp>
        <p:nvSpPr>
          <p:cNvPr id="37" name="Text 35"/>
          <p:cNvSpPr/>
          <p:nvPr/>
        </p:nvSpPr>
        <p:spPr>
          <a:xfrm>
            <a:off x="8449056" y="2340864"/>
            <a:ext cx="2999232" cy="384048"/>
          </a:xfrm>
          <a:prstGeom prst="rect">
            <a:avLst/>
          </a:prstGeom>
          <a:noFill/>
          <a:ln/>
        </p:spPr>
        <p:txBody>
          <a:bodyPr wrap="square" lIns="0" tIns="0" rIns="0" bIns="0" rtlCol="0" anchor="ctr">
            <a:normAutofit/>
          </a:bodyPr>
          <a:lstStyle/>
          <a:p>
            <a:pPr indent="0" marL="0">
              <a:buNone/>
            </a:pPr>
            <a:r>
              <a:rPr lang="en-US" sz="2300" b="1" dirty="0">
                <a:solidFill>
                  <a:srgbClr val="DF8633"/>
                </a:solidFill>
                <a:latin typeface="Inter" pitchFamily="34" charset="0"/>
                <a:ea typeface="Inter" pitchFamily="34" charset="-122"/>
                <a:cs typeface="Inter" pitchFamily="34" charset="-120"/>
              </a:rPr>
              <a:t>CU03</a:t>
            </a:r>
            <a:endParaRPr lang="en-US" sz="2300" dirty="0"/>
          </a:p>
        </p:txBody>
      </p:sp>
      <p:sp>
        <p:nvSpPr>
          <p:cNvPr id="38" name="Text 36"/>
          <p:cNvSpPr/>
          <p:nvPr/>
        </p:nvSpPr>
        <p:spPr>
          <a:xfrm>
            <a:off x="8439912" y="2761488"/>
            <a:ext cx="3017520" cy="685800"/>
          </a:xfrm>
          <a:prstGeom prst="rect">
            <a:avLst/>
          </a:prstGeom>
          <a:noFill/>
          <a:ln/>
        </p:spPr>
        <p:txBody>
          <a:bodyPr wrap="square" lIns="0" tIns="0" rIns="0" bIns="0" rtlCol="0" anchor="ctr">
            <a:normAutofit/>
          </a:bodyPr>
          <a:lstStyle/>
          <a:p>
            <a:pPr indent="0" marL="0">
              <a:buNone/>
            </a:pPr>
            <a:r>
              <a:rPr lang="en-US" sz="4800" b="1" dirty="0">
                <a:solidFill>
                  <a:srgbClr val="102A43"/>
                </a:solidFill>
                <a:latin typeface="Inter" pitchFamily="34" charset="0"/>
                <a:ea typeface="Inter" pitchFamily="34" charset="-122"/>
                <a:cs typeface="Inter" pitchFamily="34" charset="-120"/>
              </a:rPr>
              <a:t>94%</a:t>
            </a:r>
            <a:endParaRPr lang="en-US" sz="4800" dirty="0"/>
          </a:p>
        </p:txBody>
      </p:sp>
      <p:sp>
        <p:nvSpPr>
          <p:cNvPr id="39" name="Text 37"/>
          <p:cNvSpPr/>
          <p:nvPr/>
        </p:nvSpPr>
        <p:spPr>
          <a:xfrm>
            <a:off x="8467344" y="3502152"/>
            <a:ext cx="2962656" cy="237744"/>
          </a:xfrm>
          <a:prstGeom prst="rect">
            <a:avLst/>
          </a:prstGeom>
          <a:noFill/>
          <a:ln/>
        </p:spPr>
        <p:txBody>
          <a:bodyPr wrap="square" lIns="0" tIns="0" rIns="0" bIns="0" rtlCol="0" anchor="ctr">
            <a:normAutofit/>
          </a:bodyPr>
          <a:lstStyle/>
          <a:p>
            <a:pPr indent="0" marL="0">
              <a:buNone/>
            </a:pPr>
            <a:r>
              <a:rPr lang="en-US" sz="1260" dirty="0">
                <a:solidFill>
                  <a:srgbClr val="60748A"/>
                </a:solidFill>
                <a:latin typeface="Inter" pitchFamily="34" charset="0"/>
                <a:ea typeface="Inter" pitchFamily="34" charset="-122"/>
                <a:cs typeface="Inter" pitchFamily="34" charset="-120"/>
              </a:rPr>
              <a:t>16 de 17 respuestas Sí</a:t>
            </a:r>
            <a:endParaRPr lang="en-US" sz="1260" dirty="0"/>
          </a:p>
        </p:txBody>
      </p:sp>
      <p:sp>
        <p:nvSpPr>
          <p:cNvPr id="40" name="Shape 38"/>
          <p:cNvSpPr/>
          <p:nvPr/>
        </p:nvSpPr>
        <p:spPr>
          <a:xfrm>
            <a:off x="8467344" y="3959352"/>
            <a:ext cx="3054096" cy="0"/>
          </a:xfrm>
          <a:prstGeom prst="line">
            <a:avLst/>
          </a:prstGeom>
          <a:noFill/>
          <a:ln w="12700">
            <a:solidFill>
              <a:srgbClr val="E1EAF1"/>
            </a:solidFill>
            <a:prstDash val="solid"/>
            <a:headEnd type="none"/>
            <a:tailEnd type="none"/>
          </a:ln>
        </p:spPr>
      </p:sp>
      <p:sp>
        <p:nvSpPr>
          <p:cNvPr id="41" name="Text 39"/>
          <p:cNvSpPr/>
          <p:nvPr/>
        </p:nvSpPr>
        <p:spPr>
          <a:xfrm>
            <a:off x="8494776" y="4288536"/>
            <a:ext cx="667512" cy="448056"/>
          </a:xfrm>
          <a:prstGeom prst="rect">
            <a:avLst/>
          </a:prstGeom>
          <a:noFill/>
          <a:ln/>
        </p:spPr>
        <p:txBody>
          <a:bodyPr wrap="square" lIns="0" tIns="0" rIns="0" bIns="0" rtlCol="0" anchor="ctr">
            <a:normAutofit/>
          </a:bodyPr>
          <a:lstStyle/>
          <a:p>
            <a:pPr indent="0" marL="0">
              <a:buNone/>
            </a:pPr>
            <a:r>
              <a:rPr lang="en-US" sz="2600" b="1" dirty="0">
                <a:solidFill>
                  <a:srgbClr val="207D60"/>
                </a:solidFill>
                <a:latin typeface="Inter" pitchFamily="34" charset="0"/>
                <a:ea typeface="Inter" pitchFamily="34" charset="-122"/>
                <a:cs typeface="Inter" pitchFamily="34" charset="-120"/>
              </a:rPr>
              <a:t>10</a:t>
            </a:r>
            <a:endParaRPr lang="en-US" sz="2600" dirty="0"/>
          </a:p>
        </p:txBody>
      </p:sp>
      <p:sp>
        <p:nvSpPr>
          <p:cNvPr id="42" name="Text 40"/>
          <p:cNvSpPr/>
          <p:nvPr/>
        </p:nvSpPr>
        <p:spPr>
          <a:xfrm>
            <a:off x="9180576" y="4434840"/>
            <a:ext cx="640080"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OK</a:t>
            </a:r>
            <a:endParaRPr lang="en-US" sz="1150" dirty="0"/>
          </a:p>
        </p:txBody>
      </p:sp>
      <p:sp>
        <p:nvSpPr>
          <p:cNvPr id="43" name="Text 41"/>
          <p:cNvSpPr/>
          <p:nvPr/>
        </p:nvSpPr>
        <p:spPr>
          <a:xfrm>
            <a:off x="10213848" y="4288536"/>
            <a:ext cx="484632" cy="448056"/>
          </a:xfrm>
          <a:prstGeom prst="rect">
            <a:avLst/>
          </a:prstGeom>
          <a:noFill/>
          <a:ln/>
        </p:spPr>
        <p:txBody>
          <a:bodyPr wrap="square" lIns="0" tIns="0" rIns="0" bIns="0" rtlCol="0" anchor="ctr">
            <a:normAutofit/>
          </a:bodyPr>
          <a:lstStyle/>
          <a:p>
            <a:pPr indent="0" marL="0">
              <a:buNone/>
            </a:pPr>
            <a:r>
              <a:rPr lang="en-US" sz="2600" b="1" dirty="0">
                <a:solidFill>
                  <a:srgbClr val="C95057"/>
                </a:solidFill>
                <a:latin typeface="Inter" pitchFamily="34" charset="0"/>
                <a:ea typeface="Inter" pitchFamily="34" charset="-122"/>
                <a:cs typeface="Inter" pitchFamily="34" charset="-120"/>
              </a:rPr>
              <a:t>1</a:t>
            </a:r>
            <a:endParaRPr lang="en-US" sz="2600" dirty="0"/>
          </a:p>
        </p:txBody>
      </p:sp>
      <p:sp>
        <p:nvSpPr>
          <p:cNvPr id="44" name="Text 42"/>
          <p:cNvSpPr/>
          <p:nvPr/>
        </p:nvSpPr>
        <p:spPr>
          <a:xfrm>
            <a:off x="10698480" y="4434840"/>
            <a:ext cx="694944" cy="164592"/>
          </a:xfrm>
          <a:prstGeom prst="rect">
            <a:avLst/>
          </a:prstGeom>
          <a:noFill/>
          <a:ln/>
        </p:spPr>
        <p:txBody>
          <a:bodyPr wrap="square" lIns="0" tIns="0" rIns="0" bIns="0" rtlCol="0" anchor="ctr">
            <a:normAutofit/>
          </a:bodyPr>
          <a:lstStyle/>
          <a:p>
            <a:pPr indent="0" marL="0">
              <a:buNone/>
            </a:pPr>
            <a:r>
              <a:rPr lang="en-US" sz="1150" dirty="0">
                <a:solidFill>
                  <a:srgbClr val="60748A"/>
                </a:solidFill>
                <a:latin typeface="Inter" pitchFamily="34" charset="0"/>
                <a:ea typeface="Inter" pitchFamily="34" charset="-122"/>
                <a:cs typeface="Inter" pitchFamily="34" charset="-120"/>
              </a:rPr>
              <a:t>NOK</a:t>
            </a:r>
            <a:endParaRPr lang="en-US" sz="1150" dirty="0"/>
          </a:p>
        </p:txBody>
      </p:sp>
      <p:sp>
        <p:nvSpPr>
          <p:cNvPr id="45" name="Shape 43"/>
          <p:cNvSpPr/>
          <p:nvPr/>
        </p:nvSpPr>
        <p:spPr>
          <a:xfrm>
            <a:off x="8467344" y="5010912"/>
            <a:ext cx="3035808" cy="329184"/>
          </a:xfrm>
          <a:prstGeom prst="roundRect">
            <a:avLst>
              <a:gd name="adj" fmla="val 33333"/>
            </a:avLst>
          </a:prstGeom>
          <a:solidFill>
            <a:srgbClr val="FFF1E4"/>
          </a:solidFill>
          <a:ln w="12700">
            <a:solidFill>
              <a:srgbClr val="FFF1E4">
                <a:alpha val="0"/>
              </a:srgbClr>
            </a:solidFill>
            <a:prstDash val="solid"/>
          </a:ln>
        </p:spPr>
      </p:sp>
      <p:sp>
        <p:nvSpPr>
          <p:cNvPr id="46" name="Text 44"/>
          <p:cNvSpPr/>
          <p:nvPr/>
        </p:nvSpPr>
        <p:spPr>
          <a:xfrm>
            <a:off x="8577072" y="5093208"/>
            <a:ext cx="2770632" cy="155448"/>
          </a:xfrm>
          <a:prstGeom prst="rect">
            <a:avLst/>
          </a:prstGeom>
          <a:noFill/>
          <a:ln/>
        </p:spPr>
        <p:txBody>
          <a:bodyPr wrap="square" lIns="0" tIns="0" rIns="0" bIns="0" rtlCol="0" anchor="ctr">
            <a:normAutofit/>
          </a:bodyPr>
          <a:lstStyle/>
          <a:p>
            <a:pPr algn="ctr" indent="0" marL="0">
              <a:buNone/>
            </a:pPr>
            <a:r>
              <a:rPr lang="en-US" sz="1120" b="1" dirty="0">
                <a:solidFill>
                  <a:srgbClr val="DF8633"/>
                </a:solidFill>
                <a:latin typeface="Inter" pitchFamily="34" charset="0"/>
                <a:ea typeface="Inter" pitchFamily="34" charset="-122"/>
                <a:cs typeface="Inter" pitchFamily="34" charset="-120"/>
              </a:rPr>
              <a:t>Realizable · NOK</a:t>
            </a:r>
            <a:endParaRPr lang="en-US" sz="1120" dirty="0"/>
          </a:p>
        </p:txBody>
      </p:sp>
      <p:sp>
        <p:nvSpPr>
          <p:cNvPr id="47" name="Shape 45"/>
          <p:cNvSpPr/>
          <p:nvPr/>
        </p:nvSpPr>
        <p:spPr>
          <a:xfrm>
            <a:off x="685800" y="5806440"/>
            <a:ext cx="10789920" cy="420624"/>
          </a:xfrm>
          <a:prstGeom prst="roundRect">
            <a:avLst>
              <a:gd name="adj" fmla="val 26087"/>
            </a:avLst>
          </a:prstGeom>
          <a:solidFill>
            <a:srgbClr val="ECF5FF"/>
          </a:solidFill>
          <a:ln w="12700">
            <a:solidFill>
              <a:srgbClr val="ECF5FF">
                <a:alpha val="0"/>
              </a:srgbClr>
            </a:solidFill>
            <a:prstDash val="solid"/>
          </a:ln>
        </p:spPr>
      </p:sp>
      <p:sp>
        <p:nvSpPr>
          <p:cNvPr id="48" name="Text 46"/>
          <p:cNvSpPr/>
          <p:nvPr/>
        </p:nvSpPr>
        <p:spPr>
          <a:xfrm>
            <a:off x="941832" y="5907024"/>
            <a:ext cx="10049256" cy="173736"/>
          </a:xfrm>
          <a:prstGeom prst="rect">
            <a:avLst/>
          </a:prstGeom>
          <a:noFill/>
          <a:ln/>
        </p:spPr>
        <p:txBody>
          <a:bodyPr wrap="square" lIns="0" tIns="0" rIns="0" bIns="0" rtlCol="0" anchor="ctr">
            <a:normAutofit/>
          </a:bodyPr>
          <a:lstStyle/>
          <a:p>
            <a:pPr indent="0" marL="0">
              <a:buNone/>
            </a:pPr>
            <a:r>
              <a:rPr lang="en-US" sz="1250" b="1" dirty="0">
                <a:solidFill>
                  <a:srgbClr val="102A43"/>
                </a:solidFill>
                <a:latin typeface="Inter" pitchFamily="34" charset="0"/>
                <a:ea typeface="Inter" pitchFamily="34" charset="-122"/>
                <a:cs typeface="Inter" pitchFamily="34" charset="-120"/>
              </a:rPr>
              <a:t>CU02 registra cambios pendientes del cliente pese a su estado «OK» en actualización.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CONCLUSIONES</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16</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SÍNTESIS DE LOS TRES CASOS</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770" b="1" dirty="0">
                <a:solidFill>
                  <a:srgbClr val="102A43"/>
                </a:solidFill>
                <a:latin typeface="Inter" pitchFamily="34" charset="0"/>
                <a:ea typeface="Inter" pitchFamily="34" charset="-122"/>
                <a:cs typeface="Inter" pitchFamily="34" charset="-120"/>
              </a:rPr>
              <a:t>La documentación es sólida; verificar sigue siendo el reto</a:t>
            </a:r>
            <a:endParaRPr lang="en-US" sz="277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Conclusiones basadas en la matriz de CU01, CU02 y CU03.</a:t>
            </a:r>
            <a:endParaRPr lang="en-US" sz="1280" dirty="0"/>
          </a:p>
        </p:txBody>
      </p:sp>
      <p:sp>
        <p:nvSpPr>
          <p:cNvPr id="11" name="Shape 9"/>
          <p:cNvSpPr/>
          <p:nvPr/>
        </p:nvSpPr>
        <p:spPr>
          <a:xfrm>
            <a:off x="676656" y="2002536"/>
            <a:ext cx="10808208" cy="1124712"/>
          </a:xfrm>
          <a:prstGeom prst="roundRect">
            <a:avLst>
              <a:gd name="adj" fmla="val 12195"/>
            </a:avLst>
          </a:prstGeom>
          <a:solidFill>
            <a:srgbClr val="FFFFFF"/>
          </a:solidFill>
          <a:ln w="10160">
            <a:solidFill>
              <a:srgbClr val="E1EAF1"/>
            </a:solidFill>
            <a:prstDash val="solid"/>
          </a:ln>
        </p:spPr>
      </p:sp>
      <p:sp>
        <p:nvSpPr>
          <p:cNvPr id="12" name="Shape 10"/>
          <p:cNvSpPr/>
          <p:nvPr/>
        </p:nvSpPr>
        <p:spPr>
          <a:xfrm>
            <a:off x="932688" y="2258568"/>
            <a:ext cx="585216" cy="585216"/>
          </a:xfrm>
          <a:prstGeom prst="roundRect">
            <a:avLst>
              <a:gd name="adj" fmla="val 21875"/>
            </a:avLst>
          </a:prstGeom>
          <a:solidFill>
            <a:srgbClr val="ECF5FF"/>
          </a:solidFill>
          <a:ln w="12700">
            <a:solidFill>
              <a:srgbClr val="ECF5FF">
                <a:alpha val="0"/>
              </a:srgbClr>
            </a:solidFill>
            <a:prstDash val="solid"/>
          </a:ln>
        </p:spPr>
      </p:sp>
      <p:sp>
        <p:nvSpPr>
          <p:cNvPr id="13" name="Text 11"/>
          <p:cNvSpPr/>
          <p:nvPr/>
        </p:nvSpPr>
        <p:spPr>
          <a:xfrm>
            <a:off x="1097280" y="2450592"/>
            <a:ext cx="256032" cy="164592"/>
          </a:xfrm>
          <a:prstGeom prst="rect">
            <a:avLst/>
          </a:prstGeom>
          <a:noFill/>
          <a:ln/>
        </p:spPr>
        <p:txBody>
          <a:bodyPr wrap="square" lIns="0" tIns="0" rIns="0" bIns="0" rtlCol="0" anchor="ctr">
            <a:normAutofit/>
          </a:bodyPr>
          <a:lstStyle/>
          <a:p>
            <a:pPr algn="ctr" indent="0" marL="0">
              <a:buNone/>
            </a:pPr>
            <a:r>
              <a:rPr lang="en-US" sz="1300" b="1" dirty="0">
                <a:solidFill>
                  <a:srgbClr val="2776D2"/>
                </a:solidFill>
                <a:latin typeface="Inter" pitchFamily="34" charset="0"/>
                <a:ea typeface="Inter" pitchFamily="34" charset="-122"/>
                <a:cs typeface="Inter" pitchFamily="34" charset="-120"/>
              </a:rPr>
              <a:t>01</a:t>
            </a:r>
            <a:endParaRPr lang="en-US" sz="1300" dirty="0"/>
          </a:p>
        </p:txBody>
      </p:sp>
      <p:sp>
        <p:nvSpPr>
          <p:cNvPr id="14" name="Text 12"/>
          <p:cNvSpPr/>
          <p:nvPr/>
        </p:nvSpPr>
        <p:spPr>
          <a:xfrm>
            <a:off x="1801368" y="2176272"/>
            <a:ext cx="9262872" cy="310896"/>
          </a:xfrm>
          <a:prstGeom prst="rect">
            <a:avLst/>
          </a:prstGeom>
          <a:noFill/>
          <a:ln/>
        </p:spPr>
        <p:txBody>
          <a:bodyPr wrap="square" lIns="0" tIns="0" rIns="0" bIns="0" rtlCol="0" anchor="ctr">
            <a:normAutofit/>
          </a:bodyPr>
          <a:lstStyle/>
          <a:p>
            <a:pPr indent="0" marL="0">
              <a:buNone/>
            </a:pPr>
            <a:r>
              <a:rPr lang="en-US" sz="1900" b="1" dirty="0">
                <a:solidFill>
                  <a:srgbClr val="102A43"/>
                </a:solidFill>
                <a:latin typeface="Inter" pitchFamily="34" charset="0"/>
                <a:ea typeface="Inter" pitchFamily="34" charset="-122"/>
                <a:cs typeface="Inter" pitchFamily="34" charset="-120"/>
              </a:rPr>
              <a:t>Fortaleza documental</a:t>
            </a:r>
            <a:endParaRPr lang="en-US" sz="1900" dirty="0"/>
          </a:p>
        </p:txBody>
      </p:sp>
      <p:sp>
        <p:nvSpPr>
          <p:cNvPr id="15" name="Text 13"/>
          <p:cNvSpPr/>
          <p:nvPr/>
        </p:nvSpPr>
        <p:spPr>
          <a:xfrm>
            <a:off x="1819656" y="2624328"/>
            <a:ext cx="9153144" cy="246888"/>
          </a:xfrm>
          <a:prstGeom prst="rect">
            <a:avLst/>
          </a:prstGeom>
          <a:noFill/>
          <a:ln/>
        </p:spPr>
        <p:txBody>
          <a:bodyPr wrap="square" lIns="0" tIns="0" rIns="0" bIns="0" rtlCol="0" anchor="ctr">
            <a:normAutofit/>
          </a:bodyPr>
          <a:lstStyle/>
          <a:p>
            <a:pPr indent="0" marL="0">
              <a:buNone/>
            </a:pPr>
            <a:r>
              <a:rPr lang="en-US" sz="1350" dirty="0">
                <a:solidFill>
                  <a:srgbClr val="60748A"/>
                </a:solidFill>
                <a:latin typeface="Inter" pitchFamily="34" charset="0"/>
                <a:ea typeface="Inter" pitchFamily="34" charset="-122"/>
                <a:cs typeface="Inter" pitchFamily="34" charset="-120"/>
              </a:rPr>
              <a:t>Los tres casos alcanzan 100% en documentación y nivel de acuerdo.</a:t>
            </a:r>
            <a:endParaRPr lang="en-US" sz="1350" dirty="0"/>
          </a:p>
        </p:txBody>
      </p:sp>
      <p:sp>
        <p:nvSpPr>
          <p:cNvPr id="16" name="Shape 14"/>
          <p:cNvSpPr/>
          <p:nvPr/>
        </p:nvSpPr>
        <p:spPr>
          <a:xfrm>
            <a:off x="676656" y="3355848"/>
            <a:ext cx="10808208" cy="1124712"/>
          </a:xfrm>
          <a:prstGeom prst="roundRect">
            <a:avLst>
              <a:gd name="adj" fmla="val 12195"/>
            </a:avLst>
          </a:prstGeom>
          <a:solidFill>
            <a:srgbClr val="FFFFFF"/>
          </a:solidFill>
          <a:ln w="10160">
            <a:solidFill>
              <a:srgbClr val="E1EAF1"/>
            </a:solidFill>
            <a:prstDash val="solid"/>
          </a:ln>
        </p:spPr>
      </p:sp>
      <p:sp>
        <p:nvSpPr>
          <p:cNvPr id="17" name="Shape 15"/>
          <p:cNvSpPr/>
          <p:nvPr/>
        </p:nvSpPr>
        <p:spPr>
          <a:xfrm>
            <a:off x="932688" y="3611880"/>
            <a:ext cx="585216" cy="585216"/>
          </a:xfrm>
          <a:prstGeom prst="roundRect">
            <a:avLst>
              <a:gd name="adj" fmla="val 21875"/>
            </a:avLst>
          </a:prstGeom>
          <a:solidFill>
            <a:srgbClr val="E7F7F3"/>
          </a:solidFill>
          <a:ln w="12700">
            <a:solidFill>
              <a:srgbClr val="E7F7F3">
                <a:alpha val="0"/>
              </a:srgbClr>
            </a:solidFill>
            <a:prstDash val="solid"/>
          </a:ln>
        </p:spPr>
      </p:sp>
      <p:sp>
        <p:nvSpPr>
          <p:cNvPr id="18" name="Text 16"/>
          <p:cNvSpPr/>
          <p:nvPr/>
        </p:nvSpPr>
        <p:spPr>
          <a:xfrm>
            <a:off x="1097280" y="3803904"/>
            <a:ext cx="256032" cy="164592"/>
          </a:xfrm>
          <a:prstGeom prst="rect">
            <a:avLst/>
          </a:prstGeom>
          <a:noFill/>
          <a:ln/>
        </p:spPr>
        <p:txBody>
          <a:bodyPr wrap="square" lIns="0" tIns="0" rIns="0" bIns="0" rtlCol="0" anchor="ctr">
            <a:normAutofit/>
          </a:bodyPr>
          <a:lstStyle/>
          <a:p>
            <a:pPr algn="ctr" indent="0" marL="0">
              <a:buNone/>
            </a:pPr>
            <a:r>
              <a:rPr lang="en-US" sz="1300" b="1" dirty="0">
                <a:solidFill>
                  <a:srgbClr val="119E94"/>
                </a:solidFill>
                <a:latin typeface="Inter" pitchFamily="34" charset="0"/>
                <a:ea typeface="Inter" pitchFamily="34" charset="-122"/>
                <a:cs typeface="Inter" pitchFamily="34" charset="-120"/>
              </a:rPr>
              <a:t>02</a:t>
            </a:r>
            <a:endParaRPr lang="en-US" sz="1300" dirty="0"/>
          </a:p>
        </p:txBody>
      </p:sp>
      <p:sp>
        <p:nvSpPr>
          <p:cNvPr id="19" name="Text 17"/>
          <p:cNvSpPr/>
          <p:nvPr/>
        </p:nvSpPr>
        <p:spPr>
          <a:xfrm>
            <a:off x="1801368" y="3529584"/>
            <a:ext cx="9262872" cy="310896"/>
          </a:xfrm>
          <a:prstGeom prst="rect">
            <a:avLst/>
          </a:prstGeom>
          <a:noFill/>
          <a:ln/>
        </p:spPr>
        <p:txBody>
          <a:bodyPr wrap="square" lIns="0" tIns="0" rIns="0" bIns="0" rtlCol="0" anchor="ctr">
            <a:normAutofit/>
          </a:bodyPr>
          <a:lstStyle/>
          <a:p>
            <a:pPr indent="0" marL="0">
              <a:buNone/>
            </a:pPr>
            <a:r>
              <a:rPr lang="en-US" sz="1900" b="1" dirty="0">
                <a:solidFill>
                  <a:srgbClr val="102A43"/>
                </a:solidFill>
                <a:latin typeface="Inter" pitchFamily="34" charset="0"/>
                <a:ea typeface="Inter" pitchFamily="34" charset="-122"/>
                <a:cs typeface="Inter" pitchFamily="34" charset="-120"/>
              </a:rPr>
              <a:t>Viabilidad aún no demostrada</a:t>
            </a:r>
            <a:endParaRPr lang="en-US" sz="1900" dirty="0"/>
          </a:p>
        </p:txBody>
      </p:sp>
      <p:sp>
        <p:nvSpPr>
          <p:cNvPr id="20" name="Text 18"/>
          <p:cNvSpPr/>
          <p:nvPr/>
        </p:nvSpPr>
        <p:spPr>
          <a:xfrm>
            <a:off x="1819656" y="3977640"/>
            <a:ext cx="9153144" cy="246888"/>
          </a:xfrm>
          <a:prstGeom prst="rect">
            <a:avLst/>
          </a:prstGeom>
          <a:noFill/>
          <a:ln/>
        </p:spPr>
        <p:txBody>
          <a:bodyPr wrap="square" lIns="0" tIns="0" rIns="0" bIns="0" rtlCol="0" anchor="ctr">
            <a:normAutofit/>
          </a:bodyPr>
          <a:lstStyle/>
          <a:p>
            <a:pPr indent="0" marL="0">
              <a:buNone/>
            </a:pPr>
            <a:r>
              <a:rPr lang="en-US" sz="1350" dirty="0">
                <a:solidFill>
                  <a:srgbClr val="60748A"/>
                </a:solidFill>
                <a:latin typeface="Inter" pitchFamily="34" charset="0"/>
                <a:ea typeface="Inter" pitchFamily="34" charset="-122"/>
                <a:cs typeface="Inter" pitchFamily="34" charset="-120"/>
              </a:rPr>
              <a:t>«Realizable» es el único criterio marcado NOK en cada caso.</a:t>
            </a:r>
            <a:endParaRPr lang="en-US" sz="1350" dirty="0"/>
          </a:p>
        </p:txBody>
      </p:sp>
      <p:sp>
        <p:nvSpPr>
          <p:cNvPr id="21" name="Shape 19"/>
          <p:cNvSpPr/>
          <p:nvPr/>
        </p:nvSpPr>
        <p:spPr>
          <a:xfrm>
            <a:off x="676656" y="4709160"/>
            <a:ext cx="10808208" cy="1124712"/>
          </a:xfrm>
          <a:prstGeom prst="roundRect">
            <a:avLst>
              <a:gd name="adj" fmla="val 12195"/>
            </a:avLst>
          </a:prstGeom>
          <a:solidFill>
            <a:srgbClr val="FFFFFF"/>
          </a:solidFill>
          <a:ln w="10160">
            <a:solidFill>
              <a:srgbClr val="E1EAF1"/>
            </a:solidFill>
            <a:prstDash val="solid"/>
          </a:ln>
        </p:spPr>
      </p:sp>
      <p:sp>
        <p:nvSpPr>
          <p:cNvPr id="22" name="Shape 20"/>
          <p:cNvSpPr/>
          <p:nvPr/>
        </p:nvSpPr>
        <p:spPr>
          <a:xfrm>
            <a:off x="932688" y="4965192"/>
            <a:ext cx="585216" cy="585216"/>
          </a:xfrm>
          <a:prstGeom prst="roundRect">
            <a:avLst>
              <a:gd name="adj" fmla="val 21875"/>
            </a:avLst>
          </a:prstGeom>
          <a:solidFill>
            <a:srgbClr val="FFF1E4"/>
          </a:solidFill>
          <a:ln w="12700">
            <a:solidFill>
              <a:srgbClr val="FFF1E4">
                <a:alpha val="0"/>
              </a:srgbClr>
            </a:solidFill>
            <a:prstDash val="solid"/>
          </a:ln>
        </p:spPr>
      </p:sp>
      <p:sp>
        <p:nvSpPr>
          <p:cNvPr id="23" name="Text 21"/>
          <p:cNvSpPr/>
          <p:nvPr/>
        </p:nvSpPr>
        <p:spPr>
          <a:xfrm>
            <a:off x="1097280" y="5157216"/>
            <a:ext cx="256032" cy="164592"/>
          </a:xfrm>
          <a:prstGeom prst="rect">
            <a:avLst/>
          </a:prstGeom>
          <a:noFill/>
          <a:ln/>
        </p:spPr>
        <p:txBody>
          <a:bodyPr wrap="square" lIns="0" tIns="0" rIns="0" bIns="0" rtlCol="0" anchor="ctr">
            <a:normAutofit/>
          </a:bodyPr>
          <a:lstStyle/>
          <a:p>
            <a:pPr algn="ctr" indent="0" marL="0">
              <a:buNone/>
            </a:pPr>
            <a:r>
              <a:rPr lang="en-US" sz="1300" b="1" dirty="0">
                <a:solidFill>
                  <a:srgbClr val="DF8633"/>
                </a:solidFill>
                <a:latin typeface="Inter" pitchFamily="34" charset="0"/>
                <a:ea typeface="Inter" pitchFamily="34" charset="-122"/>
                <a:cs typeface="Inter" pitchFamily="34" charset="-120"/>
              </a:rPr>
              <a:t>03</a:t>
            </a:r>
            <a:endParaRPr lang="en-US" sz="1300" dirty="0"/>
          </a:p>
        </p:txBody>
      </p:sp>
      <p:sp>
        <p:nvSpPr>
          <p:cNvPr id="24" name="Text 22"/>
          <p:cNvSpPr/>
          <p:nvPr/>
        </p:nvSpPr>
        <p:spPr>
          <a:xfrm>
            <a:off x="1801368" y="4882896"/>
            <a:ext cx="9262872" cy="310896"/>
          </a:xfrm>
          <a:prstGeom prst="rect">
            <a:avLst/>
          </a:prstGeom>
          <a:noFill/>
          <a:ln/>
        </p:spPr>
        <p:txBody>
          <a:bodyPr wrap="square" lIns="0" tIns="0" rIns="0" bIns="0" rtlCol="0" anchor="ctr">
            <a:normAutofit/>
          </a:bodyPr>
          <a:lstStyle/>
          <a:p>
            <a:pPr indent="0" marL="0">
              <a:buNone/>
            </a:pPr>
            <a:r>
              <a:rPr lang="en-US" sz="1900" b="1" dirty="0">
                <a:solidFill>
                  <a:srgbClr val="102A43"/>
                </a:solidFill>
                <a:latin typeface="Inter" pitchFamily="34" charset="0"/>
                <a:ea typeface="Inter" pitchFamily="34" charset="-122"/>
                <a:cs typeface="Inter" pitchFamily="34" charset="-120"/>
              </a:rPr>
              <a:t>Observaciones que exigen revisión</a:t>
            </a:r>
            <a:endParaRPr lang="en-US" sz="1900" dirty="0"/>
          </a:p>
        </p:txBody>
      </p:sp>
      <p:sp>
        <p:nvSpPr>
          <p:cNvPr id="25" name="Text 23"/>
          <p:cNvSpPr/>
          <p:nvPr/>
        </p:nvSpPr>
        <p:spPr>
          <a:xfrm>
            <a:off x="1819656" y="5330952"/>
            <a:ext cx="9153144" cy="246888"/>
          </a:xfrm>
          <a:prstGeom prst="rect">
            <a:avLst/>
          </a:prstGeom>
          <a:noFill/>
          <a:ln/>
        </p:spPr>
        <p:txBody>
          <a:bodyPr wrap="square" lIns="0" tIns="0" rIns="0" bIns="0" rtlCol="0" anchor="ctr">
            <a:normAutofit/>
          </a:bodyPr>
          <a:lstStyle/>
          <a:p>
            <a:pPr indent="0" marL="0">
              <a:buNone/>
            </a:pPr>
            <a:r>
              <a:rPr lang="en-US" sz="1350" dirty="0">
                <a:solidFill>
                  <a:srgbClr val="60748A"/>
                </a:solidFill>
                <a:latin typeface="Inter" pitchFamily="34" charset="0"/>
                <a:ea typeface="Inter" pitchFamily="34" charset="-122"/>
                <a:cs typeface="Inter" pitchFamily="34" charset="-120"/>
              </a:rPr>
              <a:t>Faltan casos de prueba; CU02 además registra cambios no incorporados.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6012" cy="6858000"/>
          </a:xfrm>
          <a:prstGeom prst="rect">
            <a:avLst/>
          </a:prstGeom>
          <a:solidFill>
            <a:srgbClr val="2776D2"/>
          </a:solidFill>
          <a:ln w="12700">
            <a:solidFill>
              <a:srgbClr val="2776D2">
                <a:alpha val="0"/>
              </a:srgbClr>
            </a:solidFill>
            <a:prstDash val="solid"/>
          </a:ln>
        </p:spPr>
      </p:sp>
      <p:sp>
        <p:nvSpPr>
          <p:cNvPr id="3" name="Text 1"/>
          <p:cNvSpPr/>
          <p:nvPr/>
        </p:nvSpPr>
        <p:spPr>
          <a:xfrm>
            <a:off x="566928" y="210312"/>
            <a:ext cx="6016752" cy="164592"/>
          </a:xfrm>
          <a:prstGeom prst="rect">
            <a:avLst/>
          </a:prstGeom>
          <a:noFill/>
          <a:ln/>
        </p:spPr>
        <p:txBody>
          <a:bodyPr wrap="square" lIns="0" tIns="0" rIns="0" bIns="0" rtlCol="0" anchor="ctr">
            <a:normAutofit/>
          </a:bodyPr>
          <a:lstStyle/>
          <a:p>
            <a:pPr indent="0" marL="0">
              <a:buNone/>
            </a:pPr>
            <a:r>
              <a:rPr lang="en-US" sz="920" b="1" spc="140" kern="0" dirty="0">
                <a:solidFill>
                  <a:srgbClr val="91A0B0"/>
                </a:solidFill>
                <a:latin typeface="Inter" pitchFamily="34" charset="0"/>
                <a:ea typeface="Inter" pitchFamily="34" charset="-122"/>
                <a:cs typeface="Inter" pitchFamily="34" charset="-120"/>
              </a:rPr>
              <a:t>UNIVERSIDAD DE LAS FUERZAS ARMADAS ESPE</a:t>
            </a:r>
            <a:endParaRPr lang="en-US" sz="920" dirty="0"/>
          </a:p>
        </p:txBody>
      </p:sp>
      <p:sp>
        <p:nvSpPr>
          <p:cNvPr id="4" name="Text 2"/>
          <p:cNvSpPr/>
          <p:nvPr/>
        </p:nvSpPr>
        <p:spPr>
          <a:xfrm>
            <a:off x="7589520" y="210312"/>
            <a:ext cx="3941064" cy="164592"/>
          </a:xfrm>
          <a:prstGeom prst="rect">
            <a:avLst/>
          </a:prstGeom>
          <a:noFill/>
          <a:ln/>
        </p:spPr>
        <p:txBody>
          <a:bodyPr wrap="square" lIns="0" tIns="0" rIns="0" bIns="0" rtlCol="0" anchor="ctr">
            <a:normAutofit/>
          </a:bodyPr>
          <a:lstStyle/>
          <a:p>
            <a:pPr algn="r" indent="0" marL="0">
              <a:buNone/>
            </a:pPr>
            <a:r>
              <a:rPr lang="en-US" sz="920" b="1" dirty="0">
                <a:solidFill>
                  <a:srgbClr val="91A0B0"/>
                </a:solidFill>
                <a:latin typeface="Inter" pitchFamily="34" charset="0"/>
                <a:ea typeface="Inter" pitchFamily="34" charset="-122"/>
                <a:cs typeface="Inter" pitchFamily="34" charset="-120"/>
              </a:rPr>
              <a:t>GRUPO 04  /  RECOMENDACIONES</a:t>
            </a:r>
            <a:endParaRPr lang="en-US" sz="920" dirty="0"/>
          </a:p>
        </p:txBody>
      </p:sp>
      <p:sp>
        <p:nvSpPr>
          <p:cNvPr id="5" name="Shape 3"/>
          <p:cNvSpPr/>
          <p:nvPr/>
        </p:nvSpPr>
        <p:spPr>
          <a:xfrm>
            <a:off x="594360" y="6492240"/>
            <a:ext cx="11036808" cy="0"/>
          </a:xfrm>
          <a:prstGeom prst="line">
            <a:avLst/>
          </a:prstGeom>
          <a:noFill/>
          <a:ln w="8890">
            <a:solidFill>
              <a:srgbClr val="E1EAF1"/>
            </a:solidFill>
            <a:prstDash val="solid"/>
            <a:headEnd type="none"/>
            <a:tailEnd type="none"/>
          </a:ln>
        </p:spPr>
      </p:sp>
      <p:sp>
        <p:nvSpPr>
          <p:cNvPr id="6" name="Text 4"/>
          <p:cNvSpPr/>
          <p:nvPr/>
        </p:nvSpPr>
        <p:spPr>
          <a:xfrm>
            <a:off x="603504" y="6565392"/>
            <a:ext cx="5669280" cy="128016"/>
          </a:xfrm>
          <a:prstGeom prst="rect">
            <a:avLst/>
          </a:prstGeom>
          <a:noFill/>
          <a:ln/>
        </p:spPr>
        <p:txBody>
          <a:bodyPr wrap="square" lIns="0" tIns="0" rIns="0" bIns="0" rtlCol="0" anchor="ctr">
            <a:normAutofit/>
          </a:bodyPr>
          <a:lstStyle/>
          <a:p>
            <a:pPr indent="0" marL="0">
              <a:buNone/>
            </a:pPr>
            <a:r>
              <a:rPr lang="en-US" sz="830" dirty="0">
                <a:solidFill>
                  <a:srgbClr val="91A0B0"/>
                </a:solidFill>
                <a:latin typeface="Inter" pitchFamily="34" charset="0"/>
                <a:ea typeface="Inter" pitchFamily="34" charset="-122"/>
                <a:cs typeface="Inter" pitchFamily="34" charset="-120"/>
              </a:rPr>
              <a:t>FUENTE · G4_Matriz_IREB_V3.0.xlsx</a:t>
            </a:r>
            <a:endParaRPr lang="en-US" sz="830" dirty="0"/>
          </a:p>
        </p:txBody>
      </p:sp>
      <p:sp>
        <p:nvSpPr>
          <p:cNvPr id="7" name="Text 5"/>
          <p:cNvSpPr/>
          <p:nvPr/>
        </p:nvSpPr>
        <p:spPr>
          <a:xfrm>
            <a:off x="10908792" y="6537960"/>
            <a:ext cx="713232" cy="182880"/>
          </a:xfrm>
          <a:prstGeom prst="rect">
            <a:avLst/>
          </a:prstGeom>
          <a:noFill/>
          <a:ln/>
        </p:spPr>
        <p:txBody>
          <a:bodyPr wrap="square" lIns="0" tIns="0" rIns="0" bIns="0" rtlCol="0" anchor="ctr">
            <a:normAutofit/>
          </a:bodyPr>
          <a:lstStyle/>
          <a:p>
            <a:pPr algn="r" indent="0" marL="0">
              <a:buNone/>
            </a:pPr>
            <a:r>
              <a:rPr lang="en-US" sz="930" b="1" dirty="0">
                <a:solidFill>
                  <a:srgbClr val="2776D2"/>
                </a:solidFill>
                <a:latin typeface="Inter" pitchFamily="34" charset="0"/>
                <a:ea typeface="Inter" pitchFamily="34" charset="-122"/>
                <a:cs typeface="Inter" pitchFamily="34" charset="-120"/>
              </a:rPr>
              <a:t>17</a:t>
            </a:r>
            <a:endParaRPr lang="en-US" sz="930" dirty="0"/>
          </a:p>
        </p:txBody>
      </p:sp>
      <p:sp>
        <p:nvSpPr>
          <p:cNvPr id="8" name="Text 6"/>
          <p:cNvSpPr/>
          <p:nvPr/>
        </p:nvSpPr>
        <p:spPr>
          <a:xfrm>
            <a:off x="630936" y="594360"/>
            <a:ext cx="10908792" cy="210312"/>
          </a:xfrm>
          <a:prstGeom prst="rect">
            <a:avLst/>
          </a:prstGeom>
          <a:noFill/>
          <a:ln/>
        </p:spPr>
        <p:txBody>
          <a:bodyPr wrap="square" lIns="0" tIns="0" rIns="0" bIns="0" rtlCol="0" anchor="ctr">
            <a:normAutofit/>
          </a:bodyPr>
          <a:lstStyle/>
          <a:p>
            <a:pPr indent="0" marL="0">
              <a:buNone/>
            </a:pPr>
            <a:r>
              <a:rPr lang="en-US" sz="1030" b="1" spc="140" kern="0" dirty="0">
                <a:solidFill>
                  <a:srgbClr val="2776D2"/>
                </a:solidFill>
                <a:latin typeface="Inter" pitchFamily="34" charset="0"/>
                <a:ea typeface="Inter" pitchFamily="34" charset="-122"/>
                <a:cs typeface="Inter" pitchFamily="34" charset="-120"/>
              </a:rPr>
              <a:t>PLAN DE MEJORA</a:t>
            </a:r>
            <a:endParaRPr lang="en-US" sz="1030" dirty="0"/>
          </a:p>
        </p:txBody>
      </p:sp>
      <p:sp>
        <p:nvSpPr>
          <p:cNvPr id="9" name="Text 7"/>
          <p:cNvSpPr/>
          <p:nvPr/>
        </p:nvSpPr>
        <p:spPr>
          <a:xfrm>
            <a:off x="621792" y="941832"/>
            <a:ext cx="10972800" cy="530352"/>
          </a:xfrm>
          <a:prstGeom prst="rect">
            <a:avLst/>
          </a:prstGeom>
          <a:noFill/>
          <a:ln/>
        </p:spPr>
        <p:txBody>
          <a:bodyPr wrap="square" lIns="0" tIns="0" rIns="0" bIns="0" rtlCol="0" anchor="ctr">
            <a:normAutofit/>
          </a:bodyPr>
          <a:lstStyle/>
          <a:p>
            <a:pPr indent="0" marL="0">
              <a:buNone/>
            </a:pPr>
            <a:r>
              <a:rPr lang="en-US" sz="2880" b="1" dirty="0">
                <a:solidFill>
                  <a:srgbClr val="102A43"/>
                </a:solidFill>
                <a:latin typeface="Inter" pitchFamily="34" charset="0"/>
                <a:ea typeface="Inter" pitchFamily="34" charset="-122"/>
                <a:cs typeface="Inter" pitchFamily="34" charset="-120"/>
              </a:rPr>
              <a:t>De la evaluación a las acciones de seguimiento</a:t>
            </a:r>
            <a:endParaRPr lang="en-US" sz="2880" dirty="0"/>
          </a:p>
        </p:txBody>
      </p:sp>
      <p:sp>
        <p:nvSpPr>
          <p:cNvPr id="10" name="Text 8"/>
          <p:cNvSpPr/>
          <p:nvPr/>
        </p:nvSpPr>
        <p:spPr>
          <a:xfrm>
            <a:off x="640080" y="1545336"/>
            <a:ext cx="10780776" cy="329184"/>
          </a:xfrm>
          <a:prstGeom prst="rect">
            <a:avLst/>
          </a:prstGeom>
          <a:noFill/>
          <a:ln/>
        </p:spPr>
        <p:txBody>
          <a:bodyPr wrap="square" lIns="0" tIns="0" rIns="0" bIns="0" rtlCol="0" anchor="ctr">
            <a:normAutofit/>
          </a:bodyPr>
          <a:lstStyle/>
          <a:p>
            <a:pPr indent="0" marL="0">
              <a:buNone/>
            </a:pPr>
            <a:r>
              <a:rPr lang="en-US" sz="1280" dirty="0">
                <a:solidFill>
                  <a:srgbClr val="60748A"/>
                </a:solidFill>
                <a:latin typeface="Inter" pitchFamily="34" charset="0"/>
                <a:ea typeface="Inter" pitchFamily="34" charset="-122"/>
                <a:cs typeface="Inter" pitchFamily="34" charset="-120"/>
              </a:rPr>
              <a:t>La recomendación formal es la misma en las tres hojas del Excel.</a:t>
            </a:r>
            <a:endParaRPr lang="en-US" sz="1280" dirty="0"/>
          </a:p>
        </p:txBody>
      </p:sp>
      <p:sp>
        <p:nvSpPr>
          <p:cNvPr id="11" name="Shape 9"/>
          <p:cNvSpPr/>
          <p:nvPr/>
        </p:nvSpPr>
        <p:spPr>
          <a:xfrm>
            <a:off x="676656" y="2011680"/>
            <a:ext cx="10817352" cy="1234440"/>
          </a:xfrm>
          <a:prstGeom prst="roundRect">
            <a:avLst>
              <a:gd name="adj" fmla="val 11852"/>
            </a:avLst>
          </a:prstGeom>
          <a:solidFill>
            <a:srgbClr val="ECF5FF"/>
          </a:solidFill>
          <a:ln w="12700">
            <a:solidFill>
              <a:srgbClr val="ECF5FF">
                <a:alpha val="0"/>
              </a:srgbClr>
            </a:solidFill>
            <a:prstDash val="solid"/>
          </a:ln>
        </p:spPr>
      </p:sp>
      <p:sp>
        <p:nvSpPr>
          <p:cNvPr id="12" name="Text 10"/>
          <p:cNvSpPr/>
          <p:nvPr/>
        </p:nvSpPr>
        <p:spPr>
          <a:xfrm>
            <a:off x="987552" y="2240280"/>
            <a:ext cx="8046720" cy="219456"/>
          </a:xfrm>
          <a:prstGeom prst="rect">
            <a:avLst/>
          </a:prstGeom>
          <a:noFill/>
          <a:ln/>
        </p:spPr>
        <p:txBody>
          <a:bodyPr wrap="square" lIns="0" tIns="0" rIns="0" bIns="0" rtlCol="0" anchor="ctr">
            <a:normAutofit/>
          </a:bodyPr>
          <a:lstStyle/>
          <a:p>
            <a:pPr indent="0" marL="0">
              <a:buNone/>
            </a:pPr>
            <a:r>
              <a:rPr lang="en-US" sz="1020" b="1" spc="140" kern="0" dirty="0">
                <a:solidFill>
                  <a:srgbClr val="2776D2"/>
                </a:solidFill>
                <a:latin typeface="Inter" pitchFamily="34" charset="0"/>
                <a:ea typeface="Inter" pitchFamily="34" charset="-122"/>
                <a:cs typeface="Inter" pitchFamily="34" charset="-120"/>
              </a:rPr>
              <a:t>RECOMENDACIÓN QUE CONSTA EN EL EXCEL</a:t>
            </a:r>
            <a:endParaRPr lang="en-US" sz="1020" dirty="0"/>
          </a:p>
        </p:txBody>
      </p:sp>
      <p:sp>
        <p:nvSpPr>
          <p:cNvPr id="13" name="Text 11"/>
          <p:cNvSpPr/>
          <p:nvPr/>
        </p:nvSpPr>
        <p:spPr>
          <a:xfrm>
            <a:off x="987552" y="2587752"/>
            <a:ext cx="10040112" cy="457200"/>
          </a:xfrm>
          <a:prstGeom prst="rect">
            <a:avLst/>
          </a:prstGeom>
          <a:noFill/>
          <a:ln/>
        </p:spPr>
        <p:txBody>
          <a:bodyPr wrap="square" lIns="0" tIns="0" rIns="0" bIns="0" rtlCol="0" anchor="ctr">
            <a:normAutofit/>
          </a:bodyPr>
          <a:lstStyle/>
          <a:p>
            <a:pPr indent="0" marL="0">
              <a:buNone/>
            </a:pPr>
            <a:r>
              <a:rPr lang="en-US" sz="2250" b="1" dirty="0">
                <a:solidFill>
                  <a:srgbClr val="102A43"/>
                </a:solidFill>
                <a:latin typeface="Inter" pitchFamily="34" charset="0"/>
                <a:ea typeface="Inter" pitchFamily="34" charset="-122"/>
                <a:cs typeface="Inter" pitchFamily="34" charset="-120"/>
              </a:rPr>
              <a:t>Estimar los recursos y costos directos e indirectos para el desarrollo del proyecto.</a:t>
            </a:r>
            <a:endParaRPr lang="en-US" sz="2250" dirty="0"/>
          </a:p>
        </p:txBody>
      </p:sp>
      <p:sp>
        <p:nvSpPr>
          <p:cNvPr id="14" name="Shape 12"/>
          <p:cNvSpPr/>
          <p:nvPr/>
        </p:nvSpPr>
        <p:spPr>
          <a:xfrm>
            <a:off x="685800" y="3657600"/>
            <a:ext cx="3520440" cy="1737360"/>
          </a:xfrm>
          <a:prstGeom prst="roundRect">
            <a:avLst>
              <a:gd name="adj" fmla="val 8421"/>
            </a:avLst>
          </a:prstGeom>
          <a:solidFill>
            <a:srgbClr val="FFFFFF"/>
          </a:solidFill>
          <a:ln w="10160">
            <a:solidFill>
              <a:srgbClr val="E1EAF1"/>
            </a:solidFill>
            <a:prstDash val="solid"/>
          </a:ln>
        </p:spPr>
      </p:sp>
      <p:sp>
        <p:nvSpPr>
          <p:cNvPr id="15" name="Shape 13"/>
          <p:cNvSpPr/>
          <p:nvPr/>
        </p:nvSpPr>
        <p:spPr>
          <a:xfrm>
            <a:off x="905256" y="3877056"/>
            <a:ext cx="576072" cy="512064"/>
          </a:xfrm>
          <a:prstGeom prst="roundRect">
            <a:avLst>
              <a:gd name="adj" fmla="val 17857"/>
            </a:avLst>
          </a:prstGeom>
          <a:solidFill>
            <a:srgbClr val="ECF5FF"/>
          </a:solidFill>
          <a:ln w="12700">
            <a:solidFill>
              <a:srgbClr val="ECF5FF">
                <a:alpha val="0"/>
              </a:srgbClr>
            </a:solidFill>
            <a:prstDash val="solid"/>
          </a:ln>
        </p:spPr>
      </p:sp>
      <p:sp>
        <p:nvSpPr>
          <p:cNvPr id="16" name="Text 14"/>
          <p:cNvSpPr/>
          <p:nvPr/>
        </p:nvSpPr>
        <p:spPr>
          <a:xfrm>
            <a:off x="1024128" y="4050792"/>
            <a:ext cx="338328" cy="164592"/>
          </a:xfrm>
          <a:prstGeom prst="rect">
            <a:avLst/>
          </a:prstGeom>
          <a:noFill/>
          <a:ln/>
        </p:spPr>
        <p:txBody>
          <a:bodyPr wrap="square" lIns="0" tIns="0" rIns="0" bIns="0" rtlCol="0" anchor="ctr">
            <a:normAutofit/>
          </a:bodyPr>
          <a:lstStyle/>
          <a:p>
            <a:pPr algn="ctr" indent="0" marL="0">
              <a:buNone/>
            </a:pPr>
            <a:r>
              <a:rPr lang="en-US" sz="1250" b="1" dirty="0">
                <a:solidFill>
                  <a:srgbClr val="2776D2"/>
                </a:solidFill>
                <a:latin typeface="Inter" pitchFamily="34" charset="0"/>
                <a:ea typeface="Inter" pitchFamily="34" charset="-122"/>
                <a:cs typeface="Inter" pitchFamily="34" charset="-120"/>
              </a:rPr>
              <a:t>01</a:t>
            </a:r>
            <a:endParaRPr lang="en-US" sz="1250" dirty="0"/>
          </a:p>
        </p:txBody>
      </p:sp>
      <p:sp>
        <p:nvSpPr>
          <p:cNvPr id="17" name="Text 15"/>
          <p:cNvSpPr/>
          <p:nvPr/>
        </p:nvSpPr>
        <p:spPr>
          <a:xfrm>
            <a:off x="914400" y="4544568"/>
            <a:ext cx="3017520" cy="310896"/>
          </a:xfrm>
          <a:prstGeom prst="rect">
            <a:avLst/>
          </a:prstGeom>
          <a:noFill/>
          <a:ln/>
        </p:spPr>
        <p:txBody>
          <a:bodyPr wrap="square" lIns="0" tIns="0" rIns="0" bIns="0" rtlCol="0" anchor="ctr">
            <a:normAutofit/>
          </a:bodyPr>
          <a:lstStyle/>
          <a:p>
            <a:pPr indent="0" marL="0">
              <a:buNone/>
            </a:pPr>
            <a:r>
              <a:rPr lang="en-US" sz="1640" b="1" dirty="0">
                <a:solidFill>
                  <a:srgbClr val="102A43"/>
                </a:solidFill>
                <a:latin typeface="Inter" pitchFamily="34" charset="0"/>
                <a:ea typeface="Inter" pitchFamily="34" charset="-122"/>
                <a:cs typeface="Inter" pitchFamily="34" charset="-120"/>
              </a:rPr>
              <a:t>Pruebas verificables</a:t>
            </a:r>
            <a:endParaRPr lang="en-US" sz="1640" dirty="0"/>
          </a:p>
        </p:txBody>
      </p:sp>
      <p:sp>
        <p:nvSpPr>
          <p:cNvPr id="18" name="Text 16"/>
          <p:cNvSpPr/>
          <p:nvPr/>
        </p:nvSpPr>
        <p:spPr>
          <a:xfrm>
            <a:off x="914400" y="4937760"/>
            <a:ext cx="3026664" cy="438912"/>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Definir casos, datos de entrada y resultados esperados.</a:t>
            </a:r>
            <a:endParaRPr lang="en-US" sz="1240" dirty="0"/>
          </a:p>
        </p:txBody>
      </p:sp>
      <p:sp>
        <p:nvSpPr>
          <p:cNvPr id="19" name="Shape 17"/>
          <p:cNvSpPr/>
          <p:nvPr/>
        </p:nvSpPr>
        <p:spPr>
          <a:xfrm>
            <a:off x="4462272" y="3657600"/>
            <a:ext cx="3520440" cy="1737360"/>
          </a:xfrm>
          <a:prstGeom prst="roundRect">
            <a:avLst>
              <a:gd name="adj" fmla="val 8421"/>
            </a:avLst>
          </a:prstGeom>
          <a:solidFill>
            <a:srgbClr val="FFFFFF"/>
          </a:solidFill>
          <a:ln w="10160">
            <a:solidFill>
              <a:srgbClr val="E1EAF1"/>
            </a:solidFill>
            <a:prstDash val="solid"/>
          </a:ln>
        </p:spPr>
      </p:sp>
      <p:sp>
        <p:nvSpPr>
          <p:cNvPr id="20" name="Shape 18"/>
          <p:cNvSpPr/>
          <p:nvPr/>
        </p:nvSpPr>
        <p:spPr>
          <a:xfrm>
            <a:off x="4681728" y="3877056"/>
            <a:ext cx="576072" cy="512064"/>
          </a:xfrm>
          <a:prstGeom prst="roundRect">
            <a:avLst>
              <a:gd name="adj" fmla="val 17857"/>
            </a:avLst>
          </a:prstGeom>
          <a:solidFill>
            <a:srgbClr val="E7F7F3"/>
          </a:solidFill>
          <a:ln w="12700">
            <a:solidFill>
              <a:srgbClr val="E7F7F3">
                <a:alpha val="0"/>
              </a:srgbClr>
            </a:solidFill>
            <a:prstDash val="solid"/>
          </a:ln>
        </p:spPr>
      </p:sp>
      <p:sp>
        <p:nvSpPr>
          <p:cNvPr id="21" name="Text 19"/>
          <p:cNvSpPr/>
          <p:nvPr/>
        </p:nvSpPr>
        <p:spPr>
          <a:xfrm>
            <a:off x="4800600" y="4050792"/>
            <a:ext cx="338328" cy="164592"/>
          </a:xfrm>
          <a:prstGeom prst="rect">
            <a:avLst/>
          </a:prstGeom>
          <a:noFill/>
          <a:ln/>
        </p:spPr>
        <p:txBody>
          <a:bodyPr wrap="square" lIns="0" tIns="0" rIns="0" bIns="0" rtlCol="0" anchor="ctr">
            <a:normAutofit/>
          </a:bodyPr>
          <a:lstStyle/>
          <a:p>
            <a:pPr algn="ctr" indent="0" marL="0">
              <a:buNone/>
            </a:pPr>
            <a:r>
              <a:rPr lang="en-US" sz="1250" b="1" dirty="0">
                <a:solidFill>
                  <a:srgbClr val="119E94"/>
                </a:solidFill>
                <a:latin typeface="Inter" pitchFamily="34" charset="0"/>
                <a:ea typeface="Inter" pitchFamily="34" charset="-122"/>
                <a:cs typeface="Inter" pitchFamily="34" charset="-120"/>
              </a:rPr>
              <a:t>02</a:t>
            </a:r>
            <a:endParaRPr lang="en-US" sz="1250" dirty="0"/>
          </a:p>
        </p:txBody>
      </p:sp>
      <p:sp>
        <p:nvSpPr>
          <p:cNvPr id="22" name="Text 20"/>
          <p:cNvSpPr/>
          <p:nvPr/>
        </p:nvSpPr>
        <p:spPr>
          <a:xfrm>
            <a:off x="4690872" y="4544568"/>
            <a:ext cx="3017520" cy="310896"/>
          </a:xfrm>
          <a:prstGeom prst="rect">
            <a:avLst/>
          </a:prstGeom>
          <a:noFill/>
          <a:ln/>
        </p:spPr>
        <p:txBody>
          <a:bodyPr wrap="square" lIns="0" tIns="0" rIns="0" bIns="0" rtlCol="0" anchor="ctr">
            <a:normAutofit/>
          </a:bodyPr>
          <a:lstStyle/>
          <a:p>
            <a:pPr indent="0" marL="0">
              <a:buNone/>
            </a:pPr>
            <a:r>
              <a:rPr lang="en-US" sz="1640" b="1" dirty="0">
                <a:solidFill>
                  <a:srgbClr val="102A43"/>
                </a:solidFill>
                <a:latin typeface="Inter" pitchFamily="34" charset="0"/>
                <a:ea typeface="Inter" pitchFamily="34" charset="-122"/>
                <a:cs typeface="Inter" pitchFamily="34" charset="-120"/>
              </a:rPr>
              <a:t>Actualizar CU02</a:t>
            </a:r>
            <a:endParaRPr lang="en-US" sz="1640" dirty="0"/>
          </a:p>
        </p:txBody>
      </p:sp>
      <p:sp>
        <p:nvSpPr>
          <p:cNvPr id="23" name="Text 21"/>
          <p:cNvSpPr/>
          <p:nvPr/>
        </p:nvSpPr>
        <p:spPr>
          <a:xfrm>
            <a:off x="4690872" y="4937760"/>
            <a:ext cx="3026664" cy="438912"/>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Comprobar los cambios del cliente que aún figuran pendientes.</a:t>
            </a:r>
            <a:endParaRPr lang="en-US" sz="1240" dirty="0"/>
          </a:p>
        </p:txBody>
      </p:sp>
      <p:sp>
        <p:nvSpPr>
          <p:cNvPr id="24" name="Shape 22"/>
          <p:cNvSpPr/>
          <p:nvPr/>
        </p:nvSpPr>
        <p:spPr>
          <a:xfrm>
            <a:off x="8238744" y="3657600"/>
            <a:ext cx="3520440" cy="1737360"/>
          </a:xfrm>
          <a:prstGeom prst="roundRect">
            <a:avLst>
              <a:gd name="adj" fmla="val 8421"/>
            </a:avLst>
          </a:prstGeom>
          <a:solidFill>
            <a:srgbClr val="FFFFFF"/>
          </a:solidFill>
          <a:ln w="10160">
            <a:solidFill>
              <a:srgbClr val="E1EAF1"/>
            </a:solidFill>
            <a:prstDash val="solid"/>
          </a:ln>
        </p:spPr>
      </p:sp>
      <p:sp>
        <p:nvSpPr>
          <p:cNvPr id="25" name="Shape 23"/>
          <p:cNvSpPr/>
          <p:nvPr/>
        </p:nvSpPr>
        <p:spPr>
          <a:xfrm>
            <a:off x="8458200" y="3877056"/>
            <a:ext cx="576072" cy="512064"/>
          </a:xfrm>
          <a:prstGeom prst="roundRect">
            <a:avLst>
              <a:gd name="adj" fmla="val 17857"/>
            </a:avLst>
          </a:prstGeom>
          <a:solidFill>
            <a:srgbClr val="FFF1E4"/>
          </a:solidFill>
          <a:ln w="12700">
            <a:solidFill>
              <a:srgbClr val="FFF1E4">
                <a:alpha val="0"/>
              </a:srgbClr>
            </a:solidFill>
            <a:prstDash val="solid"/>
          </a:ln>
        </p:spPr>
      </p:sp>
      <p:sp>
        <p:nvSpPr>
          <p:cNvPr id="26" name="Text 24"/>
          <p:cNvSpPr/>
          <p:nvPr/>
        </p:nvSpPr>
        <p:spPr>
          <a:xfrm>
            <a:off x="8577072" y="4050792"/>
            <a:ext cx="338328" cy="164592"/>
          </a:xfrm>
          <a:prstGeom prst="rect">
            <a:avLst/>
          </a:prstGeom>
          <a:noFill/>
          <a:ln/>
        </p:spPr>
        <p:txBody>
          <a:bodyPr wrap="square" lIns="0" tIns="0" rIns="0" bIns="0" rtlCol="0" anchor="ctr">
            <a:normAutofit/>
          </a:bodyPr>
          <a:lstStyle/>
          <a:p>
            <a:pPr algn="ctr" indent="0" marL="0">
              <a:buNone/>
            </a:pPr>
            <a:r>
              <a:rPr lang="en-US" sz="1250" b="1" dirty="0">
                <a:solidFill>
                  <a:srgbClr val="DF8633"/>
                </a:solidFill>
                <a:latin typeface="Inter" pitchFamily="34" charset="0"/>
                <a:ea typeface="Inter" pitchFamily="34" charset="-122"/>
                <a:cs typeface="Inter" pitchFamily="34" charset="-120"/>
              </a:rPr>
              <a:t>03</a:t>
            </a:r>
            <a:endParaRPr lang="en-US" sz="1250" dirty="0"/>
          </a:p>
        </p:txBody>
      </p:sp>
      <p:sp>
        <p:nvSpPr>
          <p:cNvPr id="27" name="Text 25"/>
          <p:cNvSpPr/>
          <p:nvPr/>
        </p:nvSpPr>
        <p:spPr>
          <a:xfrm>
            <a:off x="8467344" y="4544568"/>
            <a:ext cx="3017520" cy="310896"/>
          </a:xfrm>
          <a:prstGeom prst="rect">
            <a:avLst/>
          </a:prstGeom>
          <a:noFill/>
          <a:ln/>
        </p:spPr>
        <p:txBody>
          <a:bodyPr wrap="square" lIns="0" tIns="0" rIns="0" bIns="0" rtlCol="0" anchor="ctr">
            <a:normAutofit/>
          </a:bodyPr>
          <a:lstStyle/>
          <a:p>
            <a:pPr indent="0" marL="0">
              <a:buNone/>
            </a:pPr>
            <a:r>
              <a:rPr lang="en-US" sz="1640" b="1" dirty="0">
                <a:solidFill>
                  <a:srgbClr val="102A43"/>
                </a:solidFill>
                <a:latin typeface="Inter" pitchFamily="34" charset="0"/>
                <a:ea typeface="Inter" pitchFamily="34" charset="-122"/>
                <a:cs typeface="Inter" pitchFamily="34" charset="-120"/>
              </a:rPr>
              <a:t>Validar condiciones</a:t>
            </a:r>
            <a:endParaRPr lang="en-US" sz="1640" dirty="0"/>
          </a:p>
        </p:txBody>
      </p:sp>
      <p:sp>
        <p:nvSpPr>
          <p:cNvPr id="28" name="Text 26"/>
          <p:cNvSpPr/>
          <p:nvPr/>
        </p:nvSpPr>
        <p:spPr>
          <a:xfrm>
            <a:off x="8467344" y="4937760"/>
            <a:ext cx="3026664" cy="438912"/>
          </a:xfrm>
          <a:prstGeom prst="rect">
            <a:avLst/>
          </a:prstGeom>
          <a:noFill/>
          <a:ln/>
        </p:spPr>
        <p:txBody>
          <a:bodyPr wrap="square" lIns="0" tIns="0" rIns="0" bIns="0" rtlCol="0" anchor="t">
            <a:normAutofit/>
          </a:bodyPr>
          <a:lstStyle/>
          <a:p>
            <a:pPr indent="0" marL="0">
              <a:buNone/>
            </a:pPr>
            <a:r>
              <a:rPr lang="en-US" sz="1240" dirty="0">
                <a:solidFill>
                  <a:srgbClr val="60748A"/>
                </a:solidFill>
                <a:latin typeface="Inter" pitchFamily="34" charset="0"/>
                <a:ea typeface="Inter" pitchFamily="34" charset="-122"/>
                <a:cs typeface="Inter" pitchFamily="34" charset="-120"/>
              </a:rPr>
              <a:t>Revisar tiempo, recursos y presupuesto de implementación.</a:t>
            </a:r>
            <a:endParaRPr lang="en-US" sz="1240" dirty="0"/>
          </a:p>
        </p:txBody>
      </p:sp>
      <p:sp>
        <p:nvSpPr>
          <p:cNvPr id="29" name="Text 27"/>
          <p:cNvSpPr/>
          <p:nvPr/>
        </p:nvSpPr>
        <p:spPr>
          <a:xfrm>
            <a:off x="731520" y="5943600"/>
            <a:ext cx="10716768" cy="228600"/>
          </a:xfrm>
          <a:prstGeom prst="rect">
            <a:avLst/>
          </a:prstGeom>
          <a:noFill/>
          <a:ln/>
        </p:spPr>
        <p:txBody>
          <a:bodyPr wrap="square" lIns="0" tIns="0" rIns="0" bIns="0" rtlCol="0" anchor="ctr">
            <a:normAutofit/>
          </a:bodyPr>
          <a:lstStyle/>
          <a:p>
            <a:pPr indent="0" marL="0">
              <a:buNone/>
            </a:pPr>
            <a:r>
              <a:rPr lang="en-US" sz="1240" i="1" dirty="0">
                <a:solidFill>
                  <a:srgbClr val="60748A"/>
                </a:solidFill>
                <a:latin typeface="Inter" pitchFamily="34" charset="0"/>
                <a:ea typeface="Inter" pitchFamily="34" charset="-122"/>
                <a:cs typeface="Inter" pitchFamily="34" charset="-120"/>
              </a:rPr>
              <a:t>Nota: el costo es información para planificación, no una funcionalidad del SCA.</a:t>
            </a:r>
            <a:endParaRPr lang="en-US" sz="12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ESPE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Calidad de requisitos SCA · Evaluación individual por caso de uso</dc:title>
  <dc:subject>Evaluación individual de calidad IREB en tres casos de uso del SCA</dc:subject>
  <dc:creator>Grupo 4 · Universidad de las Fuerzas Armadas ESPE</dc:creator>
  <cp:lastModifiedBy>Grupo 4 · Universidad de las Fuerzas Armadas ESPE</cp:lastModifiedBy>
  <cp:revision>1</cp:revision>
  <dcterms:created xsi:type="dcterms:W3CDTF">2026-10-14T00:09:04Z</dcterms:created>
  <dcterms:modified xsi:type="dcterms:W3CDTF">2026-10-14T00:09:04Z</dcterms:modified>
</cp:coreProperties>
</file>