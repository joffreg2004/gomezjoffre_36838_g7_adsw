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Roboto" charset="1" panose="02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png" Type="http://schemas.openxmlformats.org/officeDocument/2006/relationships/image"/><Relationship Id="rId4" Target="../media/image4.jpe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png" Type="http://schemas.openxmlformats.org/officeDocument/2006/relationships/image"/><Relationship Id="rId4" Target="../media/image6.jpe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png" Type="http://schemas.openxmlformats.org/officeDocument/2006/relationships/image"/><Relationship Id="rId4" Target="../media/image8.jpe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png" Type="http://schemas.openxmlformats.org/officeDocument/2006/relationships/image"/><Relationship Id="rId4" Target="../media/image4.jpeg" Type="http://schemas.openxmlformats.org/officeDocument/2006/relationships/image"/><Relationship Id="rId5" Target="../media/image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png" Type="http://schemas.openxmlformats.org/officeDocument/2006/relationships/image"/><Relationship Id="rId4" Target="../media/image10.jpe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png" Type="http://schemas.openxmlformats.org/officeDocument/2006/relationships/image"/><Relationship Id="rId4" Target="../media/image11.jpe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png" Type="http://schemas.openxmlformats.org/officeDocument/2006/relationships/image"/><Relationship Id="rId4" Target="../media/image4.jpeg" Type="http://schemas.openxmlformats.org/officeDocument/2006/relationships/image"/><Relationship Id="rId5" Target="../media/image1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2" Target="https://gamma.app/?utm_source=made-with-gamma" TargetMode="External" Type="http://schemas.openxmlformats.org/officeDocument/2006/relationships/hyperlink"/><Relationship Id="rId3" Target="../media/image2.png" Type="http://schemas.openxmlformats.org/officeDocument/2006/relationships/image"/><Relationship Id="rId4" Target="../media/image4.jpe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2.png" Type="http://schemas.openxmlformats.org/officeDocument/2006/relationships/image"/><Relationship Id="rId4" Target="../media/image19.png" Type="http://schemas.openxmlformats.org/officeDocument/2006/relationships/image"/><Relationship Id="rId5" Target="../media/image4.jpe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6143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6143F">
                <a:alpha val="3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9" id="9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67610" y="7105117"/>
            <a:ext cx="16166630" cy="1681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9"/>
              </a:lnSpc>
            </a:pPr>
            <a:r>
              <a:rPr lang="en-US" b="true" sz="6304" spc="-94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Calidad de requisitos del</a:t>
            </a:r>
          </a:p>
          <a:p>
            <a:pPr algn="l">
              <a:lnSpc>
                <a:spcPts val="6809"/>
              </a:lnSpc>
            </a:pPr>
            <a:r>
              <a:rPr lang="en-US" b="true" sz="6304" spc="-94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Sistema de Control de Asistencia (SCA)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67610" y="9098718"/>
            <a:ext cx="762429" cy="57198"/>
            <a:chOff x="0" y="0"/>
            <a:chExt cx="1016572" cy="762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6508" cy="76200"/>
            </a:xfrm>
            <a:custGeom>
              <a:avLst/>
              <a:gdLst/>
              <a:ahLst/>
              <a:cxnLst/>
              <a:rect r="r" b="b" t="t" l="l"/>
              <a:pathLst>
                <a:path h="76200" w="1016508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978408" y="0"/>
                  </a:lnTo>
                  <a:cubicBezTo>
                    <a:pt x="999490" y="0"/>
                    <a:pt x="1016508" y="17018"/>
                    <a:pt x="1016508" y="38100"/>
                  </a:cubicBezTo>
                  <a:cubicBezTo>
                    <a:pt x="1016508" y="59182"/>
                    <a:pt x="999490" y="76200"/>
                    <a:pt x="978408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lose/>
                </a:path>
              </a:pathLst>
            </a:custGeom>
            <a:solidFill>
              <a:srgbClr val="B8297A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6100610" cy="10295039"/>
            <a:chOff x="0" y="0"/>
            <a:chExt cx="8134147" cy="13726719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8134096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0" t="0" r="-41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63191" y="980570"/>
            <a:ext cx="10447296" cy="1124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b="true" sz="4203" spc="-63">
                <a:solidFill>
                  <a:srgbClr val="4B2A7B"/>
                </a:solidFill>
                <a:latin typeface="Arimo Bold"/>
                <a:ea typeface="Arimo Bold"/>
                <a:cs typeface="Arimo Bold"/>
                <a:sym typeface="Arimo Bold"/>
              </a:rPr>
              <a:t>El control de asistencia hoy está disperso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863191" y="2434942"/>
            <a:ext cx="1601410" cy="114386"/>
            <a:chOff x="0" y="0"/>
            <a:chExt cx="2135213" cy="1525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35124" cy="152400"/>
            </a:xfrm>
            <a:custGeom>
              <a:avLst/>
              <a:gdLst/>
              <a:ahLst/>
              <a:cxnLst/>
              <a:rect r="r" b="b" t="t" l="l"/>
              <a:pathLst>
                <a:path h="152400" w="2135124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058924" y="0"/>
                  </a:lnTo>
                  <a:cubicBezTo>
                    <a:pt x="2101088" y="0"/>
                    <a:pt x="2135124" y="34163"/>
                    <a:pt x="2135124" y="76200"/>
                  </a:cubicBezTo>
                  <a:cubicBezTo>
                    <a:pt x="2135124" y="118364"/>
                    <a:pt x="2100961" y="152400"/>
                    <a:pt x="2058924" y="152400"/>
                  </a:cubicBezTo>
                  <a:lnTo>
                    <a:pt x="76200" y="152400"/>
                  </a:lnTo>
                  <a:cubicBezTo>
                    <a:pt x="34036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4B2A7B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6863191" y="2802007"/>
            <a:ext cx="10447296" cy="108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702">
                <a:solidFill>
                  <a:srgbClr val="24172F"/>
                </a:solidFill>
                <a:latin typeface="Arimo"/>
                <a:ea typeface="Arimo"/>
                <a:cs typeface="Arimo"/>
                <a:sym typeface="Arimo"/>
              </a:rPr>
              <a:t>RBG Ingeniería y Mantenimiento controla la asistencia con fotos y mensajes de WhatsApp.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63191" y="7415917"/>
            <a:ext cx="10447296" cy="50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4"/>
              </a:lnSpc>
            </a:pPr>
            <a:r>
              <a:rPr lang="en-US" sz="3302" b="true">
                <a:solidFill>
                  <a:srgbClr val="4B2A7B"/>
                </a:solidFill>
                <a:latin typeface="Arimo Bold"/>
                <a:ea typeface="Arimo Bold"/>
                <a:cs typeface="Arimo Bold"/>
                <a:sym typeface="Arimo Bold"/>
              </a:rPr>
              <a:t>Información dispersa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63191" y="8032347"/>
            <a:ext cx="10447296" cy="134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702">
                <a:solidFill>
                  <a:srgbClr val="24172F"/>
                </a:solidFill>
                <a:latin typeface="Arimo"/>
                <a:ea typeface="Arimo"/>
                <a:cs typeface="Arimo"/>
                <a:sym typeface="Arimo"/>
              </a:rPr>
              <a:t>Registros duplicados o incompletos.</a:t>
            </a:r>
          </a:p>
          <a:p>
            <a:pPr algn="l">
              <a:lnSpc>
                <a:spcPts val="3923"/>
              </a:lnSpc>
            </a:pPr>
            <a:r>
              <a:rPr lang="en-US" sz="2702">
                <a:solidFill>
                  <a:srgbClr val="24172F"/>
                </a:solidFill>
                <a:latin typeface="Arimo"/>
                <a:ea typeface="Arimo"/>
                <a:cs typeface="Arimo"/>
                <a:sym typeface="Arimo"/>
              </a:rPr>
              <a:t>Consolidación de horas difícil.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7824637" y="9706118"/>
            <a:ext cx="477203" cy="262585"/>
            <a:chOff x="0" y="0"/>
            <a:chExt cx="636270" cy="35011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6275" cy="350120"/>
            </a:xfrm>
            <a:custGeom>
              <a:avLst/>
              <a:gdLst/>
              <a:ahLst/>
              <a:cxnLst/>
              <a:rect r="r" b="b" t="t" l="l"/>
              <a:pathLst>
                <a:path h="350120" w="636275">
                  <a:moveTo>
                    <a:pt x="0" y="0"/>
                  </a:moveTo>
                  <a:lnTo>
                    <a:pt x="636275" y="0"/>
                  </a:lnTo>
                  <a:lnTo>
                    <a:pt x="636275" y="350120"/>
                  </a:lnTo>
                  <a:lnTo>
                    <a:pt x="0" y="350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0600" t="0" r="-20599" b="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36270" cy="3882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426" spc="57">
                  <a:solidFill>
                    <a:srgbClr val="24172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91352" y="904303"/>
            <a:ext cx="10523563" cy="1124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b="true" sz="4203" spc="-63">
                <a:solidFill>
                  <a:srgbClr val="4B2A7B"/>
                </a:solidFill>
                <a:latin typeface="Arimo Bold"/>
                <a:ea typeface="Arimo Bold"/>
                <a:cs typeface="Arimo Bold"/>
                <a:sym typeface="Arimo Bold"/>
              </a:rPr>
              <a:t>El SCA centraliza las marcaciones en una solución web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91352" y="2287191"/>
            <a:ext cx="5033010" cy="2220020"/>
            <a:chOff x="0" y="0"/>
            <a:chExt cx="6710680" cy="29600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10680" cy="2959989"/>
            </a:xfrm>
            <a:custGeom>
              <a:avLst/>
              <a:gdLst/>
              <a:ahLst/>
              <a:cxnLst/>
              <a:rect r="r" b="b" t="t" l="l"/>
              <a:pathLst>
                <a:path h="2959989" w="6710680">
                  <a:moveTo>
                    <a:pt x="0" y="0"/>
                  </a:moveTo>
                  <a:lnTo>
                    <a:pt x="5998972" y="0"/>
                  </a:lnTo>
                  <a:cubicBezTo>
                    <a:pt x="6392037" y="0"/>
                    <a:pt x="6710680" y="318643"/>
                    <a:pt x="6710680" y="711708"/>
                  </a:cubicBezTo>
                  <a:lnTo>
                    <a:pt x="6710680" y="2959989"/>
                  </a:lnTo>
                  <a:lnTo>
                    <a:pt x="0" y="29599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DDE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372638" y="2668381"/>
            <a:ext cx="4270429" cy="798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702" b="true">
                <a:solidFill>
                  <a:srgbClr val="24172F"/>
                </a:solidFill>
                <a:latin typeface="Arimo Bold"/>
                <a:ea typeface="Arimo Bold"/>
                <a:cs typeface="Arimo Bold"/>
                <a:sym typeface="Arimo Bold"/>
              </a:rPr>
              <a:t>Con Supervisor en la obra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2638" y="3605403"/>
            <a:ext cx="4651715" cy="481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24172F"/>
                </a:solidFill>
                <a:latin typeface="Arimo"/>
                <a:ea typeface="Arimo"/>
                <a:cs typeface="Arimo"/>
                <a:sym typeface="Arimo"/>
              </a:rPr>
              <a:t>Marcación con código QR.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477133" y="2282428"/>
            <a:ext cx="5042535" cy="2229545"/>
            <a:chOff x="0" y="0"/>
            <a:chExt cx="6723380" cy="29727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23380" cy="2972689"/>
            </a:xfrm>
            <a:custGeom>
              <a:avLst/>
              <a:gdLst/>
              <a:ahLst/>
              <a:cxnLst/>
              <a:rect r="r" b="b" t="t" l="l"/>
              <a:pathLst>
                <a:path h="2972689" w="6723380">
                  <a:moveTo>
                    <a:pt x="0" y="0"/>
                  </a:moveTo>
                  <a:lnTo>
                    <a:pt x="6723380" y="0"/>
                  </a:lnTo>
                  <a:lnTo>
                    <a:pt x="6723380" y="2972689"/>
                  </a:lnTo>
                  <a:lnTo>
                    <a:pt x="0" y="29726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729" t="0" r="-6729" b="-1"/>
              </a:stretch>
            </a:blipFill>
            <a:ln w="9532" cap="sq">
              <a:solidFill>
                <a:srgbClr val="4B2A7B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6872726" y="2677916"/>
            <a:ext cx="4251369" cy="404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702" b="true">
                <a:solidFill>
                  <a:srgbClr val="4B2A7B"/>
                </a:solidFill>
                <a:latin typeface="Arimo Bold"/>
                <a:ea typeface="Arimo Bold"/>
                <a:cs typeface="Arimo Bold"/>
                <a:sym typeface="Arimo Bold"/>
              </a:rPr>
              <a:t>Sin Supervisor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72726" y="3220383"/>
            <a:ext cx="4251369" cy="895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24172F"/>
                </a:solidFill>
                <a:latin typeface="Arimo"/>
                <a:ea typeface="Arimo"/>
                <a:cs typeface="Arimo"/>
                <a:sym typeface="Arimo"/>
              </a:rPr>
              <a:t>Enlace personal con validación de ubicación.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1352" y="8293284"/>
            <a:ext cx="10523563" cy="1162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24172F"/>
                </a:solidFill>
                <a:latin typeface="Arimo"/>
                <a:ea typeface="Arimo"/>
                <a:cs typeface="Arimo"/>
                <a:sym typeface="Arimo"/>
              </a:rPr>
              <a:t>Gestión de usuarios, obras, asignaciones, novedades y correcciones.</a:t>
            </a:r>
          </a:p>
          <a:p>
            <a:pPr algn="l">
              <a:lnSpc>
                <a:spcPts val="3269"/>
              </a:lnSpc>
            </a:pPr>
            <a:r>
              <a:rPr lang="en-US" sz="2251" b="true">
                <a:solidFill>
                  <a:srgbClr val="24172F"/>
                </a:solidFill>
                <a:latin typeface="Arimo Bold"/>
                <a:ea typeface="Arimo Bold"/>
                <a:cs typeface="Arimo Bold"/>
                <a:sym typeface="Arimo Bold"/>
              </a:rPr>
              <a:t>Reportes consolidados de horas.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201230" y="0"/>
            <a:ext cx="6100610" cy="10295039"/>
            <a:chOff x="0" y="0"/>
            <a:chExt cx="8134147" cy="13726719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8134096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8134096">
                  <a:moveTo>
                    <a:pt x="0" y="0"/>
                  </a:moveTo>
                  <a:lnTo>
                    <a:pt x="8134096" y="0"/>
                  </a:lnTo>
                  <a:lnTo>
                    <a:pt x="8134096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0" t="0" r="-4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58861" y="9706118"/>
            <a:ext cx="1131208" cy="262585"/>
            <a:chOff x="0" y="0"/>
            <a:chExt cx="1508277" cy="35011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08274" cy="350120"/>
            </a:xfrm>
            <a:custGeom>
              <a:avLst/>
              <a:gdLst/>
              <a:ahLst/>
              <a:cxnLst/>
              <a:rect r="r" b="b" t="t" l="l"/>
              <a:pathLst>
                <a:path h="350120" w="1508274">
                  <a:moveTo>
                    <a:pt x="0" y="0"/>
                  </a:moveTo>
                  <a:lnTo>
                    <a:pt x="1508274" y="0"/>
                  </a:lnTo>
                  <a:lnTo>
                    <a:pt x="1508274" y="350120"/>
                  </a:lnTo>
                  <a:lnTo>
                    <a:pt x="0" y="350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40" r="0" b="-3393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508277" cy="3882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426" spc="57">
                  <a:solidFill>
                    <a:srgbClr val="24172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91352" y="980570"/>
            <a:ext cx="11362392" cy="1124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b="true" sz="4203" spc="-63">
                <a:solidFill>
                  <a:srgbClr val="4B2A7B"/>
                </a:solidFill>
                <a:latin typeface="Arimo Bold"/>
                <a:ea typeface="Arimo Bold"/>
                <a:cs typeface="Arimo Bold"/>
                <a:sym typeface="Arimo Bold"/>
              </a:rPr>
              <a:t>Evaluamos los casos de uso de nivel 0 del SRS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91352" y="2434942"/>
            <a:ext cx="1601410" cy="114386"/>
            <a:chOff x="0" y="0"/>
            <a:chExt cx="2135213" cy="1525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5124" cy="152400"/>
            </a:xfrm>
            <a:custGeom>
              <a:avLst/>
              <a:gdLst/>
              <a:ahLst/>
              <a:cxnLst/>
              <a:rect r="r" b="b" t="t" l="l"/>
              <a:pathLst>
                <a:path h="152400" w="2135124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058924" y="0"/>
                  </a:lnTo>
                  <a:cubicBezTo>
                    <a:pt x="2101088" y="0"/>
                    <a:pt x="2135124" y="34163"/>
                    <a:pt x="2135124" y="76200"/>
                  </a:cubicBezTo>
                  <a:cubicBezTo>
                    <a:pt x="2135124" y="118364"/>
                    <a:pt x="2100961" y="152400"/>
                    <a:pt x="2058924" y="152400"/>
                  </a:cubicBezTo>
                  <a:lnTo>
                    <a:pt x="76200" y="152400"/>
                  </a:lnTo>
                  <a:cubicBezTo>
                    <a:pt x="34036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4B2A7B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991352" y="2802007"/>
            <a:ext cx="11362392" cy="108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702">
                <a:solidFill>
                  <a:srgbClr val="24172F"/>
                </a:solidFill>
                <a:latin typeface="Arimo"/>
                <a:ea typeface="Arimo"/>
                <a:cs typeface="Arimo"/>
                <a:sym typeface="Arimo"/>
              </a:rPr>
              <a:t>Solo requisitos funcionales, bajo el enfoque IREB y referencia a ISO/IEC/IEEE 29148:2018.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1352" y="4149595"/>
            <a:ext cx="3329864" cy="171583"/>
            <a:chOff x="0" y="0"/>
            <a:chExt cx="4439818" cy="2287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39793" cy="228727"/>
            </a:xfrm>
            <a:custGeom>
              <a:avLst/>
              <a:gdLst/>
              <a:ahLst/>
              <a:cxnLst/>
              <a:rect r="r" b="b" t="t" l="l"/>
              <a:pathLst>
                <a:path h="228727" w="4439793">
                  <a:moveTo>
                    <a:pt x="0" y="0"/>
                  </a:moveTo>
                  <a:lnTo>
                    <a:pt x="4439793" y="0"/>
                  </a:lnTo>
                  <a:lnTo>
                    <a:pt x="4439793" y="228727"/>
                  </a:lnTo>
                  <a:lnTo>
                    <a:pt x="0" y="228727"/>
                  </a:lnTo>
                  <a:close/>
                </a:path>
              </a:pathLst>
            </a:custGeom>
            <a:solidFill>
              <a:srgbClr val="4B2A7B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1352" y="4321073"/>
            <a:ext cx="3329864" cy="404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702" b="true">
                <a:solidFill>
                  <a:srgbClr val="4B2A7B"/>
                </a:solidFill>
                <a:latin typeface="Arimo Bold"/>
                <a:ea typeface="Arimo Bold"/>
                <a:cs typeface="Arimo Bold"/>
                <a:sym typeface="Arimo Bold"/>
              </a:rPr>
              <a:t>Contenido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007540" y="4149595"/>
            <a:ext cx="3329864" cy="171583"/>
            <a:chOff x="0" y="0"/>
            <a:chExt cx="4439818" cy="2287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39793" cy="228727"/>
            </a:xfrm>
            <a:custGeom>
              <a:avLst/>
              <a:gdLst/>
              <a:ahLst/>
              <a:cxnLst/>
              <a:rect r="r" b="b" t="t" l="l"/>
              <a:pathLst>
                <a:path h="228727" w="4439793">
                  <a:moveTo>
                    <a:pt x="0" y="0"/>
                  </a:moveTo>
                  <a:lnTo>
                    <a:pt x="4439793" y="0"/>
                  </a:lnTo>
                  <a:lnTo>
                    <a:pt x="4439793" y="228727"/>
                  </a:lnTo>
                  <a:lnTo>
                    <a:pt x="0" y="228727"/>
                  </a:lnTo>
                  <a:close/>
                </a:path>
              </a:pathLst>
            </a:custGeom>
            <a:solidFill>
              <a:srgbClr val="4B2A7B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007540" y="4321073"/>
            <a:ext cx="3329864" cy="404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702" b="true">
                <a:solidFill>
                  <a:srgbClr val="4B2A7B"/>
                </a:solidFill>
                <a:latin typeface="Arimo Bold"/>
                <a:ea typeface="Arimo Bold"/>
                <a:cs typeface="Arimo Bold"/>
                <a:sym typeface="Arimo Bold"/>
              </a:rPr>
              <a:t>Documentación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023728" y="4149595"/>
            <a:ext cx="3330016" cy="171583"/>
            <a:chOff x="0" y="0"/>
            <a:chExt cx="4440022" cy="2287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40047" cy="228727"/>
            </a:xfrm>
            <a:custGeom>
              <a:avLst/>
              <a:gdLst/>
              <a:ahLst/>
              <a:cxnLst/>
              <a:rect r="r" b="b" t="t" l="l"/>
              <a:pathLst>
                <a:path h="228727" w="4440047">
                  <a:moveTo>
                    <a:pt x="0" y="0"/>
                  </a:moveTo>
                  <a:lnTo>
                    <a:pt x="4440047" y="0"/>
                  </a:lnTo>
                  <a:lnTo>
                    <a:pt x="4440047" y="228727"/>
                  </a:lnTo>
                  <a:lnTo>
                    <a:pt x="0" y="228727"/>
                  </a:lnTo>
                  <a:close/>
                </a:path>
              </a:pathLst>
            </a:custGeom>
            <a:solidFill>
              <a:srgbClr val="4B2A7B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023728" y="4321073"/>
            <a:ext cx="3330016" cy="404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702" b="true">
                <a:solidFill>
                  <a:srgbClr val="4B2A7B"/>
                </a:solidFill>
                <a:latin typeface="Arimo Bold"/>
                <a:ea typeface="Arimo Bold"/>
                <a:cs typeface="Arimo Bold"/>
                <a:sym typeface="Arimo Bold"/>
              </a:rPr>
              <a:t>Nivel de acuerdo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1352" y="6969443"/>
            <a:ext cx="11819934" cy="31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1651" spc="198">
                <a:solidFill>
                  <a:srgbClr val="4B2A7B"/>
                </a:solidFill>
                <a:latin typeface="Arimo"/>
                <a:ea typeface="Arimo"/>
                <a:cs typeface="Arimo"/>
                <a:sym typeface="Arimo"/>
              </a:rPr>
              <a:t>LEVANTAMIENTO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4510" y="8050692"/>
            <a:ext cx="3101092" cy="64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1"/>
              </a:lnSpc>
            </a:pPr>
            <a:r>
              <a:rPr lang="en-US" sz="6605" spc="-132">
                <a:solidFill>
                  <a:srgbClr val="4B2A7B"/>
                </a:solidFill>
                <a:latin typeface="Roboto"/>
                <a:ea typeface="Roboto"/>
                <a:cs typeface="Roboto"/>
                <a:sym typeface="Roboto"/>
              </a:rPr>
              <a:t>150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4510" y="8847449"/>
            <a:ext cx="3444259" cy="311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651" spc="99">
                <a:solidFill>
                  <a:srgbClr val="655873"/>
                </a:solidFill>
                <a:latin typeface="Roboto"/>
                <a:ea typeface="Roboto"/>
                <a:cs typeface="Roboto"/>
                <a:sym typeface="Roboto"/>
              </a:rPr>
              <a:t>HORAS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21926" y="8050692"/>
            <a:ext cx="3101092" cy="64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1"/>
              </a:lnSpc>
            </a:pPr>
            <a:r>
              <a:rPr lang="en-US" sz="6605" spc="-132">
                <a:solidFill>
                  <a:srgbClr val="4B2A7B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21926" y="8847449"/>
            <a:ext cx="3444259" cy="311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651" spc="99">
                <a:solidFill>
                  <a:srgbClr val="655873"/>
                </a:solidFill>
                <a:latin typeface="Roboto"/>
                <a:ea typeface="Roboto"/>
                <a:cs typeface="Roboto"/>
                <a:sym typeface="Roboto"/>
              </a:rPr>
              <a:t>PERSONAS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09342" y="8050692"/>
            <a:ext cx="3101245" cy="64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1"/>
              </a:lnSpc>
            </a:pPr>
            <a:r>
              <a:rPr lang="en-US" sz="6605" spc="-132">
                <a:solidFill>
                  <a:srgbClr val="4B2A7B"/>
                </a:solidFill>
                <a:latin typeface="Roboto"/>
                <a:ea typeface="Roboto"/>
                <a:cs typeface="Roboto"/>
                <a:sym typeface="Roboto"/>
              </a:rPr>
              <a:t>$2170.04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09342" y="8847449"/>
            <a:ext cx="3444402" cy="311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651" spc="99">
                <a:solidFill>
                  <a:srgbClr val="655873"/>
                </a:solidFill>
                <a:latin typeface="Roboto"/>
                <a:ea typeface="Roboto"/>
                <a:cs typeface="Roboto"/>
                <a:sym typeface="Roboto"/>
              </a:rPr>
              <a:t>COSTO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811287" y="0"/>
            <a:ext cx="5490553" cy="10295039"/>
            <a:chOff x="0" y="0"/>
            <a:chExt cx="7320737" cy="13726719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732078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7320788">
                  <a:moveTo>
                    <a:pt x="0" y="0"/>
                  </a:moveTo>
                  <a:lnTo>
                    <a:pt x="7320788" y="0"/>
                  </a:lnTo>
                  <a:lnTo>
                    <a:pt x="732078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769234" y="7547019"/>
            <a:ext cx="19069" cy="1832915"/>
            <a:chOff x="0" y="0"/>
            <a:chExt cx="25425" cy="24438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400" cy="2443861"/>
            </a:xfrm>
            <a:custGeom>
              <a:avLst/>
              <a:gdLst/>
              <a:ahLst/>
              <a:cxnLst/>
              <a:rect r="r" b="b" t="t" l="l"/>
              <a:pathLst>
                <a:path h="2443861" w="25400">
                  <a:moveTo>
                    <a:pt x="0" y="0"/>
                  </a:moveTo>
                  <a:lnTo>
                    <a:pt x="25400" y="0"/>
                  </a:lnTo>
                  <a:lnTo>
                    <a:pt x="25400" y="2443861"/>
                  </a:lnTo>
                  <a:lnTo>
                    <a:pt x="0" y="2443861"/>
                  </a:lnTo>
                  <a:close/>
                </a:path>
              </a:pathLst>
            </a:custGeom>
            <a:solidFill>
              <a:srgbClr val="4B2A7B">
                <a:alpha val="8627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556650" y="7547019"/>
            <a:ext cx="19069" cy="1832915"/>
            <a:chOff x="0" y="0"/>
            <a:chExt cx="25425" cy="244388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400" cy="2443861"/>
            </a:xfrm>
            <a:custGeom>
              <a:avLst/>
              <a:gdLst/>
              <a:ahLst/>
              <a:cxnLst/>
              <a:rect r="r" b="b" t="t" l="l"/>
              <a:pathLst>
                <a:path h="2443861" w="25400">
                  <a:moveTo>
                    <a:pt x="0" y="0"/>
                  </a:moveTo>
                  <a:lnTo>
                    <a:pt x="25400" y="0"/>
                  </a:lnTo>
                  <a:lnTo>
                    <a:pt x="25400" y="2443861"/>
                  </a:lnTo>
                  <a:lnTo>
                    <a:pt x="0" y="2443861"/>
                  </a:lnTo>
                  <a:close/>
                </a:path>
              </a:pathLst>
            </a:custGeom>
            <a:solidFill>
              <a:srgbClr val="4B2A7B">
                <a:alpha val="8627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58861" y="9706118"/>
            <a:ext cx="1136571" cy="262585"/>
            <a:chOff x="0" y="0"/>
            <a:chExt cx="1515428" cy="35011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15422" cy="350120"/>
            </a:xfrm>
            <a:custGeom>
              <a:avLst/>
              <a:gdLst/>
              <a:ahLst/>
              <a:cxnLst/>
              <a:rect r="r" b="b" t="t" l="l"/>
              <a:pathLst>
                <a:path h="350120" w="1515422">
                  <a:moveTo>
                    <a:pt x="0" y="0"/>
                  </a:moveTo>
                  <a:lnTo>
                    <a:pt x="1515422" y="0"/>
                  </a:lnTo>
                  <a:lnTo>
                    <a:pt x="1515422" y="350120"/>
                  </a:lnTo>
                  <a:lnTo>
                    <a:pt x="0" y="350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338" r="0" b="-3433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515428" cy="3882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426" spc="57">
                  <a:solidFill>
                    <a:srgbClr val="24172F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DD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91352" y="980570"/>
            <a:ext cx="16319144" cy="54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b="true" sz="4203" spc="-63">
                <a:solidFill>
                  <a:srgbClr val="4B2A7B"/>
                </a:solidFill>
                <a:latin typeface="Arimo Bold"/>
                <a:ea typeface="Arimo Bold"/>
                <a:cs typeface="Arimo Bold"/>
                <a:sym typeface="Arimo Bold"/>
              </a:rPr>
              <a:t>Un checklist Sí/No de 17 preguntas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91352" y="3405464"/>
            <a:ext cx="5134585" cy="3563055"/>
            <a:chOff x="0" y="0"/>
            <a:chExt cx="6846113" cy="47507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46062" cy="4750689"/>
            </a:xfrm>
            <a:custGeom>
              <a:avLst/>
              <a:gdLst/>
              <a:ahLst/>
              <a:cxnLst/>
              <a:rect r="r" b="b" t="t" l="l"/>
              <a:pathLst>
                <a:path h="4750689" w="6846062">
                  <a:moveTo>
                    <a:pt x="0" y="0"/>
                  </a:moveTo>
                  <a:lnTo>
                    <a:pt x="6134354" y="0"/>
                  </a:lnTo>
                  <a:cubicBezTo>
                    <a:pt x="6527419" y="0"/>
                    <a:pt x="6846062" y="318643"/>
                    <a:pt x="6846062" y="711708"/>
                  </a:cubicBezTo>
                  <a:lnTo>
                    <a:pt x="6846062" y="4750689"/>
                  </a:lnTo>
                  <a:lnTo>
                    <a:pt x="0" y="47506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2A7B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87024" y="4379004"/>
            <a:ext cx="4143232" cy="111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15"/>
              </a:lnSpc>
            </a:pPr>
            <a:r>
              <a:rPr lang="en-US" sz="11408" spc="-22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87024" y="5449024"/>
            <a:ext cx="4143232" cy="404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702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Contenido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87024" y="5991492"/>
            <a:ext cx="4638913" cy="481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Preguntas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583480" y="3405464"/>
            <a:ext cx="5134737" cy="3563055"/>
            <a:chOff x="0" y="0"/>
            <a:chExt cx="6846316" cy="47507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46316" cy="4750689"/>
            </a:xfrm>
            <a:custGeom>
              <a:avLst/>
              <a:gdLst/>
              <a:ahLst/>
              <a:cxnLst/>
              <a:rect r="r" b="b" t="t" l="l"/>
              <a:pathLst>
                <a:path h="4750689" w="6846316">
                  <a:moveTo>
                    <a:pt x="0" y="0"/>
                  </a:moveTo>
                  <a:lnTo>
                    <a:pt x="6846316" y="0"/>
                  </a:lnTo>
                  <a:lnTo>
                    <a:pt x="6846316" y="4750689"/>
                  </a:lnTo>
                  <a:lnTo>
                    <a:pt x="0" y="4750689"/>
                  </a:lnTo>
                  <a:close/>
                </a:path>
              </a:pathLst>
            </a:custGeom>
            <a:solidFill>
              <a:srgbClr val="F7EEF2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079151" y="4379004"/>
            <a:ext cx="4143385" cy="111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15"/>
              </a:lnSpc>
            </a:pPr>
            <a:r>
              <a:rPr lang="en-US" sz="11408" spc="-22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79151" y="5449024"/>
            <a:ext cx="4143385" cy="404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70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Documentación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79151" y="5991492"/>
            <a:ext cx="4639056" cy="481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Preguntas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175760" y="3405464"/>
            <a:ext cx="5134585" cy="3563055"/>
            <a:chOff x="0" y="0"/>
            <a:chExt cx="6846113" cy="47507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46062" cy="4750689"/>
            </a:xfrm>
            <a:custGeom>
              <a:avLst/>
              <a:gdLst/>
              <a:ahLst/>
              <a:cxnLst/>
              <a:rect r="r" b="b" t="t" l="l"/>
              <a:pathLst>
                <a:path h="4750689" w="6846062">
                  <a:moveTo>
                    <a:pt x="0" y="0"/>
                  </a:moveTo>
                  <a:lnTo>
                    <a:pt x="6846062" y="0"/>
                  </a:lnTo>
                  <a:lnTo>
                    <a:pt x="6846062" y="4750689"/>
                  </a:lnTo>
                  <a:lnTo>
                    <a:pt x="711708" y="4750689"/>
                  </a:lnTo>
                  <a:cubicBezTo>
                    <a:pt x="318643" y="4750689"/>
                    <a:pt x="0" y="4432046"/>
                    <a:pt x="0" y="403898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7EEF2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671431" y="4379004"/>
            <a:ext cx="4143232" cy="111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15"/>
              </a:lnSpc>
            </a:pPr>
            <a:r>
              <a:rPr lang="en-US" sz="11408" spc="-22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71431" y="5449024"/>
            <a:ext cx="4143232" cy="404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70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Nivel de acuerdo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71431" y="5991492"/>
            <a:ext cx="4638913" cy="481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Preguntas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1352" y="8796728"/>
            <a:ext cx="17234230" cy="58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702">
                <a:solidFill>
                  <a:srgbClr val="24172F"/>
                </a:solidFill>
                <a:latin typeface="Arimo"/>
                <a:ea typeface="Arimo"/>
                <a:cs typeface="Arimo"/>
                <a:sym typeface="Arimo"/>
              </a:rPr>
              <a:t>Cada respuesta marca qué cumple y qué requiere mejora.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7828809" y="9706118"/>
            <a:ext cx="473040" cy="262585"/>
            <a:chOff x="0" y="0"/>
            <a:chExt cx="630720" cy="35011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0715" cy="350120"/>
            </a:xfrm>
            <a:custGeom>
              <a:avLst/>
              <a:gdLst/>
              <a:ahLst/>
              <a:cxnLst/>
              <a:rect r="r" b="b" t="t" l="l"/>
              <a:pathLst>
                <a:path h="350120" w="630715">
                  <a:moveTo>
                    <a:pt x="0" y="0"/>
                  </a:moveTo>
                  <a:lnTo>
                    <a:pt x="630715" y="0"/>
                  </a:lnTo>
                  <a:lnTo>
                    <a:pt x="630715" y="350120"/>
                  </a:lnTo>
                  <a:lnTo>
                    <a:pt x="0" y="350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1221" t="0" r="-21222" b="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30720" cy="3882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426" spc="57">
                  <a:solidFill>
                    <a:srgbClr val="24172F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91352" y="866175"/>
            <a:ext cx="16319144" cy="54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b="true" sz="4203" spc="-63">
                <a:solidFill>
                  <a:srgbClr val="4B2A7B"/>
                </a:solidFill>
                <a:latin typeface="Arimo Bold"/>
                <a:ea typeface="Arimo Bold"/>
                <a:cs typeface="Arimo Bold"/>
                <a:sym typeface="Arimo Bold"/>
              </a:rPr>
              <a:t>El SCA cumple 16 de 17 criterios: 94 %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1352" y="2168538"/>
            <a:ext cx="17234230" cy="481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24172F"/>
                </a:solidFill>
                <a:latin typeface="Arimo"/>
                <a:ea typeface="Arimo"/>
                <a:cs typeface="Arimo"/>
                <a:sym typeface="Arimo"/>
              </a:rPr>
              <a:t>Documentación y acuerdo al 100 %; contenido al 89 %.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91352" y="2916784"/>
            <a:ext cx="16204759" cy="5719467"/>
            <a:chOff x="0" y="0"/>
            <a:chExt cx="21606345" cy="7625956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1606383" cy="7625969"/>
            </a:xfrm>
            <a:custGeom>
              <a:avLst/>
              <a:gdLst/>
              <a:ahLst/>
              <a:cxnLst/>
              <a:rect r="r" b="b" t="t" l="l"/>
              <a:pathLst>
                <a:path h="7625969" w="21606383">
                  <a:moveTo>
                    <a:pt x="0" y="0"/>
                  </a:moveTo>
                  <a:lnTo>
                    <a:pt x="21606383" y="0"/>
                  </a:lnTo>
                  <a:lnTo>
                    <a:pt x="21606383" y="7625969"/>
                  </a:lnTo>
                  <a:lnTo>
                    <a:pt x="0" y="7625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0" t="0" r="-3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823742" y="9706118"/>
            <a:ext cx="478098" cy="262585"/>
            <a:chOff x="0" y="0"/>
            <a:chExt cx="637464" cy="3501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7466" cy="350120"/>
            </a:xfrm>
            <a:custGeom>
              <a:avLst/>
              <a:gdLst/>
              <a:ahLst/>
              <a:cxnLst/>
              <a:rect r="r" b="b" t="t" l="l"/>
              <a:pathLst>
                <a:path h="350120" w="637466">
                  <a:moveTo>
                    <a:pt x="0" y="0"/>
                  </a:moveTo>
                  <a:lnTo>
                    <a:pt x="637466" y="0"/>
                  </a:lnTo>
                  <a:lnTo>
                    <a:pt x="637466" y="350120"/>
                  </a:lnTo>
                  <a:lnTo>
                    <a:pt x="0" y="350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0467" t="0" r="-20467" b="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37464" cy="3882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426" spc="57">
                  <a:solidFill>
                    <a:srgbClr val="24172F"/>
                  </a:solidFill>
                  <a:latin typeface="Roboto"/>
                  <a:ea typeface="Roboto"/>
                  <a:cs typeface="Roboto"/>
                  <a:sym typeface="Roboto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91352" y="980570"/>
            <a:ext cx="8998401" cy="54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b="true" sz="4203" spc="-63">
                <a:solidFill>
                  <a:srgbClr val="4B2A7B"/>
                </a:solidFill>
                <a:latin typeface="Arimo Bold"/>
                <a:ea typeface="Arimo Bold"/>
                <a:cs typeface="Arimo Bold"/>
                <a:sym typeface="Arimo Bold"/>
              </a:rPr>
              <a:t>Documentación y acuerdo: 100 %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91352" y="1858528"/>
            <a:ext cx="1601410" cy="114386"/>
            <a:chOff x="0" y="0"/>
            <a:chExt cx="2135213" cy="1525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5124" cy="152400"/>
            </a:xfrm>
            <a:custGeom>
              <a:avLst/>
              <a:gdLst/>
              <a:ahLst/>
              <a:cxnLst/>
              <a:rect r="r" b="b" t="t" l="l"/>
              <a:pathLst>
                <a:path h="152400" w="2135124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058924" y="0"/>
                  </a:lnTo>
                  <a:cubicBezTo>
                    <a:pt x="2101088" y="0"/>
                    <a:pt x="2135124" y="34163"/>
                    <a:pt x="2135124" y="76200"/>
                  </a:cubicBezTo>
                  <a:cubicBezTo>
                    <a:pt x="2135124" y="118364"/>
                    <a:pt x="2100961" y="152400"/>
                    <a:pt x="2058924" y="152400"/>
                  </a:cubicBezTo>
                  <a:lnTo>
                    <a:pt x="76200" y="152400"/>
                  </a:lnTo>
                  <a:cubicBezTo>
                    <a:pt x="34036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4B2A7B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48895" y="3873579"/>
            <a:ext cx="3584115" cy="50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4"/>
              </a:lnSpc>
            </a:pPr>
            <a:r>
              <a:rPr lang="en-US" sz="3302" b="true">
                <a:solidFill>
                  <a:srgbClr val="4B2A7B"/>
                </a:solidFill>
                <a:latin typeface="Arimo Bold"/>
                <a:ea typeface="Arimo Bold"/>
                <a:cs typeface="Arimo Bold"/>
                <a:sym typeface="Arimo Bold"/>
              </a:rPr>
              <a:t>Documentación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8895" y="4489999"/>
            <a:ext cx="3584115" cy="157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702">
                <a:solidFill>
                  <a:srgbClr val="24172F"/>
                </a:solidFill>
                <a:latin typeface="Arimo"/>
                <a:ea typeface="Arimo"/>
                <a:cs typeface="Arimo"/>
                <a:sym typeface="Arimo"/>
              </a:rPr>
              <a:t>Estructura definida, glosario normalizado e interpretación única.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48096" y="3873579"/>
            <a:ext cx="3584115" cy="983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4"/>
              </a:lnSpc>
            </a:pPr>
            <a:r>
              <a:rPr lang="en-US" sz="3302" b="true">
                <a:solidFill>
                  <a:srgbClr val="4B2A7B"/>
                </a:solidFill>
                <a:latin typeface="Arimo Bold"/>
                <a:ea typeface="Arimo Bold"/>
                <a:cs typeface="Arimo Bold"/>
                <a:sym typeface="Arimo Bold"/>
              </a:rPr>
              <a:t>Nivel de acuerdo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48096" y="4972279"/>
            <a:ext cx="3584115" cy="2573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702">
                <a:solidFill>
                  <a:srgbClr val="24172F"/>
                </a:solidFill>
                <a:latin typeface="Arimo"/>
                <a:ea typeface="Arimo"/>
                <a:cs typeface="Arimo"/>
                <a:sym typeface="Arimo"/>
              </a:rPr>
              <a:t>Interesados de acuerdo, incluidas las modificaciones; conflictos conocidos resueltos.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981106" y="0"/>
            <a:ext cx="7320734" cy="10295039"/>
            <a:chOff x="0" y="0"/>
            <a:chExt cx="9760979" cy="13726719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9760966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760966">
                  <a:moveTo>
                    <a:pt x="0" y="0"/>
                  </a:moveTo>
                  <a:lnTo>
                    <a:pt x="9760966" y="0"/>
                  </a:lnTo>
                  <a:lnTo>
                    <a:pt x="9760966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481018" y="3421409"/>
            <a:ext cx="19069" cy="4581535"/>
            <a:chOff x="0" y="0"/>
            <a:chExt cx="25425" cy="61087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400" cy="6108700"/>
            </a:xfrm>
            <a:custGeom>
              <a:avLst/>
              <a:gdLst/>
              <a:ahLst/>
              <a:cxnLst/>
              <a:rect r="r" b="b" t="t" l="l"/>
              <a:pathLst>
                <a:path h="6108700" w="25400">
                  <a:moveTo>
                    <a:pt x="0" y="0"/>
                  </a:moveTo>
                  <a:lnTo>
                    <a:pt x="25400" y="0"/>
                  </a:lnTo>
                  <a:lnTo>
                    <a:pt x="25400" y="6108700"/>
                  </a:lnTo>
                  <a:lnTo>
                    <a:pt x="0" y="6108700"/>
                  </a:lnTo>
                  <a:close/>
                </a:path>
              </a:pathLst>
            </a:custGeom>
            <a:solidFill>
              <a:srgbClr val="4B2A7B">
                <a:alpha val="8627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58861" y="9706118"/>
            <a:ext cx="1131656" cy="262585"/>
            <a:chOff x="0" y="0"/>
            <a:chExt cx="1508874" cy="35011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08869" cy="350120"/>
            </a:xfrm>
            <a:custGeom>
              <a:avLst/>
              <a:gdLst/>
              <a:ahLst/>
              <a:cxnLst/>
              <a:rect r="r" b="b" t="t" l="l"/>
              <a:pathLst>
                <a:path h="350120" w="1508869">
                  <a:moveTo>
                    <a:pt x="0" y="0"/>
                  </a:moveTo>
                  <a:lnTo>
                    <a:pt x="1508869" y="0"/>
                  </a:lnTo>
                  <a:lnTo>
                    <a:pt x="1508869" y="350120"/>
                  </a:lnTo>
                  <a:lnTo>
                    <a:pt x="0" y="350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973" r="0" b="-3397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508874" cy="3882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426" spc="57">
                  <a:solidFill>
                    <a:srgbClr val="24172F"/>
                  </a:solidFill>
                  <a:latin typeface="Roboto"/>
                  <a:ea typeface="Roboto"/>
                  <a:cs typeface="Roboto"/>
                  <a:sym typeface="Roboto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91352" y="904303"/>
            <a:ext cx="8998401" cy="1124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b="true" sz="4203" spc="-63">
                <a:solidFill>
                  <a:srgbClr val="4B2A7B"/>
                </a:solidFill>
                <a:latin typeface="Arimo Bold"/>
                <a:ea typeface="Arimo Bold"/>
                <a:cs typeface="Arimo Bold"/>
                <a:sym typeface="Arimo Bold"/>
              </a:rPr>
              <a:t>Contenido (89 %) falla en un punto: verificar lo especificado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91352" y="2287191"/>
            <a:ext cx="4270429" cy="7169001"/>
            <a:chOff x="0" y="0"/>
            <a:chExt cx="5693905" cy="95586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93918" cy="9558655"/>
            </a:xfrm>
            <a:custGeom>
              <a:avLst/>
              <a:gdLst/>
              <a:ahLst/>
              <a:cxnLst/>
              <a:rect r="r" b="b" t="t" l="l"/>
              <a:pathLst>
                <a:path h="9558655" w="5693918">
                  <a:moveTo>
                    <a:pt x="0" y="0"/>
                  </a:moveTo>
                  <a:lnTo>
                    <a:pt x="4982210" y="0"/>
                  </a:lnTo>
                  <a:cubicBezTo>
                    <a:pt x="5375275" y="0"/>
                    <a:pt x="5693918" y="318643"/>
                    <a:pt x="5693918" y="711708"/>
                  </a:cubicBezTo>
                  <a:lnTo>
                    <a:pt x="5693918" y="9558655"/>
                  </a:lnTo>
                  <a:lnTo>
                    <a:pt x="0" y="95586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DDE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25153" y="3172606"/>
            <a:ext cx="3202819" cy="823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9"/>
              </a:lnSpc>
            </a:pPr>
            <a:r>
              <a:rPr lang="en-US" sz="8406" spc="-168">
                <a:solidFill>
                  <a:srgbClr val="24172F"/>
                </a:solidFill>
                <a:latin typeface="Roboto"/>
                <a:ea typeface="Roboto"/>
                <a:cs typeface="Roboto"/>
                <a:sym typeface="Roboto"/>
              </a:rPr>
              <a:t>8 de 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25153" y="4006644"/>
            <a:ext cx="3202819" cy="798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702" b="true">
                <a:solidFill>
                  <a:srgbClr val="24172F"/>
                </a:solidFill>
                <a:latin typeface="Arimo Bold"/>
                <a:ea typeface="Arimo Bold"/>
                <a:cs typeface="Arimo Bold"/>
                <a:sym typeface="Arimo Bold"/>
              </a:rPr>
              <a:t>Aspectos cumplidos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25153" y="4924615"/>
            <a:ext cx="3202819" cy="2075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702">
                <a:solidFill>
                  <a:srgbClr val="24172F"/>
                </a:solidFill>
                <a:latin typeface="Arimo"/>
                <a:ea typeface="Arimo"/>
                <a:cs typeface="Arimo"/>
                <a:sym typeface="Arimo"/>
              </a:rPr>
              <a:t>Coherencia con las necesidades del cliente y origen claro.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714562" y="2282428"/>
            <a:ext cx="4279964" cy="7178526"/>
            <a:chOff x="0" y="0"/>
            <a:chExt cx="5706618" cy="95713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6618" cy="9571355"/>
            </a:xfrm>
            <a:custGeom>
              <a:avLst/>
              <a:gdLst/>
              <a:ahLst/>
              <a:cxnLst/>
              <a:rect r="r" b="b" t="t" l="l"/>
              <a:pathLst>
                <a:path h="9571355" w="5706618">
                  <a:moveTo>
                    <a:pt x="0" y="0"/>
                  </a:moveTo>
                  <a:lnTo>
                    <a:pt x="5706618" y="0"/>
                  </a:lnTo>
                  <a:lnTo>
                    <a:pt x="5706618" y="9571355"/>
                  </a:lnTo>
                  <a:lnTo>
                    <a:pt x="0" y="95713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5195" t="0" r="-165195" b="0"/>
              </a:stretch>
            </a:blipFill>
            <a:ln w="9532" cap="sq">
              <a:solidFill>
                <a:srgbClr val="4B2A7B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6262659" y="2825153"/>
            <a:ext cx="3183760" cy="983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4"/>
              </a:lnSpc>
            </a:pPr>
            <a:r>
              <a:rPr lang="en-US" sz="3302" b="true">
                <a:solidFill>
                  <a:srgbClr val="4B2A7B"/>
                </a:solidFill>
                <a:latin typeface="Arimo Bold"/>
                <a:ea typeface="Arimo Bold"/>
                <a:cs typeface="Arimo Bold"/>
                <a:sym typeface="Arimo Bold"/>
              </a:rPr>
              <a:t>Verificar lo especificado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262659" y="4081081"/>
            <a:ext cx="762429" cy="57198"/>
            <a:chOff x="0" y="0"/>
            <a:chExt cx="1016572" cy="762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6508" cy="76200"/>
            </a:xfrm>
            <a:custGeom>
              <a:avLst/>
              <a:gdLst/>
              <a:ahLst/>
              <a:cxnLst/>
              <a:rect r="r" b="b" t="t" l="l"/>
              <a:pathLst>
                <a:path h="76200" w="1016508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978408" y="0"/>
                  </a:lnTo>
                  <a:cubicBezTo>
                    <a:pt x="999490" y="0"/>
                    <a:pt x="1016508" y="17018"/>
                    <a:pt x="1016508" y="38100"/>
                  </a:cubicBezTo>
                  <a:cubicBezTo>
                    <a:pt x="1016508" y="59182"/>
                    <a:pt x="999490" y="76200"/>
                    <a:pt x="978408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lose/>
                </a:path>
              </a:pathLst>
            </a:custGeom>
            <a:solidFill>
              <a:srgbClr val="B8297A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262659" y="4295623"/>
            <a:ext cx="3183760" cy="3070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702">
                <a:solidFill>
                  <a:srgbClr val="24172F"/>
                </a:solidFill>
                <a:latin typeface="Arimo"/>
                <a:ea typeface="Arimo"/>
                <a:cs typeface="Arimo"/>
                <a:sym typeface="Arimo"/>
              </a:rPr>
              <a:t>Falta un proceso acotado en plazo y presupuesto que compruebe que el sistema cumple los requisitos.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62659" y="7602179"/>
            <a:ext cx="3183760" cy="131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24172F"/>
                </a:solidFill>
                <a:latin typeface="Arimo"/>
                <a:ea typeface="Arimo"/>
                <a:cs typeface="Arimo"/>
                <a:sym typeface="Arimo"/>
              </a:rPr>
              <a:t>Se relaciona con realizabilidad y verificabilidad.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981106" y="0"/>
            <a:ext cx="7320734" cy="10295039"/>
            <a:chOff x="0" y="0"/>
            <a:chExt cx="9760979" cy="13726719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9760966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760966">
                  <a:moveTo>
                    <a:pt x="0" y="0"/>
                  </a:moveTo>
                  <a:lnTo>
                    <a:pt x="9760966" y="0"/>
                  </a:lnTo>
                  <a:lnTo>
                    <a:pt x="9760966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58861" y="9706118"/>
            <a:ext cx="1132246" cy="262585"/>
            <a:chOff x="0" y="0"/>
            <a:chExt cx="1509662" cy="35011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09663" cy="350120"/>
            </a:xfrm>
            <a:custGeom>
              <a:avLst/>
              <a:gdLst/>
              <a:ahLst/>
              <a:cxnLst/>
              <a:rect r="r" b="b" t="t" l="l"/>
              <a:pathLst>
                <a:path h="350120" w="1509663">
                  <a:moveTo>
                    <a:pt x="0" y="0"/>
                  </a:moveTo>
                  <a:lnTo>
                    <a:pt x="1509663" y="0"/>
                  </a:lnTo>
                  <a:lnTo>
                    <a:pt x="1509663" y="350120"/>
                  </a:lnTo>
                  <a:lnTo>
                    <a:pt x="0" y="350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017" r="0" b="-3401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509662" cy="3882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426" spc="57">
                  <a:solidFill>
                    <a:srgbClr val="24172F"/>
                  </a:solidFill>
                  <a:latin typeface="Roboto"/>
                  <a:ea typeface="Roboto"/>
                  <a:cs typeface="Roboto"/>
                  <a:sym typeface="Roboto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DD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91352" y="904303"/>
            <a:ext cx="8998401" cy="54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b="true" sz="4203" spc="-63">
                <a:solidFill>
                  <a:srgbClr val="4B2A7B"/>
                </a:solidFill>
                <a:latin typeface="Arimo Bold"/>
                <a:ea typeface="Arimo Bold"/>
                <a:cs typeface="Arimo Bold"/>
                <a:sym typeface="Arimo Bold"/>
              </a:rPr>
              <a:t>Cuatro acciones de mejora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91352" y="1710776"/>
            <a:ext cx="4270429" cy="3685927"/>
            <a:chOff x="0" y="0"/>
            <a:chExt cx="5693905" cy="49145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93918" cy="4914519"/>
            </a:xfrm>
            <a:custGeom>
              <a:avLst/>
              <a:gdLst/>
              <a:ahLst/>
              <a:cxnLst/>
              <a:rect r="r" b="b" t="t" l="l"/>
              <a:pathLst>
                <a:path h="4914519" w="5693918">
                  <a:moveTo>
                    <a:pt x="0" y="0"/>
                  </a:moveTo>
                  <a:lnTo>
                    <a:pt x="4982210" y="0"/>
                  </a:lnTo>
                  <a:cubicBezTo>
                    <a:pt x="5375275" y="0"/>
                    <a:pt x="5693918" y="318643"/>
                    <a:pt x="5693918" y="711708"/>
                  </a:cubicBezTo>
                  <a:lnTo>
                    <a:pt x="5693918" y="4914519"/>
                  </a:lnTo>
                  <a:lnTo>
                    <a:pt x="0" y="4914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EEF2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10767" y="2130209"/>
            <a:ext cx="563890" cy="500453"/>
            <a:chOff x="0" y="0"/>
            <a:chExt cx="751853" cy="6672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1840" cy="667258"/>
            </a:xfrm>
            <a:custGeom>
              <a:avLst/>
              <a:gdLst/>
              <a:ahLst/>
              <a:cxnLst/>
              <a:rect r="r" b="b" t="t" l="l"/>
              <a:pathLst>
                <a:path h="667258" w="751840">
                  <a:moveTo>
                    <a:pt x="0" y="114427"/>
                  </a:moveTo>
                  <a:cubicBezTo>
                    <a:pt x="0" y="51181"/>
                    <a:pt x="51181" y="0"/>
                    <a:pt x="114427" y="0"/>
                  </a:cubicBezTo>
                  <a:lnTo>
                    <a:pt x="637413" y="0"/>
                  </a:lnTo>
                  <a:cubicBezTo>
                    <a:pt x="700532" y="0"/>
                    <a:pt x="751840" y="51181"/>
                    <a:pt x="751840" y="114427"/>
                  </a:cubicBezTo>
                  <a:lnTo>
                    <a:pt x="751840" y="552831"/>
                  </a:lnTo>
                  <a:cubicBezTo>
                    <a:pt x="751840" y="615950"/>
                    <a:pt x="700659" y="667258"/>
                    <a:pt x="637413" y="667258"/>
                  </a:cubicBezTo>
                  <a:lnTo>
                    <a:pt x="114427" y="667258"/>
                  </a:lnTo>
                  <a:cubicBezTo>
                    <a:pt x="51181" y="667258"/>
                    <a:pt x="0" y="616077"/>
                    <a:pt x="0" y="552831"/>
                  </a:cubicBezTo>
                  <a:close/>
                </a:path>
              </a:pathLst>
            </a:custGeom>
            <a:solidFill>
              <a:srgbClr val="4B2A7B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553747" y="2266017"/>
            <a:ext cx="1193016" cy="257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22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0767" y="2749706"/>
            <a:ext cx="3431591" cy="404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70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Plan de pruebas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10767" y="3292173"/>
            <a:ext cx="3431591" cy="131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Casos, resultados esperados y criterios de aceptación.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719324" y="1710776"/>
            <a:ext cx="4270429" cy="3685927"/>
            <a:chOff x="0" y="0"/>
            <a:chExt cx="5693905" cy="49145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93918" cy="4914519"/>
            </a:xfrm>
            <a:custGeom>
              <a:avLst/>
              <a:gdLst/>
              <a:ahLst/>
              <a:cxnLst/>
              <a:rect r="r" b="b" t="t" l="l"/>
              <a:pathLst>
                <a:path h="4914519" w="5693918">
                  <a:moveTo>
                    <a:pt x="0" y="0"/>
                  </a:moveTo>
                  <a:lnTo>
                    <a:pt x="5693918" y="0"/>
                  </a:lnTo>
                  <a:lnTo>
                    <a:pt x="5693918" y="4914519"/>
                  </a:lnTo>
                  <a:lnTo>
                    <a:pt x="0" y="4914519"/>
                  </a:lnTo>
                  <a:close/>
                </a:path>
              </a:pathLst>
            </a:custGeom>
            <a:solidFill>
              <a:srgbClr val="F7EEF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138739" y="2130209"/>
            <a:ext cx="634936" cy="500453"/>
            <a:chOff x="0" y="0"/>
            <a:chExt cx="846582" cy="6672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6582" cy="667258"/>
            </a:xfrm>
            <a:custGeom>
              <a:avLst/>
              <a:gdLst/>
              <a:ahLst/>
              <a:cxnLst/>
              <a:rect r="r" b="b" t="t" l="l"/>
              <a:pathLst>
                <a:path h="667258" w="846582">
                  <a:moveTo>
                    <a:pt x="0" y="114427"/>
                  </a:moveTo>
                  <a:cubicBezTo>
                    <a:pt x="0" y="51181"/>
                    <a:pt x="51181" y="0"/>
                    <a:pt x="114427" y="0"/>
                  </a:cubicBezTo>
                  <a:lnTo>
                    <a:pt x="732155" y="0"/>
                  </a:lnTo>
                  <a:cubicBezTo>
                    <a:pt x="795274" y="0"/>
                    <a:pt x="846582" y="51181"/>
                    <a:pt x="846582" y="114427"/>
                  </a:cubicBezTo>
                  <a:lnTo>
                    <a:pt x="846582" y="552831"/>
                  </a:lnTo>
                  <a:cubicBezTo>
                    <a:pt x="846582" y="615950"/>
                    <a:pt x="795401" y="667258"/>
                    <a:pt x="732155" y="667258"/>
                  </a:cubicBezTo>
                  <a:lnTo>
                    <a:pt x="114427" y="667258"/>
                  </a:lnTo>
                  <a:cubicBezTo>
                    <a:pt x="51181" y="667258"/>
                    <a:pt x="0" y="616077"/>
                    <a:pt x="0" y="552831"/>
                  </a:cubicBezTo>
                  <a:close/>
                </a:path>
              </a:pathLst>
            </a:custGeom>
            <a:solidFill>
              <a:srgbClr val="4B2A7B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281728" y="2266017"/>
            <a:ext cx="1264063" cy="257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22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38739" y="2749706"/>
            <a:ext cx="3431591" cy="798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70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Matriz de trazabilidad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38739" y="3686727"/>
            <a:ext cx="3851015" cy="481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 requisitos funcionales.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1352" y="5854265"/>
            <a:ext cx="4270429" cy="3685927"/>
            <a:chOff x="0" y="0"/>
            <a:chExt cx="5693905" cy="49145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693918" cy="4914519"/>
            </a:xfrm>
            <a:custGeom>
              <a:avLst/>
              <a:gdLst/>
              <a:ahLst/>
              <a:cxnLst/>
              <a:rect r="r" b="b" t="t" l="l"/>
              <a:pathLst>
                <a:path h="4914519" w="5693918">
                  <a:moveTo>
                    <a:pt x="0" y="0"/>
                  </a:moveTo>
                  <a:lnTo>
                    <a:pt x="5693918" y="0"/>
                  </a:lnTo>
                  <a:lnTo>
                    <a:pt x="5693918" y="4914519"/>
                  </a:lnTo>
                  <a:lnTo>
                    <a:pt x="0" y="4914519"/>
                  </a:lnTo>
                  <a:close/>
                </a:path>
              </a:pathLst>
            </a:custGeom>
            <a:solidFill>
              <a:srgbClr val="F7EEF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10767" y="6273689"/>
            <a:ext cx="639404" cy="500453"/>
            <a:chOff x="0" y="0"/>
            <a:chExt cx="852538" cy="66727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52551" cy="667258"/>
            </a:xfrm>
            <a:custGeom>
              <a:avLst/>
              <a:gdLst/>
              <a:ahLst/>
              <a:cxnLst/>
              <a:rect r="r" b="b" t="t" l="l"/>
              <a:pathLst>
                <a:path h="667258" w="852551">
                  <a:moveTo>
                    <a:pt x="0" y="114427"/>
                  </a:moveTo>
                  <a:cubicBezTo>
                    <a:pt x="0" y="51181"/>
                    <a:pt x="51181" y="0"/>
                    <a:pt x="114427" y="0"/>
                  </a:cubicBezTo>
                  <a:lnTo>
                    <a:pt x="738124" y="0"/>
                  </a:lnTo>
                  <a:cubicBezTo>
                    <a:pt x="801243" y="0"/>
                    <a:pt x="852551" y="51181"/>
                    <a:pt x="852551" y="114427"/>
                  </a:cubicBezTo>
                  <a:lnTo>
                    <a:pt x="852551" y="552831"/>
                  </a:lnTo>
                  <a:cubicBezTo>
                    <a:pt x="852551" y="615950"/>
                    <a:pt x="801370" y="667258"/>
                    <a:pt x="738124" y="667258"/>
                  </a:cubicBezTo>
                  <a:lnTo>
                    <a:pt x="114427" y="667258"/>
                  </a:lnTo>
                  <a:cubicBezTo>
                    <a:pt x="51181" y="667258"/>
                    <a:pt x="0" y="616077"/>
                    <a:pt x="0" y="552831"/>
                  </a:cubicBezTo>
                  <a:close/>
                </a:path>
              </a:pathLst>
            </a:custGeom>
            <a:solidFill>
              <a:srgbClr val="4B2A7B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553747" y="6409506"/>
            <a:ext cx="1268530" cy="257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22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10767" y="6893195"/>
            <a:ext cx="3431591" cy="119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70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Mantener estructura uniforme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10767" y="8224771"/>
            <a:ext cx="3431591" cy="895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Entradas, validaciones, salidas.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719324" y="5854265"/>
            <a:ext cx="4270429" cy="3685927"/>
            <a:chOff x="0" y="0"/>
            <a:chExt cx="5693905" cy="49145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693918" cy="4914519"/>
            </a:xfrm>
            <a:custGeom>
              <a:avLst/>
              <a:gdLst/>
              <a:ahLst/>
              <a:cxnLst/>
              <a:rect r="r" b="b" t="t" l="l"/>
              <a:pathLst>
                <a:path h="4914519" w="5693918">
                  <a:moveTo>
                    <a:pt x="0" y="0"/>
                  </a:moveTo>
                  <a:lnTo>
                    <a:pt x="5693918" y="0"/>
                  </a:lnTo>
                  <a:lnTo>
                    <a:pt x="5693918" y="4914519"/>
                  </a:lnTo>
                  <a:lnTo>
                    <a:pt x="711708" y="4914519"/>
                  </a:lnTo>
                  <a:cubicBezTo>
                    <a:pt x="318643" y="4914519"/>
                    <a:pt x="0" y="4595876"/>
                    <a:pt x="0" y="42028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7EEF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138739" y="6273689"/>
            <a:ext cx="631212" cy="500453"/>
            <a:chOff x="0" y="0"/>
            <a:chExt cx="841616" cy="66727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41629" cy="667258"/>
            </a:xfrm>
            <a:custGeom>
              <a:avLst/>
              <a:gdLst/>
              <a:ahLst/>
              <a:cxnLst/>
              <a:rect r="r" b="b" t="t" l="l"/>
              <a:pathLst>
                <a:path h="667258" w="841629">
                  <a:moveTo>
                    <a:pt x="0" y="114427"/>
                  </a:moveTo>
                  <a:cubicBezTo>
                    <a:pt x="0" y="51181"/>
                    <a:pt x="51181" y="0"/>
                    <a:pt x="114427" y="0"/>
                  </a:cubicBezTo>
                  <a:lnTo>
                    <a:pt x="727202" y="0"/>
                  </a:lnTo>
                  <a:cubicBezTo>
                    <a:pt x="790321" y="0"/>
                    <a:pt x="841629" y="51181"/>
                    <a:pt x="841629" y="114427"/>
                  </a:cubicBezTo>
                  <a:lnTo>
                    <a:pt x="841629" y="552831"/>
                  </a:lnTo>
                  <a:cubicBezTo>
                    <a:pt x="841629" y="615950"/>
                    <a:pt x="790448" y="667258"/>
                    <a:pt x="727202" y="667258"/>
                  </a:cubicBezTo>
                  <a:lnTo>
                    <a:pt x="114427" y="667258"/>
                  </a:lnTo>
                  <a:cubicBezTo>
                    <a:pt x="51181" y="667258"/>
                    <a:pt x="0" y="616077"/>
                    <a:pt x="0" y="552831"/>
                  </a:cubicBezTo>
                  <a:close/>
                </a:path>
              </a:pathLst>
            </a:custGeom>
            <a:solidFill>
              <a:srgbClr val="4B2A7B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6281728" y="6409506"/>
            <a:ext cx="1260338" cy="257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22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138739" y="6893195"/>
            <a:ext cx="3431591" cy="119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70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Revisiones periódicas con los interesados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138739" y="8224771"/>
            <a:ext cx="3431591" cy="895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Antes de aprobar nuevas versiones del SRS.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981106" y="0"/>
            <a:ext cx="7320734" cy="10379050"/>
            <a:chOff x="0" y="0"/>
            <a:chExt cx="9760979" cy="13838733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9760966" cy="13838682"/>
            </a:xfrm>
            <a:custGeom>
              <a:avLst/>
              <a:gdLst/>
              <a:ahLst/>
              <a:cxnLst/>
              <a:rect r="r" b="b" t="t" l="l"/>
              <a:pathLst>
                <a:path h="13838682" w="9760966">
                  <a:moveTo>
                    <a:pt x="0" y="0"/>
                  </a:moveTo>
                  <a:lnTo>
                    <a:pt x="9760966" y="0"/>
                  </a:lnTo>
                  <a:lnTo>
                    <a:pt x="9760966" y="13838682"/>
                  </a:lnTo>
                  <a:lnTo>
                    <a:pt x="0" y="13838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" r="0" b="-7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58861" y="9706118"/>
            <a:ext cx="1134485" cy="262585"/>
            <a:chOff x="0" y="0"/>
            <a:chExt cx="1512646" cy="35011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12642" cy="350120"/>
            </a:xfrm>
            <a:custGeom>
              <a:avLst/>
              <a:gdLst/>
              <a:ahLst/>
              <a:cxnLst/>
              <a:rect r="r" b="b" t="t" l="l"/>
              <a:pathLst>
                <a:path h="350120" w="1512642">
                  <a:moveTo>
                    <a:pt x="0" y="0"/>
                  </a:moveTo>
                  <a:lnTo>
                    <a:pt x="1512642" y="0"/>
                  </a:lnTo>
                  <a:lnTo>
                    <a:pt x="1512642" y="350120"/>
                  </a:lnTo>
                  <a:lnTo>
                    <a:pt x="0" y="350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183" r="0" b="-3418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512646" cy="3882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426" spc="57">
                  <a:solidFill>
                    <a:srgbClr val="24172F"/>
                  </a:solidFill>
                  <a:latin typeface="Roboto"/>
                  <a:ea typeface="Roboto"/>
                  <a:cs typeface="Roboto"/>
                  <a:sym typeface="Roboto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1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67610" y="877014"/>
            <a:ext cx="9760982" cy="31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1651" spc="19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CONCLUSIÓN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7610" y="1922840"/>
            <a:ext cx="8845887" cy="139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61"/>
              </a:lnSpc>
            </a:pPr>
            <a:r>
              <a:rPr lang="en-US" sz="14411" spc="-28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94 %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7610" y="3293345"/>
            <a:ext cx="9760982" cy="330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651" spc="1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Cumplimiento global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7610" y="4204878"/>
            <a:ext cx="8845887" cy="219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6"/>
              </a:lnSpc>
            </a:pPr>
            <a:r>
              <a:rPr lang="en-US" b="true" sz="5404" spc="-8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Requisitos sólidos, falta demostrar su cumplimiento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67610" y="6719630"/>
            <a:ext cx="762429" cy="57198"/>
            <a:chOff x="0" y="0"/>
            <a:chExt cx="1016572" cy="762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508" cy="76200"/>
            </a:xfrm>
            <a:custGeom>
              <a:avLst/>
              <a:gdLst/>
              <a:ahLst/>
              <a:cxnLst/>
              <a:rect r="r" b="b" t="t" l="l"/>
              <a:pathLst>
                <a:path h="76200" w="1016508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978408" y="0"/>
                  </a:lnTo>
                  <a:cubicBezTo>
                    <a:pt x="999490" y="0"/>
                    <a:pt x="1016508" y="17018"/>
                    <a:pt x="1016508" y="38100"/>
                  </a:cubicBezTo>
                  <a:cubicBezTo>
                    <a:pt x="1016508" y="59182"/>
                    <a:pt x="999490" y="76200"/>
                    <a:pt x="978408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lose/>
                </a:path>
              </a:pathLst>
            </a:custGeom>
            <a:solidFill>
              <a:srgbClr val="B8297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67610" y="8299256"/>
            <a:ext cx="8845887" cy="108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7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Complementar el SRS con matriz de trazabilidad, scripts PlantUML y plan de pruebas.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981106" y="0"/>
            <a:ext cx="7320734" cy="10295039"/>
            <a:chOff x="0" y="0"/>
            <a:chExt cx="9760979" cy="13726719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9760966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760966">
                  <a:moveTo>
                    <a:pt x="0" y="0"/>
                  </a:moveTo>
                  <a:lnTo>
                    <a:pt x="9760966" y="0"/>
                  </a:lnTo>
                  <a:lnTo>
                    <a:pt x="9760966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58861" y="9706118"/>
            <a:ext cx="1110796" cy="262585"/>
            <a:chOff x="0" y="0"/>
            <a:chExt cx="1481061" cy="3501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81067" cy="350120"/>
            </a:xfrm>
            <a:custGeom>
              <a:avLst/>
              <a:gdLst/>
              <a:ahLst/>
              <a:cxnLst/>
              <a:rect r="r" b="b" t="t" l="l"/>
              <a:pathLst>
                <a:path h="350120" w="1481067">
                  <a:moveTo>
                    <a:pt x="0" y="0"/>
                  </a:moveTo>
                  <a:lnTo>
                    <a:pt x="1481067" y="0"/>
                  </a:lnTo>
                  <a:lnTo>
                    <a:pt x="1481067" y="350120"/>
                  </a:lnTo>
                  <a:lnTo>
                    <a:pt x="0" y="350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425" r="0" b="-3242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81061" cy="3882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426" spc="57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91352" y="904303"/>
            <a:ext cx="8998401" cy="1124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b="true" sz="4203" spc="-63">
                <a:solidFill>
                  <a:srgbClr val="4B2A7B"/>
                </a:solidFill>
                <a:latin typeface="Arimo Bold"/>
                <a:ea typeface="Arimo Bold"/>
                <a:cs typeface="Arimo Bold"/>
                <a:sym typeface="Arimo Bold"/>
              </a:rPr>
              <a:t>Recomendación 1: verificar los requisitos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91352" y="2287191"/>
            <a:ext cx="4270429" cy="7169001"/>
            <a:chOff x="0" y="0"/>
            <a:chExt cx="5693905" cy="95586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93918" cy="9558655"/>
            </a:xfrm>
            <a:custGeom>
              <a:avLst/>
              <a:gdLst/>
              <a:ahLst/>
              <a:cxnLst/>
              <a:rect r="r" b="b" t="t" l="l"/>
              <a:pathLst>
                <a:path h="9558655" w="5693918">
                  <a:moveTo>
                    <a:pt x="0" y="0"/>
                  </a:moveTo>
                  <a:lnTo>
                    <a:pt x="4982210" y="0"/>
                  </a:lnTo>
                  <a:cubicBezTo>
                    <a:pt x="5375275" y="0"/>
                    <a:pt x="5693918" y="318643"/>
                    <a:pt x="5693918" y="711708"/>
                  </a:cubicBezTo>
                  <a:lnTo>
                    <a:pt x="5693918" y="9558655"/>
                  </a:lnTo>
                  <a:lnTo>
                    <a:pt x="0" y="95586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DDE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25153" y="3172606"/>
            <a:ext cx="3202819" cy="823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9"/>
              </a:lnSpc>
            </a:pPr>
            <a:r>
              <a:rPr lang="en-US" sz="8406" spc="-168">
                <a:solidFill>
                  <a:srgbClr val="24172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25153" y="4006644"/>
            <a:ext cx="3202819" cy="798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702" b="true">
                <a:solidFill>
                  <a:srgbClr val="24172F"/>
                </a:solidFill>
                <a:latin typeface="Arimo Bold"/>
                <a:ea typeface="Arimo Bold"/>
                <a:cs typeface="Arimo Bold"/>
                <a:sym typeface="Arimo Bold"/>
              </a:rPr>
              <a:t>Plan de pruebas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25153" y="4924615"/>
            <a:ext cx="3202819" cy="2075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702">
                <a:solidFill>
                  <a:srgbClr val="24172F"/>
                </a:solidFill>
                <a:latin typeface="Arimo"/>
                <a:ea typeface="Arimo"/>
                <a:cs typeface="Arimo"/>
                <a:sym typeface="Arimo"/>
              </a:rPr>
              <a:t>Preparar pruebas para requisitos funcionales y no funcionales.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714562" y="2282428"/>
            <a:ext cx="4279964" cy="7178526"/>
            <a:chOff x="0" y="0"/>
            <a:chExt cx="5706618" cy="95713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6618" cy="9571355"/>
            </a:xfrm>
            <a:custGeom>
              <a:avLst/>
              <a:gdLst/>
              <a:ahLst/>
              <a:cxnLst/>
              <a:rect r="r" b="b" t="t" l="l"/>
              <a:pathLst>
                <a:path h="9571355" w="5706618">
                  <a:moveTo>
                    <a:pt x="0" y="0"/>
                  </a:moveTo>
                  <a:lnTo>
                    <a:pt x="5706618" y="0"/>
                  </a:lnTo>
                  <a:lnTo>
                    <a:pt x="5706618" y="9571355"/>
                  </a:lnTo>
                  <a:lnTo>
                    <a:pt x="0" y="95713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5195" t="0" r="-165195" b="0"/>
              </a:stretch>
            </a:blipFill>
            <a:ln w="9532" cap="sq">
              <a:solidFill>
                <a:srgbClr val="4B2A7B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6262659" y="2825153"/>
            <a:ext cx="3183760" cy="983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4"/>
              </a:lnSpc>
            </a:pPr>
            <a:r>
              <a:rPr lang="en-US" sz="3302" b="true">
                <a:solidFill>
                  <a:srgbClr val="4B2A7B"/>
                </a:solidFill>
                <a:latin typeface="Arimo Bold"/>
                <a:ea typeface="Arimo Bold"/>
                <a:cs typeface="Arimo Bold"/>
                <a:sym typeface="Arimo Bold"/>
              </a:rPr>
              <a:t>Definir la evidencia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262659" y="4081081"/>
            <a:ext cx="762429" cy="57198"/>
            <a:chOff x="0" y="0"/>
            <a:chExt cx="1016572" cy="762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6508" cy="76200"/>
            </a:xfrm>
            <a:custGeom>
              <a:avLst/>
              <a:gdLst/>
              <a:ahLst/>
              <a:cxnLst/>
              <a:rect r="r" b="b" t="t" l="l"/>
              <a:pathLst>
                <a:path h="76200" w="1016508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978408" y="0"/>
                  </a:lnTo>
                  <a:cubicBezTo>
                    <a:pt x="999490" y="0"/>
                    <a:pt x="1016508" y="17018"/>
                    <a:pt x="1016508" y="38100"/>
                  </a:cubicBezTo>
                  <a:cubicBezTo>
                    <a:pt x="1016508" y="59182"/>
                    <a:pt x="999490" y="76200"/>
                    <a:pt x="978408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lose/>
                </a:path>
              </a:pathLst>
            </a:custGeom>
            <a:solidFill>
              <a:srgbClr val="B8297A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262659" y="4295623"/>
            <a:ext cx="3183760" cy="3070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702">
                <a:solidFill>
                  <a:srgbClr val="24172F"/>
                </a:solidFill>
                <a:latin typeface="Arimo"/>
                <a:ea typeface="Arimo"/>
                <a:cs typeface="Arimo"/>
                <a:sym typeface="Arimo"/>
              </a:rPr>
              <a:t>Precisar casos de prueba, condiciones de ejecución, resultados esperados y criterios de aceptación.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62659" y="7602179"/>
            <a:ext cx="3183760" cy="131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24172F"/>
                </a:solidFill>
                <a:latin typeface="Arimo"/>
                <a:ea typeface="Arimo"/>
                <a:cs typeface="Arimo"/>
                <a:sym typeface="Arimo"/>
              </a:rPr>
              <a:t>Estimar tiempos, recursos y costos para ejecutar las verificaciones.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981106" y="0"/>
            <a:ext cx="7320734" cy="10295039"/>
            <a:chOff x="0" y="0"/>
            <a:chExt cx="9760979" cy="137267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60966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760966">
                  <a:moveTo>
                    <a:pt x="0" y="0"/>
                  </a:moveTo>
                  <a:lnTo>
                    <a:pt x="9760966" y="0"/>
                  </a:lnTo>
                  <a:lnTo>
                    <a:pt x="9760966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5735" t="0" r="-55735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58861" y="9706118"/>
            <a:ext cx="1132246" cy="262585"/>
            <a:chOff x="0" y="0"/>
            <a:chExt cx="1509662" cy="35011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09663" cy="350120"/>
            </a:xfrm>
            <a:custGeom>
              <a:avLst/>
              <a:gdLst/>
              <a:ahLst/>
              <a:cxnLst/>
              <a:rect r="r" b="b" t="t" l="l"/>
              <a:pathLst>
                <a:path h="350120" w="1509663">
                  <a:moveTo>
                    <a:pt x="0" y="0"/>
                  </a:moveTo>
                  <a:lnTo>
                    <a:pt x="1509663" y="0"/>
                  </a:lnTo>
                  <a:lnTo>
                    <a:pt x="1509663" y="350120"/>
                  </a:lnTo>
                  <a:lnTo>
                    <a:pt x="0" y="350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017" r="0" b="-3401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509662" cy="3882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426" spc="57">
                  <a:solidFill>
                    <a:srgbClr val="24172F"/>
                  </a:solidFill>
                  <a:latin typeface="Roboto"/>
                  <a:ea typeface="Roboto"/>
                  <a:cs typeface="Roboto"/>
                  <a:sym typeface="Roboto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DD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91352" y="1710776"/>
            <a:ext cx="4270429" cy="3685927"/>
            <a:chOff x="0" y="0"/>
            <a:chExt cx="5693905" cy="49145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93918" cy="4914519"/>
            </a:xfrm>
            <a:custGeom>
              <a:avLst/>
              <a:gdLst/>
              <a:ahLst/>
              <a:cxnLst/>
              <a:rect r="r" b="b" t="t" l="l"/>
              <a:pathLst>
                <a:path h="4914519" w="5693918">
                  <a:moveTo>
                    <a:pt x="0" y="0"/>
                  </a:moveTo>
                  <a:lnTo>
                    <a:pt x="4982210" y="0"/>
                  </a:lnTo>
                  <a:cubicBezTo>
                    <a:pt x="5375275" y="0"/>
                    <a:pt x="5693918" y="318643"/>
                    <a:pt x="5693918" y="711708"/>
                  </a:cubicBezTo>
                  <a:lnTo>
                    <a:pt x="5693918" y="4914519"/>
                  </a:lnTo>
                  <a:lnTo>
                    <a:pt x="0" y="4914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EEF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10767" y="2130209"/>
            <a:ext cx="563890" cy="500453"/>
            <a:chOff x="0" y="0"/>
            <a:chExt cx="751853" cy="6672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1840" cy="667258"/>
            </a:xfrm>
            <a:custGeom>
              <a:avLst/>
              <a:gdLst/>
              <a:ahLst/>
              <a:cxnLst/>
              <a:rect r="r" b="b" t="t" l="l"/>
              <a:pathLst>
                <a:path h="667258" w="751840">
                  <a:moveTo>
                    <a:pt x="0" y="114427"/>
                  </a:moveTo>
                  <a:cubicBezTo>
                    <a:pt x="0" y="51181"/>
                    <a:pt x="51181" y="0"/>
                    <a:pt x="114427" y="0"/>
                  </a:cubicBezTo>
                  <a:lnTo>
                    <a:pt x="637413" y="0"/>
                  </a:lnTo>
                  <a:cubicBezTo>
                    <a:pt x="700532" y="0"/>
                    <a:pt x="751840" y="51181"/>
                    <a:pt x="751840" y="114427"/>
                  </a:cubicBezTo>
                  <a:lnTo>
                    <a:pt x="751840" y="552831"/>
                  </a:lnTo>
                  <a:cubicBezTo>
                    <a:pt x="751840" y="615950"/>
                    <a:pt x="700659" y="667258"/>
                    <a:pt x="637413" y="667258"/>
                  </a:cubicBezTo>
                  <a:lnTo>
                    <a:pt x="114427" y="667258"/>
                  </a:lnTo>
                  <a:cubicBezTo>
                    <a:pt x="51181" y="667258"/>
                    <a:pt x="0" y="616077"/>
                    <a:pt x="0" y="552831"/>
                  </a:cubicBezTo>
                  <a:close/>
                </a:path>
              </a:pathLst>
            </a:custGeom>
            <a:solidFill>
              <a:srgbClr val="4B2A7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719324" y="1710776"/>
            <a:ext cx="4270429" cy="3685927"/>
            <a:chOff x="0" y="0"/>
            <a:chExt cx="5693905" cy="49145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93918" cy="4914519"/>
            </a:xfrm>
            <a:custGeom>
              <a:avLst/>
              <a:gdLst/>
              <a:ahLst/>
              <a:cxnLst/>
              <a:rect r="r" b="b" t="t" l="l"/>
              <a:pathLst>
                <a:path h="4914519" w="5693918">
                  <a:moveTo>
                    <a:pt x="0" y="0"/>
                  </a:moveTo>
                  <a:lnTo>
                    <a:pt x="5693918" y="0"/>
                  </a:lnTo>
                  <a:lnTo>
                    <a:pt x="5693918" y="4914519"/>
                  </a:lnTo>
                  <a:lnTo>
                    <a:pt x="0" y="4914519"/>
                  </a:lnTo>
                  <a:close/>
                </a:path>
              </a:pathLst>
            </a:custGeom>
            <a:solidFill>
              <a:srgbClr val="F7EEF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138739" y="2130209"/>
            <a:ext cx="634936" cy="500453"/>
            <a:chOff x="0" y="0"/>
            <a:chExt cx="846582" cy="6672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6582" cy="667258"/>
            </a:xfrm>
            <a:custGeom>
              <a:avLst/>
              <a:gdLst/>
              <a:ahLst/>
              <a:cxnLst/>
              <a:rect r="r" b="b" t="t" l="l"/>
              <a:pathLst>
                <a:path h="667258" w="846582">
                  <a:moveTo>
                    <a:pt x="0" y="114427"/>
                  </a:moveTo>
                  <a:cubicBezTo>
                    <a:pt x="0" y="51181"/>
                    <a:pt x="51181" y="0"/>
                    <a:pt x="114427" y="0"/>
                  </a:cubicBezTo>
                  <a:lnTo>
                    <a:pt x="732155" y="0"/>
                  </a:lnTo>
                  <a:cubicBezTo>
                    <a:pt x="795274" y="0"/>
                    <a:pt x="846582" y="51181"/>
                    <a:pt x="846582" y="114427"/>
                  </a:cubicBezTo>
                  <a:lnTo>
                    <a:pt x="846582" y="552831"/>
                  </a:lnTo>
                  <a:cubicBezTo>
                    <a:pt x="846582" y="615950"/>
                    <a:pt x="795401" y="667258"/>
                    <a:pt x="732155" y="667258"/>
                  </a:cubicBezTo>
                  <a:lnTo>
                    <a:pt x="114427" y="667258"/>
                  </a:lnTo>
                  <a:cubicBezTo>
                    <a:pt x="51181" y="667258"/>
                    <a:pt x="0" y="616077"/>
                    <a:pt x="0" y="552831"/>
                  </a:cubicBezTo>
                  <a:close/>
                </a:path>
              </a:pathLst>
            </a:custGeom>
            <a:solidFill>
              <a:srgbClr val="4B2A7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91352" y="5854265"/>
            <a:ext cx="4270429" cy="3685927"/>
            <a:chOff x="0" y="0"/>
            <a:chExt cx="5693905" cy="49145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93918" cy="4914519"/>
            </a:xfrm>
            <a:custGeom>
              <a:avLst/>
              <a:gdLst/>
              <a:ahLst/>
              <a:cxnLst/>
              <a:rect r="r" b="b" t="t" l="l"/>
              <a:pathLst>
                <a:path h="4914519" w="5693918">
                  <a:moveTo>
                    <a:pt x="0" y="0"/>
                  </a:moveTo>
                  <a:lnTo>
                    <a:pt x="5693918" y="0"/>
                  </a:lnTo>
                  <a:lnTo>
                    <a:pt x="5693918" y="4914519"/>
                  </a:lnTo>
                  <a:lnTo>
                    <a:pt x="0" y="4914519"/>
                  </a:lnTo>
                  <a:close/>
                </a:path>
              </a:pathLst>
            </a:custGeom>
            <a:solidFill>
              <a:srgbClr val="F7EEF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10767" y="6273689"/>
            <a:ext cx="639404" cy="500453"/>
            <a:chOff x="0" y="0"/>
            <a:chExt cx="852538" cy="6672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52551" cy="667258"/>
            </a:xfrm>
            <a:custGeom>
              <a:avLst/>
              <a:gdLst/>
              <a:ahLst/>
              <a:cxnLst/>
              <a:rect r="r" b="b" t="t" l="l"/>
              <a:pathLst>
                <a:path h="667258" w="852551">
                  <a:moveTo>
                    <a:pt x="0" y="114427"/>
                  </a:moveTo>
                  <a:cubicBezTo>
                    <a:pt x="0" y="51181"/>
                    <a:pt x="51181" y="0"/>
                    <a:pt x="114427" y="0"/>
                  </a:cubicBezTo>
                  <a:lnTo>
                    <a:pt x="738124" y="0"/>
                  </a:lnTo>
                  <a:cubicBezTo>
                    <a:pt x="801243" y="0"/>
                    <a:pt x="852551" y="51181"/>
                    <a:pt x="852551" y="114427"/>
                  </a:cubicBezTo>
                  <a:lnTo>
                    <a:pt x="852551" y="552831"/>
                  </a:lnTo>
                  <a:cubicBezTo>
                    <a:pt x="852551" y="615950"/>
                    <a:pt x="801370" y="667258"/>
                    <a:pt x="738124" y="667258"/>
                  </a:cubicBezTo>
                  <a:lnTo>
                    <a:pt x="114427" y="667258"/>
                  </a:lnTo>
                  <a:cubicBezTo>
                    <a:pt x="51181" y="667258"/>
                    <a:pt x="0" y="616077"/>
                    <a:pt x="0" y="552831"/>
                  </a:cubicBezTo>
                  <a:close/>
                </a:path>
              </a:pathLst>
            </a:custGeom>
            <a:solidFill>
              <a:srgbClr val="4B2A7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719324" y="5854265"/>
            <a:ext cx="4270429" cy="3685927"/>
            <a:chOff x="0" y="0"/>
            <a:chExt cx="5693905" cy="49145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93918" cy="4914519"/>
            </a:xfrm>
            <a:custGeom>
              <a:avLst/>
              <a:gdLst/>
              <a:ahLst/>
              <a:cxnLst/>
              <a:rect r="r" b="b" t="t" l="l"/>
              <a:pathLst>
                <a:path h="4914519" w="5693918">
                  <a:moveTo>
                    <a:pt x="0" y="0"/>
                  </a:moveTo>
                  <a:lnTo>
                    <a:pt x="5693918" y="0"/>
                  </a:lnTo>
                  <a:lnTo>
                    <a:pt x="5693918" y="4914519"/>
                  </a:lnTo>
                  <a:lnTo>
                    <a:pt x="711708" y="4914519"/>
                  </a:lnTo>
                  <a:cubicBezTo>
                    <a:pt x="318643" y="4914519"/>
                    <a:pt x="0" y="4595876"/>
                    <a:pt x="0" y="42028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7EEF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138739" y="6273689"/>
            <a:ext cx="631212" cy="500453"/>
            <a:chOff x="0" y="0"/>
            <a:chExt cx="841616" cy="6672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1629" cy="667258"/>
            </a:xfrm>
            <a:custGeom>
              <a:avLst/>
              <a:gdLst/>
              <a:ahLst/>
              <a:cxnLst/>
              <a:rect r="r" b="b" t="t" l="l"/>
              <a:pathLst>
                <a:path h="667258" w="841629">
                  <a:moveTo>
                    <a:pt x="0" y="114427"/>
                  </a:moveTo>
                  <a:cubicBezTo>
                    <a:pt x="0" y="51181"/>
                    <a:pt x="51181" y="0"/>
                    <a:pt x="114427" y="0"/>
                  </a:cubicBezTo>
                  <a:lnTo>
                    <a:pt x="727202" y="0"/>
                  </a:lnTo>
                  <a:cubicBezTo>
                    <a:pt x="790321" y="0"/>
                    <a:pt x="841629" y="51181"/>
                    <a:pt x="841629" y="114427"/>
                  </a:cubicBezTo>
                  <a:lnTo>
                    <a:pt x="841629" y="552831"/>
                  </a:lnTo>
                  <a:cubicBezTo>
                    <a:pt x="841629" y="615950"/>
                    <a:pt x="790448" y="667258"/>
                    <a:pt x="727202" y="667258"/>
                  </a:cubicBezTo>
                  <a:lnTo>
                    <a:pt x="114427" y="667258"/>
                  </a:lnTo>
                  <a:cubicBezTo>
                    <a:pt x="51181" y="667258"/>
                    <a:pt x="0" y="616077"/>
                    <a:pt x="0" y="552831"/>
                  </a:cubicBezTo>
                  <a:close/>
                </a:path>
              </a:pathLst>
            </a:custGeom>
            <a:solidFill>
              <a:srgbClr val="4B2A7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58861" y="9706118"/>
            <a:ext cx="1134485" cy="262585"/>
            <a:chOff x="0" y="0"/>
            <a:chExt cx="1512646" cy="35011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12642" cy="350120"/>
            </a:xfrm>
            <a:custGeom>
              <a:avLst/>
              <a:gdLst/>
              <a:ahLst/>
              <a:cxnLst/>
              <a:rect r="r" b="b" t="t" l="l"/>
              <a:pathLst>
                <a:path h="350120" w="1512642">
                  <a:moveTo>
                    <a:pt x="0" y="0"/>
                  </a:moveTo>
                  <a:lnTo>
                    <a:pt x="1512642" y="0"/>
                  </a:lnTo>
                  <a:lnTo>
                    <a:pt x="1512642" y="350120"/>
                  </a:lnTo>
                  <a:lnTo>
                    <a:pt x="0" y="350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183" r="0" b="-3418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512646" cy="3882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426" spc="57">
                  <a:solidFill>
                    <a:srgbClr val="24172F"/>
                  </a:solidFill>
                  <a:latin typeface="Roboto"/>
                  <a:ea typeface="Roboto"/>
                  <a:cs typeface="Roboto"/>
                  <a:sym typeface="Roboto"/>
                </a:rPr>
                <a:t>12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2768318" y="568424"/>
            <a:ext cx="3003804" cy="4114800"/>
          </a:xfrm>
          <a:custGeom>
            <a:avLst/>
            <a:gdLst/>
            <a:ahLst/>
            <a:cxnLst/>
            <a:rect r="r" b="b" t="t" l="l"/>
            <a:pathLst>
              <a:path h="4114800" w="3003804">
                <a:moveTo>
                  <a:pt x="0" y="0"/>
                </a:moveTo>
                <a:lnTo>
                  <a:pt x="3003804" y="0"/>
                </a:lnTo>
                <a:lnTo>
                  <a:pt x="30038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727779" y="5143500"/>
            <a:ext cx="2715768" cy="4114800"/>
          </a:xfrm>
          <a:custGeom>
            <a:avLst/>
            <a:gdLst/>
            <a:ahLst/>
            <a:cxnLst/>
            <a:rect r="r" b="b" t="t" l="l"/>
            <a:pathLst>
              <a:path h="4114800" w="2715768">
                <a:moveTo>
                  <a:pt x="0" y="0"/>
                </a:moveTo>
                <a:lnTo>
                  <a:pt x="2715768" y="0"/>
                </a:lnTo>
                <a:lnTo>
                  <a:pt x="27157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600996" y="5508356"/>
            <a:ext cx="3468698" cy="3749944"/>
          </a:xfrm>
          <a:custGeom>
            <a:avLst/>
            <a:gdLst/>
            <a:ahLst/>
            <a:cxnLst/>
            <a:rect r="r" b="b" t="t" l="l"/>
            <a:pathLst>
              <a:path h="3749944" w="3468698">
                <a:moveTo>
                  <a:pt x="0" y="0"/>
                </a:moveTo>
                <a:lnTo>
                  <a:pt x="3468698" y="0"/>
                </a:lnTo>
                <a:lnTo>
                  <a:pt x="3468698" y="3749944"/>
                </a:lnTo>
                <a:lnTo>
                  <a:pt x="0" y="374994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991352" y="904303"/>
            <a:ext cx="8998401" cy="54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b="true" sz="4203" spc="-63">
                <a:solidFill>
                  <a:srgbClr val="4B2A7B"/>
                </a:solidFill>
                <a:latin typeface="Arimo Bold"/>
                <a:ea typeface="Arimo Bold"/>
                <a:cs typeface="Arimo Bold"/>
                <a:sym typeface="Arimo Bold"/>
              </a:rPr>
              <a:t>Recomendación 2: trazabilidad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53747" y="2266017"/>
            <a:ext cx="1193016" cy="257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22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10767" y="2759231"/>
            <a:ext cx="3431591" cy="89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551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Matriz de trazabilidad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10767" y="3776805"/>
            <a:ext cx="3431591" cy="1370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Vincular requisitos, actores y casos de uso.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281728" y="2266017"/>
            <a:ext cx="1264063" cy="257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22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138739" y="2759231"/>
            <a:ext cx="3431591" cy="789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551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Criterios de aceptación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138739" y="3686727"/>
            <a:ext cx="3851015" cy="481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Relacionar reglas y evidencias de verificación.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53747" y="6409506"/>
            <a:ext cx="1268530" cy="257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22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10767" y="6893195"/>
            <a:ext cx="3431591" cy="119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70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Modelos PlantUML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10767" y="8224771"/>
            <a:ext cx="3431591" cy="895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Mantener modelos alineados con el SRS.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281728" y="6409506"/>
            <a:ext cx="1260338" cy="257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22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138739" y="6902720"/>
            <a:ext cx="3431591" cy="1183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551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Gestión de cambios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138739" y="8224771"/>
            <a:ext cx="3431591" cy="895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2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Registrar versiones e impacto de los cambios.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1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3" id="3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67610" y="6719630"/>
            <a:ext cx="762429" cy="57198"/>
            <a:chOff x="0" y="0"/>
            <a:chExt cx="1016572" cy="762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508" cy="76200"/>
            </a:xfrm>
            <a:custGeom>
              <a:avLst/>
              <a:gdLst/>
              <a:ahLst/>
              <a:cxnLst/>
              <a:rect r="r" b="b" t="t" l="l"/>
              <a:pathLst>
                <a:path h="76200" w="1016508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978408" y="0"/>
                  </a:lnTo>
                  <a:cubicBezTo>
                    <a:pt x="999490" y="0"/>
                    <a:pt x="1016508" y="17018"/>
                    <a:pt x="1016508" y="38100"/>
                  </a:cubicBezTo>
                  <a:cubicBezTo>
                    <a:pt x="1016508" y="59182"/>
                    <a:pt x="999490" y="76200"/>
                    <a:pt x="978408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lose/>
                </a:path>
              </a:pathLst>
            </a:custGeom>
            <a:solidFill>
              <a:srgbClr val="B8297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16593" y="0"/>
            <a:ext cx="7320734" cy="5670290"/>
            <a:chOff x="0" y="0"/>
            <a:chExt cx="9760979" cy="75603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60966" cy="7560359"/>
            </a:xfrm>
            <a:custGeom>
              <a:avLst/>
              <a:gdLst/>
              <a:ahLst/>
              <a:cxnLst/>
              <a:rect r="r" b="b" t="t" l="l"/>
              <a:pathLst>
                <a:path h="7560359" w="9760966">
                  <a:moveTo>
                    <a:pt x="0" y="0"/>
                  </a:moveTo>
                  <a:lnTo>
                    <a:pt x="9760966" y="0"/>
                  </a:lnTo>
                  <a:lnTo>
                    <a:pt x="9760966" y="7560359"/>
                  </a:lnTo>
                  <a:lnTo>
                    <a:pt x="0" y="7560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616" t="0" r="-13616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58861" y="9706118"/>
            <a:ext cx="1110796" cy="262585"/>
            <a:chOff x="0" y="0"/>
            <a:chExt cx="1481061" cy="3501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81067" cy="350120"/>
            </a:xfrm>
            <a:custGeom>
              <a:avLst/>
              <a:gdLst/>
              <a:ahLst/>
              <a:cxnLst/>
              <a:rect r="r" b="b" t="t" l="l"/>
              <a:pathLst>
                <a:path h="350120" w="1481067">
                  <a:moveTo>
                    <a:pt x="0" y="0"/>
                  </a:moveTo>
                  <a:lnTo>
                    <a:pt x="1481067" y="0"/>
                  </a:lnTo>
                  <a:lnTo>
                    <a:pt x="1481067" y="350120"/>
                  </a:lnTo>
                  <a:lnTo>
                    <a:pt x="0" y="350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425" r="0" b="-3242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81061" cy="3882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426" spc="57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13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973777" y="5818418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67610" y="877014"/>
            <a:ext cx="9760982" cy="31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1651" spc="19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RECOMENDACIÓN 3 · CIERRE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7610" y="1922840"/>
            <a:ext cx="8845887" cy="139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61"/>
              </a:lnSpc>
            </a:pPr>
            <a:r>
              <a:rPr lang="en-US" sz="14411" spc="-28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7610" y="3293345"/>
            <a:ext cx="9760982" cy="330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651" spc="1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Calidad documental y validación continua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7610" y="4204878"/>
            <a:ext cx="8845887" cy="219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6"/>
              </a:lnSpc>
            </a:pPr>
            <a:r>
              <a:rPr lang="en-US" b="true" sz="5404" spc="-8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Mantener requisitos claros y actualizados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7610" y="8318306"/>
            <a:ext cx="8845887" cy="106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32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Uniformar entradas, validaciones, salidas y resultados. Revisar los cambios con los interesados antes de aprobar el SRS.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DAHX6b96CkE</dc:identifier>
  <dcterms:modified xsi:type="dcterms:W3CDTF">2011-08-01T06:04:30Z</dcterms:modified>
  <cp:revision>1</cp:revision>
  <dc:title>Texto</dc:title>
</cp:coreProperties>
</file>