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96e6b54-0c2d-02ae-f5f3-653cfe2b792a}">
          <p14:sldIdLst>
            <p14:sldId id="256"/>
          </p14:sldIdLst>
        </p14:section>
        <p14:section name="Proyecto" id="{6fc46f92-f72b-d31a-b6a9-fa463ee72af9}">
          <p14:sldIdLst>
            <p14:sldId id="257"/>
          </p14:sldIdLst>
        </p14:section>
        <p14:section name="Planificación" id="{aeb3ac27-dd29-7689-07a0-db354dad9154}">
          <p14:sldIdLst>
            <p14:sldId id="258"/>
          </p14:sldIdLst>
        </p14:section>
        <p14:section name="Investigación" id="{e3a46198-908c-bd3e-212a-f8e2f2bb8740}">
          <p14:sldIdLst>
            <p14:sldId id="259"/>
            <p14:sldId id="260"/>
          </p14:sldIdLst>
        </p14:section>
        <p14:section name="Asistente GEM" id="{1408f86d-c24d-b22c-f827-bb8349a358fb}">
          <p14:sldIdLst>
            <p14:sldId id="261"/>
            <p14:sldId id="262"/>
          </p14:sldIdLst>
        </p14:section>
        <p14:section name="Prototipo" id="{ad578e0a-4c60-e920-f592-7689108afd5d}">
          <p14:sldIdLst>
            <p14:sldId id="263"/>
          </p14:sldIdLst>
        </p14:section>
        <p14:section name="Piezas visuales" id="{bbbd4626-ce6f-54e2-f9cd-49fd73bdaf92}">
          <p14:sldIdLst>
            <p14:sldId id="264"/>
          </p14:sldIdLst>
        </p14:section>
        <p14:section name="Notion" id="{f38f077f-89e4-8aa3-2640-78cf19b3f03a}">
          <p14:sldIdLst>
            <p14:sldId id="265"/>
            <p14:sldId id="266"/>
          </p14:sldIdLst>
        </p14:section>
        <p14:section name="Cierre" id="{579706e0-73b1-f9b1-9bcf-4211ef5f1e3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414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o/PARA/Piezas_visuales/logo_RBG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188720" cy="6309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Análisis y Diseño de Software  |  NRC 36838  |  Grupo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actually-pressure-6f2.notion.site/P-A-R-A-Sistema-de-Control-de-Asistencia-RBG-NRC-36838-G7-3f363b5cafcb81ecb680dc9f216276ea" TargetMode="External"/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gem/e091bb6ff33d" TargetMode="External"/><Relationship Id="rId1" Type="http://schemas.openxmlformats.org/officeDocument/2006/relationships/image" Target="../media/image-6-1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share.gemini.google/G4EnmfmHOugV" TargetMode="External"/><Relationship Id="rId5" Type="http://schemas.openxmlformats.org/officeDocument/2006/relationships/hyperlink" Target="https://share.gemini.google/risjtM32f9dl" TargetMode="External"/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ffreG2004/GomezJoffre_36838_G7_ADSW/tree/main/PARA/Piezas_visuales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ctually-pressure-6f2.notion.site/P-A-R-A-Sistema-de-Control-de-Asistencia-RBG-NRC-36838-G7-3f363b5cafcb81ecb680dc9f216276ea" TargetMode="External"/><Relationship Id="rId3" Type="http://schemas.openxmlformats.org/officeDocument/2006/relationships/hyperlink" Target="https://github.com/JoffreG2004/GomezJoffre_36838_G7_ADSW" TargetMode="External"/><Relationship Id="rId4" Type="http://schemas.openxmlformats.org/officeDocument/2006/relationships/hyperlink" Target="https://notebook.google.com/notebook/a7729faa-b645-4758-895c-fdc9eecf2859" TargetMode="External"/><Relationship Id="rId5" Type="http://schemas.openxmlformats.org/officeDocument/2006/relationships/hyperlink" Target="https://notebook.google.com/notebook/68d3fa96-1577-438f-a1bd-f5c1a9b76a78" TargetMode="External"/><Relationship Id="rId6" Type="http://schemas.openxmlformats.org/officeDocument/2006/relationships/hyperlink" Target="https://gemini.google.com/gem/e091bb6ff33d" TargetMode="External"/><Relationship Id="rId7" Type="http://schemas.openxmlformats.org/officeDocument/2006/relationships/hyperlink" Target="https://share.gemini.google/G4EnmfmHOugV" TargetMode="External"/><Relationship Id="rId1" Type="http://schemas.openxmlformats.org/officeDocument/2006/relationships/image" Target="../media/image-10-1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jeta logo"/>
          <p:cNvSpPr/>
          <p:nvPr/>
        </p:nvSpPr>
        <p:spPr>
          <a:xfrm>
            <a:off x="731520" y="1280160"/>
            <a:ext cx="493776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 RBG+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4389120" cy="2350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3F5"/>
                </a:solidFill>
              </a:rPr>
              <a:t>Espacio de trabajo P.A.R.A.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1783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Sistema de Control de Asistencia RBG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3429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Análisis y Diseño de Software, NRC 36838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Docente: Ing. Jenny A. Ruiz R., MIS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Grupo 7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27 de octubre de 2026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373"/>
                </a:solidFill>
              </a:rPr>
              <a:t>Notion  ·  NotebookLM  ·  Gemini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Objetivo SMART</a:t>
            </a:r>
            <a:endParaRPr lang="en-US" sz="3200" dirty="0"/>
          </a:p>
        </p:txBody>
      </p:sp>
      <p:sp>
        <p:nvSpPr>
          <p:cNvPr id="3" name="tarjeta S"/>
          <p:cNvSpPr/>
          <p:nvPr/>
        </p:nvSpPr>
        <p:spPr>
          <a:xfrm>
            <a:off x="54864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4" name="circulo S"/>
          <p:cNvSpPr/>
          <p:nvPr/>
        </p:nvSpPr>
        <p:spPr>
          <a:xfrm>
            <a:off x="120700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0700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Específico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Analizar y diseñar el sistema web de asistencia de RBG: marcaciones, QR, acceso y reportes</a:t>
            </a:r>
            <a:endParaRPr lang="en-US" sz="1300" dirty="0"/>
          </a:p>
        </p:txBody>
      </p:sp>
      <p:sp>
        <p:nvSpPr>
          <p:cNvPr id="8" name="tarjeta M"/>
          <p:cNvSpPr/>
          <p:nvPr/>
        </p:nvSpPr>
        <p:spPr>
          <a:xfrm>
            <a:off x="278892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9" name="circulo M"/>
          <p:cNvSpPr/>
          <p:nvPr/>
        </p:nvSpPr>
        <p:spPr>
          <a:xfrm>
            <a:off x="344728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Medible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 casos de uso con matriz RF-CU, clases y secuencias, y lista IREB de 17 preguntas</a:t>
            </a:r>
            <a:endParaRPr lang="en-US" sz="1300" dirty="0"/>
          </a:p>
        </p:txBody>
      </p:sp>
      <p:sp>
        <p:nvSpPr>
          <p:cNvPr id="13" name="tarjeta A"/>
          <p:cNvSpPr/>
          <p:nvPr/>
        </p:nvSpPr>
        <p:spPr>
          <a:xfrm>
            <a:off x="502920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14" name="circulo A"/>
          <p:cNvSpPr/>
          <p:nvPr/>
        </p:nvSpPr>
        <p:spPr>
          <a:xfrm>
            <a:off x="568756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8756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Alcanzable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 el SRS, las guías de PlantUML y las herramientas de la materia</a:t>
            </a:r>
            <a:endParaRPr lang="en-US" sz="1300" dirty="0"/>
          </a:p>
        </p:txBody>
      </p:sp>
      <p:sp>
        <p:nvSpPr>
          <p:cNvPr id="18" name="tarjeta R"/>
          <p:cNvSpPr/>
          <p:nvPr/>
        </p:nvSpPr>
        <p:spPr>
          <a:xfrm>
            <a:off x="726948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19" name="circulo R"/>
          <p:cNvSpPr/>
          <p:nvPr/>
        </p:nvSpPr>
        <p:spPr>
          <a:xfrm>
            <a:off x="792784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2784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Relevante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Mejora el registro de asistencia y el cálculo de horas del personal de obra</a:t>
            </a:r>
            <a:endParaRPr lang="en-US" sz="1300" dirty="0"/>
          </a:p>
        </p:txBody>
      </p:sp>
      <p:sp>
        <p:nvSpPr>
          <p:cNvPr id="23" name="tarjeta T"/>
          <p:cNvSpPr/>
          <p:nvPr/>
        </p:nvSpPr>
        <p:spPr>
          <a:xfrm>
            <a:off x="950976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24" name="circulo T"/>
          <p:cNvSpPr/>
          <p:nvPr/>
        </p:nvSpPr>
        <p:spPr>
          <a:xfrm>
            <a:off x="1016812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6812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Temporal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Entregas de la Unidad 1 hasta el 27 de octubre de 2026</a:t>
            </a:r>
            <a:endParaRPr lang="en-US" sz="1300" dirty="0"/>
          </a:p>
        </p:txBody>
      </p:sp>
      <p:sp>
        <p:nvSpPr>
          <p:cNvPr id="28" name="objetivo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983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Analizar y diseñar el SCA de RBG documentando cuatro casos de uso de nivel 0 con su trazabilidad, clases y secuencias, y evaluando su calidad con la lista IREB, para mejorar el registro de asistencia y el cálculo de horas hasta el 27 de octubre de 2026.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Planificación por sprints en Notion</a:t>
            </a:r>
            <a:endParaRPr lang="en-US" sz="3200" dirty="0"/>
          </a:p>
        </p:txBody>
      </p:sp>
      <p:sp>
        <p:nvSpPr>
          <p:cNvPr id="3" name="marco cap2/notion_backlog.jpg"/>
          <p:cNvSpPr/>
          <p:nvPr/>
        </p:nvSpPr>
        <p:spPr>
          <a:xfrm>
            <a:off x="502920" y="1188720"/>
            <a:ext cx="3657600" cy="3907231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Backlog por spr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566160" cy="3815791"/>
          </a:xfrm>
          <a:prstGeom prst="rect">
            <a:avLst/>
          </a:prstGeom>
        </p:spPr>
      </p:pic>
      <p:sp>
        <p:nvSpPr>
          <p:cNvPr id="5" name="pie 1"/>
          <p:cNvSpPr txBox="1"/>
          <p:nvPr/>
        </p:nvSpPr>
        <p:spPr>
          <a:xfrm>
            <a:off x="548640" y="514167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Backlog por sprint</a:t>
            </a:r>
            <a:endParaRPr lang="en-US" sz="1100" dirty="0"/>
          </a:p>
        </p:txBody>
      </p:sp>
      <p:sp>
        <p:nvSpPr>
          <p:cNvPr id="6" name="marco cap2/notion_tablero.jpg"/>
          <p:cNvSpPr/>
          <p:nvPr/>
        </p:nvSpPr>
        <p:spPr>
          <a:xfrm>
            <a:off x="4251960" y="1188720"/>
            <a:ext cx="3657600" cy="3907231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Tablero por est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3566160" cy="3815791"/>
          </a:xfrm>
          <a:prstGeom prst="rect">
            <a:avLst/>
          </a:prstGeom>
        </p:spPr>
      </p:pic>
      <p:sp>
        <p:nvSpPr>
          <p:cNvPr id="8" name="pie 2"/>
          <p:cNvSpPr txBox="1"/>
          <p:nvPr/>
        </p:nvSpPr>
        <p:spPr>
          <a:xfrm>
            <a:off x="4297680" y="514167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2.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Tablero por estado</a:t>
            </a:r>
            <a:endParaRPr lang="en-US" sz="1100" dirty="0"/>
          </a:p>
        </p:txBody>
      </p:sp>
      <p:sp>
        <p:nvSpPr>
          <p:cNvPr id="9" name="marco cap2/notion_cronograma.jpg"/>
          <p:cNvSpPr/>
          <p:nvPr/>
        </p:nvSpPr>
        <p:spPr>
          <a:xfrm>
            <a:off x="8001000" y="1188720"/>
            <a:ext cx="3657600" cy="2008251"/>
          </a:xfrm>
          <a:prstGeom prst="roundRect">
            <a:avLst>
              <a:gd name="adj" fmla="val 3643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10" name="Image 2" descr="Cronogra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34440"/>
            <a:ext cx="3566160" cy="1916811"/>
          </a:xfrm>
          <a:prstGeom prst="rect">
            <a:avLst/>
          </a:prstGeom>
        </p:spPr>
      </p:pic>
      <p:sp>
        <p:nvSpPr>
          <p:cNvPr id="11" name="pie 3"/>
          <p:cNvSpPr txBox="1"/>
          <p:nvPr/>
        </p:nvSpPr>
        <p:spPr>
          <a:xfrm>
            <a:off x="8046720" y="324269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3.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Cronograma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Notion: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actually-pressure-6f2.notion.site/P-A-R-A-Sist...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NotebookLM: cuaderno 1 del proyecto</a:t>
            </a:r>
            <a:endParaRPr lang="en-US" sz="3200" dirty="0"/>
          </a:p>
        </p:txBody>
      </p:sp>
      <p:sp>
        <p:nvSpPr>
          <p:cNvPr id="3" name="marco cap2/cuaderno1_mapa.jpg"/>
          <p:cNvSpPr/>
          <p:nvPr/>
        </p:nvSpPr>
        <p:spPr>
          <a:xfrm>
            <a:off x="502920" y="1143000"/>
            <a:ext cx="5029200" cy="4411980"/>
          </a:xfrm>
          <a:prstGeom prst="roundRect">
            <a:avLst>
              <a:gd name="adj" fmla="val 1658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Mapa mental del SCA de R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937760" cy="4320540"/>
          </a:xfrm>
          <a:prstGeom prst="rect">
            <a:avLst/>
          </a:prstGeom>
        </p:spPr>
      </p:pic>
      <p:sp>
        <p:nvSpPr>
          <p:cNvPr id="5" name="pie 4"/>
          <p:cNvSpPr txBox="1"/>
          <p:nvPr/>
        </p:nvSpPr>
        <p:spPr>
          <a:xfrm>
            <a:off x="548640" y="56007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4.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Mapa mental del SCA de RBG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37160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Control de Asistencia RBG Ingeniería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 fuentes: SRS, Guía 1, Guía 2 e informe IREB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Mapa mental con actores, casos de uso, clases, secuencias y evaluación IREB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Resumen en audio "Del WhatsApp al fichaje en obras" de 23:37 minutos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Compartido con el grupo y con la docente</a:t>
            </a:r>
            <a:endParaRPr lang="en-US" sz="1600" dirty="0"/>
          </a:p>
        </p:txBody>
      </p:sp>
      <p:sp>
        <p:nvSpPr>
          <p:cNvPr id="7" name="marco cap2/cuaderno1_studio.jpg"/>
          <p:cNvSpPr/>
          <p:nvPr/>
        </p:nvSpPr>
        <p:spPr>
          <a:xfrm>
            <a:off x="7116371" y="4069080"/>
            <a:ext cx="332373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8" name="Image 1" descr="Studio con el audio y el mapa me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091" y="4114800"/>
            <a:ext cx="3232298" cy="1737360"/>
          </a:xfrm>
          <a:prstGeom prst="rect">
            <a:avLst/>
          </a:prstGeom>
        </p:spPr>
      </p:pic>
      <p:sp>
        <p:nvSpPr>
          <p:cNvPr id="9" name="pie 5"/>
          <p:cNvSpPr txBox="1"/>
          <p:nvPr/>
        </p:nvSpPr>
        <p:spPr>
          <a:xfrm>
            <a:off x="5943600" y="5943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5.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Studio con el audio y el mapa mental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NotebookLM: cuaderno 2 de modelado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Fundamentos de Análisis y Modelado de Sistemas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 fuentes: apuntes de la UC1, libro de Kendall, taller PlantUML del G7 y tema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Mapa mental sobre tipos de sistemas, UML, casos de uso, clases de análisis y PlantUML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Resumen en audio "PlantUML y la revolución del texto plano" de 25:24 minutos</a:t>
            </a:r>
            <a:endParaRPr lang="en-US" sz="1600" dirty="0"/>
          </a:p>
        </p:txBody>
      </p:sp>
      <p:sp>
        <p:nvSpPr>
          <p:cNvPr id="4" name="marco cap2/cuaderno2_studio.jpg"/>
          <p:cNvSpPr/>
          <p:nvPr/>
        </p:nvSpPr>
        <p:spPr>
          <a:xfrm>
            <a:off x="1629971" y="4069080"/>
            <a:ext cx="332373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5" name="Image 0" descr="Studio con el audio y el mapa me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691" y="4114800"/>
            <a:ext cx="3232298" cy="1737360"/>
          </a:xfrm>
          <a:prstGeom prst="rect">
            <a:avLst/>
          </a:prstGeom>
        </p:spPr>
      </p:pic>
      <p:sp>
        <p:nvSpPr>
          <p:cNvPr id="6" name="pie 6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6.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Studio con el audio y el mapa mental</a:t>
            </a:r>
            <a:endParaRPr lang="en-US" sz="1100" dirty="0"/>
          </a:p>
        </p:txBody>
      </p:sp>
      <p:sp>
        <p:nvSpPr>
          <p:cNvPr id="7" name="marco cap2/cuaderno2_mapa.jpg"/>
          <p:cNvSpPr/>
          <p:nvPr/>
        </p:nvSpPr>
        <p:spPr>
          <a:xfrm>
            <a:off x="6355080" y="1143000"/>
            <a:ext cx="5303520" cy="4261104"/>
          </a:xfrm>
          <a:prstGeom prst="roundRect">
            <a:avLst>
              <a:gd name="adj" fmla="val 1717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8" name="Image 1" descr="Mapa mental de análisis y model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212080" cy="4169664"/>
          </a:xfrm>
          <a:prstGeom prst="rect">
            <a:avLst/>
          </a:prstGeom>
        </p:spPr>
      </p:pic>
      <p:sp>
        <p:nvSpPr>
          <p:cNvPr id="9" name="pie 7"/>
          <p:cNvSpPr txBox="1"/>
          <p:nvPr/>
        </p:nvSpPr>
        <p:spPr>
          <a:xfrm>
            <a:off x="6400800" y="5449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7.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Mapa mental de análisis y modelado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Asistente GEM: Tutor SCA RBG</a:t>
            </a:r>
            <a:endParaRPr lang="en-US" sz="3200" dirty="0"/>
          </a:p>
        </p:txBody>
      </p:sp>
      <p:sp>
        <p:nvSpPr>
          <p:cNvPr id="3" name="marco cap2/gem_config.jpg"/>
          <p:cNvSpPr/>
          <p:nvPr/>
        </p:nvSpPr>
        <p:spPr>
          <a:xfrm>
            <a:off x="711318" y="1143000"/>
            <a:ext cx="4429524" cy="4754880"/>
          </a:xfrm>
          <a:prstGeom prst="roundRect">
            <a:avLst>
              <a:gd name="adj" fmla="val 1651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Configuración del G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038" y="1188720"/>
            <a:ext cx="4338084" cy="4663440"/>
          </a:xfrm>
          <a:prstGeom prst="rect">
            <a:avLst/>
          </a:prstGeom>
        </p:spPr>
      </p:pic>
      <p:sp>
        <p:nvSpPr>
          <p:cNvPr id="5" name="pie 8"/>
          <p:cNvSpPr txBox="1"/>
          <p:nvPr/>
        </p:nvSpPr>
        <p:spPr>
          <a:xfrm>
            <a:off x="548640" y="5943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8.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Configuración del Gem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3716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Qué sabe el Gem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Problema y alcance del SCA según el SRS_RBG_V4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6 actores y los 9 casos de uso de nivel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Trazabilidad RF-01, RF-02, RF-03 y RF-06 con sus casos de uso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Clases frontera, control, entidad y repositorio de la Guía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Resultados del informe IREB: 16 de 17, 94 %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accent2"/>
                </a:solidFill>
              </a:rPr>
              <a:t>Regla: responde solo con datos del proyecto y avisa cuando algo no está en la documentación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5760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Gem: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gemini.google.com/gem/e091bb6ff33d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El Gem en uso</a:t>
            </a:r>
            <a:endParaRPr lang="en-US" sz="3200" dirty="0"/>
          </a:p>
        </p:txBody>
      </p:sp>
      <p:sp>
        <p:nvSpPr>
          <p:cNvPr id="3" name="marco cap2/gem_respuesta1.jpg"/>
          <p:cNvSpPr/>
          <p:nvPr/>
        </p:nvSpPr>
        <p:spPr>
          <a:xfrm>
            <a:off x="558437" y="1143000"/>
            <a:ext cx="5421086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Pregunta del proyecto sobre CU-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157" y="1188720"/>
            <a:ext cx="5329646" cy="4663440"/>
          </a:xfrm>
          <a:prstGeom prst="rect">
            <a:avLst/>
          </a:prstGeom>
        </p:spPr>
      </p:pic>
      <p:sp>
        <p:nvSpPr>
          <p:cNvPr id="5" name="pie 9"/>
          <p:cNvSpPr txBox="1"/>
          <p:nvPr/>
        </p:nvSpPr>
        <p:spPr>
          <a:xfrm>
            <a:off x="548640" y="5943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9.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Pregunta del proyecto sobre CU-01</a:t>
            </a:r>
            <a:endParaRPr lang="en-US" sz="1100" dirty="0"/>
          </a:p>
        </p:txBody>
      </p:sp>
      <p:sp>
        <p:nvSpPr>
          <p:cNvPr id="6" name="marco cap2/gem_respuesta2.jpg"/>
          <p:cNvSpPr/>
          <p:nvPr/>
        </p:nvSpPr>
        <p:spPr>
          <a:xfrm>
            <a:off x="6126480" y="1143000"/>
            <a:ext cx="5532120" cy="4443984"/>
          </a:xfrm>
          <a:prstGeom prst="roundRect">
            <a:avLst>
              <a:gd name="adj" fmla="val 1646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Pregunta de repaso sobre CU-0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88720"/>
            <a:ext cx="5440680" cy="4352544"/>
          </a:xfrm>
          <a:prstGeom prst="rect">
            <a:avLst/>
          </a:prstGeom>
        </p:spPr>
      </p:pic>
      <p:sp>
        <p:nvSpPr>
          <p:cNvPr id="8" name="pie 10"/>
          <p:cNvSpPr txBox="1"/>
          <p:nvPr/>
        </p:nvSpPr>
        <p:spPr>
          <a:xfrm>
            <a:off x="6172200" y="563270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10.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Pregunta de repaso sobre CU-03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Prototipo gamificado: Jornada en Obra</a:t>
            </a:r>
            <a:endParaRPr lang="en-US" sz="3200" dirty="0"/>
          </a:p>
        </p:txBody>
      </p:sp>
      <p:sp>
        <p:nvSpPr>
          <p:cNvPr id="3" name="marco cap2/quiz_inicio.jpg"/>
          <p:cNvSpPr/>
          <p:nvPr/>
        </p:nvSpPr>
        <p:spPr>
          <a:xfrm>
            <a:off x="502920" y="1143000"/>
            <a:ext cx="2834640" cy="2628900"/>
          </a:xfrm>
          <a:prstGeom prst="roundRect">
            <a:avLst>
              <a:gd name="adj" fmla="val 2783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Inicio del jue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743200" cy="2537460"/>
          </a:xfrm>
          <a:prstGeom prst="rect">
            <a:avLst/>
          </a:prstGeom>
        </p:spPr>
      </p:pic>
      <p:sp>
        <p:nvSpPr>
          <p:cNvPr id="5" name="pie 11"/>
          <p:cNvSpPr txBox="1"/>
          <p:nvPr/>
        </p:nvSpPr>
        <p:spPr>
          <a:xfrm>
            <a:off x="548640" y="38176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11.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Inicio del juego</a:t>
            </a:r>
            <a:endParaRPr lang="en-US" sz="1100" dirty="0"/>
          </a:p>
        </p:txBody>
      </p:sp>
      <p:sp>
        <p:nvSpPr>
          <p:cNvPr id="6" name="marco cap2/quiz_error.jpg"/>
          <p:cNvSpPr/>
          <p:nvPr/>
        </p:nvSpPr>
        <p:spPr>
          <a:xfrm>
            <a:off x="3429000" y="1143000"/>
            <a:ext cx="2834640" cy="2526030"/>
          </a:xfrm>
          <a:prstGeom prst="roundRect">
            <a:avLst>
              <a:gd name="adj" fmla="val 2896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Error y casco perd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2743200" cy="2434590"/>
          </a:xfrm>
          <a:prstGeom prst="rect">
            <a:avLst/>
          </a:prstGeom>
        </p:spPr>
      </p:pic>
      <p:sp>
        <p:nvSpPr>
          <p:cNvPr id="8" name="pie 12"/>
          <p:cNvSpPr txBox="1"/>
          <p:nvPr/>
        </p:nvSpPr>
        <p:spPr>
          <a:xfrm>
            <a:off x="3474720" y="371475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12.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Error y casco perdido</a:t>
            </a:r>
            <a:endParaRPr lang="en-US" sz="1100" dirty="0"/>
          </a:p>
        </p:txBody>
      </p:sp>
      <p:sp>
        <p:nvSpPr>
          <p:cNvPr id="9" name="marco cap2/quiz_final.jpg"/>
          <p:cNvSpPr/>
          <p:nvPr/>
        </p:nvSpPr>
        <p:spPr>
          <a:xfrm>
            <a:off x="6355080" y="1143000"/>
            <a:ext cx="2834640" cy="2628900"/>
          </a:xfrm>
          <a:prstGeom prst="roundRect">
            <a:avLst>
              <a:gd name="adj" fmla="val 2783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10" name="Image 2" descr="Resultado y ran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2743200" cy="2537460"/>
          </a:xfrm>
          <a:prstGeom prst="rect">
            <a:avLst/>
          </a:prstGeom>
        </p:spPr>
      </p:pic>
      <p:sp>
        <p:nvSpPr>
          <p:cNvPr id="11" name="pie 13"/>
          <p:cNvSpPr txBox="1"/>
          <p:nvPr/>
        </p:nvSpPr>
        <p:spPr>
          <a:xfrm>
            <a:off x="6400800" y="38176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13.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Resultado y rango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9418320" y="1280160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 misiones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 07:00 a 17:00 en la obra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s por misión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cascos de vida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Bono por tiempo y racha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Explicación en cada respuesta</a:t>
            </a:r>
            <a:endParaRPr lang="en-US" sz="1400" dirty="0"/>
          </a:p>
        </p:txBody>
      </p:sp>
      <p:sp>
        <p:nvSpPr>
          <p:cNvPr id="13" name="enlaces juego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Jugar: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share.gemini.google/G4EnmfmHOugV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Conversación con el prompt: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share.gemini.google/risjtM32f9dl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Hecho en Gemini Canvas con datos reales del SRS y las guías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Piezas visuales: logo RBG+</a:t>
            </a:r>
            <a:endParaRPr lang="en-US" sz="3200" dirty="0"/>
          </a:p>
        </p:txBody>
      </p:sp>
      <p:sp>
        <p:nvSpPr>
          <p:cNvPr id="3" name="marco /home/claude/repo/PARA/Piezas_visuales/logo_RBG_plus.png"/>
          <p:cNvSpPr/>
          <p:nvPr/>
        </p:nvSpPr>
        <p:spPr>
          <a:xfrm>
            <a:off x="502920" y="1234440"/>
            <a:ext cx="5212080" cy="2829560"/>
          </a:xfrm>
          <a:prstGeom prst="roundRect">
            <a:avLst>
              <a:gd name="adj" fmla="val 2585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Logo RBG+ generado con Gemi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2738120"/>
          </a:xfrm>
          <a:prstGeom prst="rect">
            <a:avLst/>
          </a:prstGeom>
        </p:spPr>
      </p:pic>
      <p:sp>
        <p:nvSpPr>
          <p:cNvPr id="5" name="pie 14"/>
          <p:cNvSpPr txBox="1"/>
          <p:nvPr/>
        </p:nvSpPr>
        <p:spPr>
          <a:xfrm>
            <a:off x="548640" y="4109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14.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Logo RBG+ generado con Gemini</a:t>
            </a:r>
            <a:endParaRPr lang="en-US" sz="1100" dirty="0"/>
          </a:p>
        </p:txBody>
      </p:sp>
      <p:sp>
        <p:nvSpPr>
          <p:cNvPr id="6" name="marco anim_frames.png"/>
          <p:cNvSpPr/>
          <p:nvPr/>
        </p:nvSpPr>
        <p:spPr>
          <a:xfrm>
            <a:off x="5989320" y="1143000"/>
            <a:ext cx="5669280" cy="3143668"/>
          </a:xfrm>
          <a:prstGeom prst="roundRect">
            <a:avLst>
              <a:gd name="adj" fmla="val 2327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Cuatro momentos de la animación de 2 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577840" cy="3052228"/>
          </a:xfrm>
          <a:prstGeom prst="rect">
            <a:avLst/>
          </a:prstGeom>
        </p:spPr>
      </p:pic>
      <p:sp>
        <p:nvSpPr>
          <p:cNvPr id="8" name="pie 15"/>
          <p:cNvSpPr txBox="1"/>
          <p:nvPr/>
        </p:nvSpPr>
        <p:spPr>
          <a:xfrm>
            <a:off x="6035040" y="43323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15.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Cuatro momentos de la animación de 2 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Casco rojo de obra sobre la R, la B en rojo y el signo más elevado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Animación de 2 segundos hecha con Python, Pillow y ffmpeg en PNG, GIF y MP4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Carpeta: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github.com/JoffreG2004/GomezJoffre_36838_G7_AD...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Espacio de Notion: acceso público y recursos</a:t>
            </a:r>
            <a:endParaRPr lang="en-US" sz="3200" dirty="0"/>
          </a:p>
        </p:txBody>
      </p:sp>
      <p:sp>
        <p:nvSpPr>
          <p:cNvPr id="3" name="marco cap2/notion_portada.jpg"/>
          <p:cNvSpPr/>
          <p:nvPr/>
        </p:nvSpPr>
        <p:spPr>
          <a:xfrm>
            <a:off x="798467" y="1143000"/>
            <a:ext cx="4255226" cy="4754880"/>
          </a:xfrm>
          <a:prstGeom prst="roundRect">
            <a:avLst>
              <a:gd name="adj" fmla="val 1719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Página publicada en solo l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187" y="1188720"/>
            <a:ext cx="4163786" cy="4663440"/>
          </a:xfrm>
          <a:prstGeom prst="rect">
            <a:avLst/>
          </a:prstGeom>
        </p:spPr>
      </p:pic>
      <p:sp>
        <p:nvSpPr>
          <p:cNvPr id="5" name="pie 16"/>
          <p:cNvSpPr txBox="1"/>
          <p:nvPr/>
        </p:nvSpPr>
        <p:spPr>
          <a:xfrm>
            <a:off x="548640" y="5943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16.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Página publicada en solo lectura</a:t>
            </a:r>
            <a:endParaRPr lang="en-US" sz="1100" dirty="0"/>
          </a:p>
        </p:txBody>
      </p:sp>
      <p:sp>
        <p:nvSpPr>
          <p:cNvPr id="6" name="recurso Notion"/>
          <p:cNvSpPr/>
          <p:nvPr/>
        </p:nvSpPr>
        <p:spPr>
          <a:xfrm>
            <a:off x="5669280" y="132588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Notion</a:t>
            </a:r>
            <a:endParaRPr lang="en-US" sz="1400" dirty="0"/>
          </a:p>
        </p:txBody>
      </p:sp>
      <p:sp>
        <p:nvSpPr>
          <p:cNvPr id="8" name="Text 5">
            <a:hlinkClick r:id="rId2" tooltip=""/>
          </p:cNvPr>
          <p:cNvSpPr txBox="1"/>
          <p:nvPr/>
        </p:nvSpPr>
        <p:spPr>
          <a:xfrm>
            <a:off x="7315200" y="1325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actually-pressure-6f2.notion.site/P-A-R-A-Sist...</a:t>
            </a:r>
            <a:endParaRPr lang="en-US" sz="1100" dirty="0"/>
          </a:p>
        </p:txBody>
      </p:sp>
      <p:sp>
        <p:nvSpPr>
          <p:cNvPr id="9" name="recurso Repositorio"/>
          <p:cNvSpPr/>
          <p:nvPr/>
        </p:nvSpPr>
        <p:spPr>
          <a:xfrm>
            <a:off x="5669280" y="210312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Repositorio</a:t>
            </a:r>
            <a:endParaRPr lang="en-US" sz="1400" dirty="0"/>
          </a:p>
        </p:txBody>
      </p:sp>
      <p:sp>
        <p:nvSpPr>
          <p:cNvPr id="11" name="Text 8">
            <a:hlinkClick r:id="rId3" tooltip=""/>
          </p:cNvPr>
          <p:cNvSpPr txBox="1"/>
          <p:nvPr/>
        </p:nvSpPr>
        <p:spPr>
          <a:xfrm>
            <a:off x="7315200" y="2103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github.com/JoffreG2004/GomezJoffre_36838_G7_ADSW</a:t>
            </a:r>
            <a:endParaRPr lang="en-US" sz="1100" dirty="0"/>
          </a:p>
        </p:txBody>
      </p:sp>
      <p:sp>
        <p:nvSpPr>
          <p:cNvPr id="12" name="recurso Cuaderno 1"/>
          <p:cNvSpPr/>
          <p:nvPr/>
        </p:nvSpPr>
        <p:spPr>
          <a:xfrm>
            <a:off x="5669280" y="288036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Cuaderno 1</a:t>
            </a:r>
            <a:endParaRPr lang="en-US" sz="1400" dirty="0"/>
          </a:p>
        </p:txBody>
      </p:sp>
      <p:sp>
        <p:nvSpPr>
          <p:cNvPr id="14" name="Text 11">
            <a:hlinkClick r:id="rId4" tooltip=""/>
          </p:cNvPr>
          <p:cNvSpPr txBox="1"/>
          <p:nvPr/>
        </p:nvSpPr>
        <p:spPr>
          <a:xfrm>
            <a:off x="73152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notebook.google.com/notebook/a7729faa-b645-475...</a:t>
            </a:r>
            <a:endParaRPr lang="en-US" sz="1100" dirty="0"/>
          </a:p>
        </p:txBody>
      </p:sp>
      <p:sp>
        <p:nvSpPr>
          <p:cNvPr id="15" name="recurso Cuaderno 2"/>
          <p:cNvSpPr/>
          <p:nvPr/>
        </p:nvSpPr>
        <p:spPr>
          <a:xfrm>
            <a:off x="5669280" y="365760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0" y="3657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Cuaderno 2</a:t>
            </a:r>
            <a:endParaRPr lang="en-US" sz="1400" dirty="0"/>
          </a:p>
        </p:txBody>
      </p:sp>
      <p:sp>
        <p:nvSpPr>
          <p:cNvPr id="17" name="Text 14">
            <a:hlinkClick r:id="rId5" tooltip=""/>
          </p:cNvPr>
          <p:cNvSpPr txBox="1"/>
          <p:nvPr/>
        </p:nvSpPr>
        <p:spPr>
          <a:xfrm>
            <a:off x="731520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notebook.google.com/notebook/68d3fa96-1577-438...</a:t>
            </a:r>
            <a:endParaRPr lang="en-US" sz="1100" dirty="0"/>
          </a:p>
        </p:txBody>
      </p:sp>
      <p:sp>
        <p:nvSpPr>
          <p:cNvPr id="18" name="recurso Gem"/>
          <p:cNvSpPr/>
          <p:nvPr/>
        </p:nvSpPr>
        <p:spPr>
          <a:xfrm>
            <a:off x="5669280" y="443484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Gem</a:t>
            </a:r>
            <a:endParaRPr lang="en-US" sz="1400" dirty="0"/>
          </a:p>
        </p:txBody>
      </p:sp>
      <p:sp>
        <p:nvSpPr>
          <p:cNvPr id="20" name="Text 17">
            <a:hlinkClick r:id="rId6" tooltip=""/>
          </p:cNvPr>
          <p:cNvSpPr txBox="1"/>
          <p:nvPr/>
        </p:nvSpPr>
        <p:spPr>
          <a:xfrm>
            <a:off x="7315200" y="4434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gemini.google.com/gem/e091bb6ff33d</a:t>
            </a:r>
            <a:endParaRPr lang="en-US" sz="1100" dirty="0"/>
          </a:p>
        </p:txBody>
      </p:sp>
      <p:sp>
        <p:nvSpPr>
          <p:cNvPr id="21" name="recurso Juego"/>
          <p:cNvSpPr/>
          <p:nvPr/>
        </p:nvSpPr>
        <p:spPr>
          <a:xfrm>
            <a:off x="5669280" y="521208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52160" y="5212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Juego</a:t>
            </a:r>
            <a:endParaRPr lang="en-US" sz="1400" dirty="0"/>
          </a:p>
        </p:txBody>
      </p:sp>
      <p:sp>
        <p:nvSpPr>
          <p:cNvPr id="23" name="Text 20">
            <a:hlinkClick r:id="rId7" tooltip=""/>
          </p:cNvPr>
          <p:cNvSpPr txBox="1"/>
          <p:nvPr/>
        </p:nvSpPr>
        <p:spPr>
          <a:xfrm>
            <a:off x="7315200" y="5212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share.gemini.google/G4EnmfmHOugV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6035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Los cuadernos son de la cuenta ESPE y se comparten con el grupo y la docente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El espacio en números</a:t>
            </a:r>
            <a:endParaRPr lang="en-US" sz="3200" dirty="0"/>
          </a:p>
        </p:txBody>
      </p:sp>
      <p:sp>
        <p:nvSpPr>
          <p:cNvPr id="3" name="dato 0"/>
          <p:cNvSpPr/>
          <p:nvPr/>
        </p:nvSpPr>
        <p:spPr>
          <a:xfrm>
            <a:off x="548640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actividades en 3 sprints</a:t>
            </a:r>
            <a:endParaRPr lang="en-US" sz="1400" dirty="0"/>
          </a:p>
        </p:txBody>
      </p:sp>
      <p:sp>
        <p:nvSpPr>
          <p:cNvPr id="6" name="dato 1"/>
          <p:cNvSpPr/>
          <p:nvPr/>
        </p:nvSpPr>
        <p:spPr>
          <a:xfrm>
            <a:off x="3355848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actividades terminadas</a:t>
            </a:r>
            <a:endParaRPr lang="en-US" sz="1400" dirty="0"/>
          </a:p>
        </p:txBody>
      </p:sp>
      <p:sp>
        <p:nvSpPr>
          <p:cNvPr id="9" name="dato 2"/>
          <p:cNvSpPr/>
          <p:nvPr/>
        </p:nvSpPr>
        <p:spPr>
          <a:xfrm>
            <a:off x="6163056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casos de uso de nivel 0</a:t>
            </a:r>
            <a:endParaRPr lang="en-US" sz="1400" dirty="0"/>
          </a:p>
        </p:txBody>
      </p:sp>
      <p:sp>
        <p:nvSpPr>
          <p:cNvPr id="12" name="dato 3"/>
          <p:cNvSpPr/>
          <p:nvPr/>
        </p:nvSpPr>
        <p:spPr>
          <a:xfrm>
            <a:off x="8970264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07424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53144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requisitos: 47 funcionales y 36 no funcionales</a:t>
            </a:r>
            <a:endParaRPr lang="en-US" sz="1400" dirty="0"/>
          </a:p>
        </p:txBody>
      </p:sp>
      <p:sp>
        <p:nvSpPr>
          <p:cNvPr id="15" name="dato 4"/>
          <p:cNvSpPr/>
          <p:nvPr/>
        </p:nvSpPr>
        <p:spPr>
          <a:xfrm>
            <a:off x="548640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cuadernos con 8 fuentes en total</a:t>
            </a:r>
            <a:endParaRPr lang="en-US" sz="1400" dirty="0"/>
          </a:p>
        </p:txBody>
      </p:sp>
      <p:sp>
        <p:nvSpPr>
          <p:cNvPr id="18" name="dato 5"/>
          <p:cNvSpPr/>
          <p:nvPr/>
        </p:nvSpPr>
        <p:spPr>
          <a:xfrm>
            <a:off x="3355848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93008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49 min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3538728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resumen en audio</a:t>
            </a:r>
            <a:endParaRPr lang="en-US" sz="1400" dirty="0"/>
          </a:p>
        </p:txBody>
      </p:sp>
      <p:sp>
        <p:nvSpPr>
          <p:cNvPr id="21" name="dato 6"/>
          <p:cNvSpPr/>
          <p:nvPr/>
        </p:nvSpPr>
        <p:spPr>
          <a:xfrm>
            <a:off x="6163056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0216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misiones en el juego</a:t>
            </a:r>
            <a:endParaRPr lang="en-US" sz="1400" dirty="0"/>
          </a:p>
        </p:txBody>
      </p:sp>
      <p:sp>
        <p:nvSpPr>
          <p:cNvPr id="24" name="dato 7"/>
          <p:cNvSpPr/>
          <p:nvPr/>
        </p:nvSpPr>
        <p:spPr>
          <a:xfrm>
            <a:off x="8970264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07424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94 %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cumplimiento en la evaluación IREB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Elaborado por</a:t>
            </a:r>
            <a:endParaRPr lang="en-US" sz="3600" dirty="0"/>
          </a:p>
        </p:txBody>
      </p:sp>
      <p:sp>
        <p:nvSpPr>
          <p:cNvPr id="3" name="integrante 0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4E4E4D"/>
          </a:solidFill>
          <a:ln w="12700">
            <a:solidFill>
              <a:srgbClr val="5A5A59"/>
            </a:solidFill>
            <a:prstDash val="solid"/>
          </a:ln>
        </p:spPr>
      </p:sp>
      <p:sp>
        <p:nvSpPr>
          <p:cNvPr id="4" name="inicial 0"/>
          <p:cNvSpPr/>
          <p:nvPr/>
        </p:nvSpPr>
        <p:spPr>
          <a:xfrm>
            <a:off x="2057400" y="2331720"/>
            <a:ext cx="731520" cy="731520"/>
          </a:xfrm>
          <a:prstGeom prst="ellipse">
            <a:avLst/>
          </a:prstGeom>
          <a:solidFill>
            <a:srgbClr val="B4252B"/>
          </a:solidFill>
          <a:ln w="12700">
            <a:solidFill>
              <a:srgbClr val="B4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Bolaños Toapanta Luciana Francheska</a:t>
            </a:r>
            <a:endParaRPr lang="en-US" sz="1600" dirty="0"/>
          </a:p>
        </p:txBody>
      </p:sp>
      <p:sp>
        <p:nvSpPr>
          <p:cNvPr id="7" name="integrante 1"/>
          <p:cNvSpPr/>
          <p:nvPr/>
        </p:nvSpPr>
        <p:spPr>
          <a:xfrm>
            <a:off x="4389120" y="21031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4E4E4D"/>
          </a:solidFill>
          <a:ln w="12700">
            <a:solidFill>
              <a:srgbClr val="5A5A59"/>
            </a:solidFill>
            <a:prstDash val="solid"/>
          </a:ln>
        </p:spPr>
      </p:sp>
      <p:sp>
        <p:nvSpPr>
          <p:cNvPr id="8" name="inicial 1"/>
          <p:cNvSpPr/>
          <p:nvPr/>
        </p:nvSpPr>
        <p:spPr>
          <a:xfrm>
            <a:off x="5715000" y="2331720"/>
            <a:ext cx="731520" cy="731520"/>
          </a:xfrm>
          <a:prstGeom prst="ellipse">
            <a:avLst/>
          </a:prstGeom>
          <a:solidFill>
            <a:srgbClr val="B4252B"/>
          </a:solidFill>
          <a:ln w="12700">
            <a:solidFill>
              <a:srgbClr val="B4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150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Flores Toapanta Daniela Alejandra</a:t>
            </a:r>
            <a:endParaRPr lang="en-US" sz="1600" dirty="0"/>
          </a:p>
        </p:txBody>
      </p:sp>
      <p:sp>
        <p:nvSpPr>
          <p:cNvPr id="11" name="integrante 2"/>
          <p:cNvSpPr/>
          <p:nvPr/>
        </p:nvSpPr>
        <p:spPr>
          <a:xfrm>
            <a:off x="8046720" y="21031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4E4E4D"/>
          </a:solidFill>
          <a:ln w="12700">
            <a:solidFill>
              <a:srgbClr val="5A5A59"/>
            </a:solidFill>
            <a:prstDash val="solid"/>
          </a:ln>
        </p:spPr>
      </p:sp>
      <p:sp>
        <p:nvSpPr>
          <p:cNvPr id="12" name="inicial 2"/>
          <p:cNvSpPr/>
          <p:nvPr/>
        </p:nvSpPr>
        <p:spPr>
          <a:xfrm>
            <a:off x="9372600" y="2331720"/>
            <a:ext cx="731520" cy="731520"/>
          </a:xfrm>
          <a:prstGeom prst="ellipse">
            <a:avLst/>
          </a:prstGeom>
          <a:solidFill>
            <a:srgbClr val="B4252B"/>
          </a:solidFill>
          <a:ln w="12700">
            <a:solidFill>
              <a:srgbClr val="B425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Gómez Quinaluisa Joffre Esteban</a:t>
            </a:r>
            <a:endParaRPr lang="en-US" sz="1600" dirty="0"/>
          </a:p>
        </p:txBody>
      </p:sp>
      <p:sp>
        <p:nvSpPr>
          <p:cNvPr id="15" name="tarjeta logo cierre"/>
          <p:cNvSpPr/>
          <p:nvPr/>
        </p:nvSpPr>
        <p:spPr>
          <a:xfrm>
            <a:off x="731520" y="466344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Logo RBG+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0"/>
            <a:ext cx="2377440" cy="127101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474720" y="5120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FF2"/>
                </a:solidFill>
              </a:rPr>
              <a:t>Universidad de las Fuerzas Armadas ESPE  |  Análisis y Diseño de Software  |  27 de octubre de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BG Plus">
  <a:themeElements>
    <a:clrScheme name="RBG Plus">
      <a:dk1>
        <a:srgbClr val="1F1F1F"/>
      </a:dk1>
      <a:lt1>
        <a:srgbClr val="FFFFFF"/>
      </a:lt1>
      <a:dk2>
        <a:srgbClr val="414140"/>
      </a:dk2>
      <a:lt2>
        <a:srgbClr val="F0F3F5"/>
      </a:lt2>
      <a:accent1>
        <a:srgbClr val="B4252B"/>
      </a:accent1>
      <a:accent2>
        <a:srgbClr val="8A2522"/>
      </a:accent2>
      <a:accent3>
        <a:srgbClr val="707072"/>
      </a:accent3>
      <a:accent4>
        <a:srgbClr val="EAEFF2"/>
      </a:accent4>
      <a:accent5>
        <a:srgbClr val="2E7D4F"/>
      </a:accent5>
      <a:accent6>
        <a:srgbClr val="D9A21B"/>
      </a:accent6>
      <a:hlink>
        <a:srgbClr val="B4252B"/>
      </a:hlink>
      <a:folHlink>
        <a:srgbClr val="8A2522"/>
      </a:folHlink>
    </a:clrScheme>
    <a:fontScheme name="RBG Pl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Espacio P.A.R.A. del SCA RBG</dc:title>
  <dc:subject>PptxGenJS Presentation</dc:subject>
  <dc:creator>Grupo 7</dc:creator>
  <cp:lastModifiedBy>Grupo 7</cp:lastModifiedBy>
  <cp:revision>1</cp:revision>
  <dcterms:created xsi:type="dcterms:W3CDTF">2026-10-27T03:26:12Z</dcterms:created>
  <dcterms:modified xsi:type="dcterms:W3CDTF">2026-10-27T03:26:12Z</dcterms:modified>
</cp:coreProperties>
</file>